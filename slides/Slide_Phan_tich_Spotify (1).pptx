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8288000" cy="10287000"/>
  <p:notesSz cx="6858000" cy="9144000"/>
  <p:embeddedFontLst>
    <p:embeddedFont>
      <p:font typeface="Lora Bold" charset="1" panose="00000800000000000000"/>
      <p:regular r:id="rId25"/>
    </p:embeddedFont>
    <p:embeddedFont>
      <p:font typeface="ABeeZee Bold" charset="1" panose="02000000000000000000"/>
      <p:regular r:id="rId26"/>
    </p:embeddedFont>
    <p:embeddedFont>
      <p:font typeface="Glacial Indifference Bold" charset="1" panose="00000800000000000000"/>
      <p:regular r:id="rId27"/>
    </p:embeddedFont>
    <p:embeddedFont>
      <p:font typeface="ABeeZee" charset="1" panose="02000000000000000000"/>
      <p:regular r:id="rId28"/>
    </p:embeddedFont>
    <p:embeddedFont>
      <p:font typeface="ABeeZee Bold Italics" charset="1" panose="0200000000000000000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12.jpe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17.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2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1.png" Type="http://schemas.openxmlformats.org/officeDocument/2006/relationships/image"/><Relationship Id="rId5" Target="../media/image22.png" Type="http://schemas.openxmlformats.org/officeDocument/2006/relationships/image"/><Relationship Id="rId6" Target="../media/image23.svg" Type="http://schemas.openxmlformats.org/officeDocument/2006/relationships/image"/><Relationship Id="rId7" Target="../media/image24.png" Type="http://schemas.openxmlformats.org/officeDocument/2006/relationships/image"/><Relationship Id="rId8" Target="../media/image25.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7.png" Type="http://schemas.openxmlformats.org/officeDocument/2006/relationships/image"/><Relationship Id="rId5" Target="../media/image2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0.png" Type="http://schemas.openxmlformats.org/officeDocument/2006/relationships/image"/><Relationship Id="rId5" Target="../media/image31.png" Type="http://schemas.openxmlformats.org/officeDocument/2006/relationships/image"/><Relationship Id="rId6" Target="../media/image32.png" Type="http://schemas.openxmlformats.org/officeDocument/2006/relationships/image"/><Relationship Id="rId7" Target="../media/image33.png" Type="http://schemas.openxmlformats.org/officeDocument/2006/relationships/image"/><Relationship Id="rId8" Target="../media/image3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 Id="rId3" Target="../media/image36.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37.png" Type="http://schemas.openxmlformats.org/officeDocument/2006/relationships/image"/><Relationship Id="rId5" Target="../media/image38.svg" Type="http://schemas.openxmlformats.org/officeDocument/2006/relationships/image"/><Relationship Id="rId6" Target="../media/image39.png" Type="http://schemas.openxmlformats.org/officeDocument/2006/relationships/image"/><Relationship Id="rId7" Target="../media/image40.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41.png" Type="http://schemas.openxmlformats.org/officeDocument/2006/relationships/image"/><Relationship Id="rId5" Target="../media/image35.png" Type="http://schemas.openxmlformats.org/officeDocument/2006/relationships/image"/><Relationship Id="rId6" Target="../media/image36.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42.png" Type="http://schemas.openxmlformats.org/officeDocument/2006/relationships/image"/><Relationship Id="rId5" Target="../media/image43.png" Type="http://schemas.openxmlformats.org/officeDocument/2006/relationships/image"/><Relationship Id="rId6" Target="../media/image44.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45.png" Type="http://schemas.openxmlformats.org/officeDocument/2006/relationships/image"/><Relationship Id="rId5" Target="../embeddings/oleObject1.bin" Type="http://schemas.openxmlformats.org/officeDocument/2006/relationships/oleObjec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 Id="rId3" Target="../media/image36.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46.png" Type="http://schemas.openxmlformats.org/officeDocument/2006/relationships/image"/><Relationship Id="rId7" Target="../media/image47.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E3653"/>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3704602" y="-1235761"/>
            <a:ext cx="4605156" cy="1641110"/>
          </a:xfrm>
          <a:custGeom>
            <a:avLst/>
            <a:gdLst/>
            <a:ahLst/>
            <a:cxnLst/>
            <a:rect r="r" b="b" t="t" l="l"/>
            <a:pathLst>
              <a:path h="1641110" w="4605156">
                <a:moveTo>
                  <a:pt x="0" y="0"/>
                </a:moveTo>
                <a:lnTo>
                  <a:pt x="4605156" y="0"/>
                </a:lnTo>
                <a:lnTo>
                  <a:pt x="4605156" y="1641110"/>
                </a:lnTo>
                <a:lnTo>
                  <a:pt x="0" y="16411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4796885" y="5712540"/>
            <a:ext cx="14554305" cy="5186625"/>
          </a:xfrm>
          <a:custGeom>
            <a:avLst/>
            <a:gdLst/>
            <a:ahLst/>
            <a:cxnLst/>
            <a:rect r="r" b="b" t="t" l="l"/>
            <a:pathLst>
              <a:path h="5186625" w="14554305">
                <a:moveTo>
                  <a:pt x="0" y="0"/>
                </a:moveTo>
                <a:lnTo>
                  <a:pt x="14554305" y="0"/>
                </a:lnTo>
                <a:lnTo>
                  <a:pt x="14554305" y="5186625"/>
                </a:lnTo>
                <a:lnTo>
                  <a:pt x="0" y="51866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2828134" y="9947562"/>
            <a:ext cx="8309635" cy="2961252"/>
          </a:xfrm>
          <a:custGeom>
            <a:avLst/>
            <a:gdLst/>
            <a:ahLst/>
            <a:cxnLst/>
            <a:rect r="r" b="b" t="t" l="l"/>
            <a:pathLst>
              <a:path h="2961252" w="8309635">
                <a:moveTo>
                  <a:pt x="0" y="0"/>
                </a:moveTo>
                <a:lnTo>
                  <a:pt x="8309635" y="0"/>
                </a:lnTo>
                <a:lnTo>
                  <a:pt x="8309635" y="2961252"/>
                </a:lnTo>
                <a:lnTo>
                  <a:pt x="0" y="29612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false" rot="0">
            <a:off x="1028700" y="1325597"/>
            <a:ext cx="6283289" cy="8999503"/>
          </a:xfrm>
          <a:custGeom>
            <a:avLst/>
            <a:gdLst/>
            <a:ahLst/>
            <a:cxnLst/>
            <a:rect r="r" b="b" t="t" l="l"/>
            <a:pathLst>
              <a:path h="8999503" w="6283289">
                <a:moveTo>
                  <a:pt x="6283289" y="0"/>
                </a:moveTo>
                <a:lnTo>
                  <a:pt x="0" y="0"/>
                </a:lnTo>
                <a:lnTo>
                  <a:pt x="0" y="8999503"/>
                </a:lnTo>
                <a:lnTo>
                  <a:pt x="6283289" y="8999503"/>
                </a:lnTo>
                <a:lnTo>
                  <a:pt x="628328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7789964" y="5337377"/>
            <a:ext cx="9100103" cy="132365"/>
          </a:xfrm>
          <a:custGeom>
            <a:avLst/>
            <a:gdLst/>
            <a:ahLst/>
            <a:cxnLst/>
            <a:rect r="r" b="b" t="t" l="l"/>
            <a:pathLst>
              <a:path h="132365" w="9100103">
                <a:moveTo>
                  <a:pt x="0" y="0"/>
                </a:moveTo>
                <a:lnTo>
                  <a:pt x="9100103" y="0"/>
                </a:lnTo>
                <a:lnTo>
                  <a:pt x="9100103" y="132366"/>
                </a:lnTo>
                <a:lnTo>
                  <a:pt x="0" y="13236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7789964" y="1906422"/>
            <a:ext cx="9100103" cy="2824734"/>
          </a:xfrm>
          <a:prstGeom prst="rect">
            <a:avLst/>
          </a:prstGeom>
        </p:spPr>
        <p:txBody>
          <a:bodyPr anchor="t" rtlCol="false" tIns="0" lIns="0" bIns="0" rIns="0">
            <a:spAutoFit/>
          </a:bodyPr>
          <a:lstStyle/>
          <a:p>
            <a:pPr algn="just">
              <a:lnSpc>
                <a:spcPts val="5567"/>
              </a:lnSpc>
            </a:pPr>
            <a:r>
              <a:rPr lang="en-US" sz="4800" b="true">
                <a:solidFill>
                  <a:srgbClr val="EFEFDA"/>
                </a:solidFill>
                <a:latin typeface="Lora Bold"/>
                <a:ea typeface="Lora Bold"/>
                <a:cs typeface="Lora Bold"/>
                <a:sym typeface="Lora Bold"/>
              </a:rPr>
              <a:t>Phân </a:t>
            </a:r>
            <a:r>
              <a:rPr lang="en-US" b="true" sz="4800">
                <a:solidFill>
                  <a:srgbClr val="EFEFDA"/>
                </a:solidFill>
                <a:latin typeface="Lora Bold"/>
                <a:ea typeface="Lora Bold"/>
                <a:cs typeface="Lora Bold"/>
                <a:sym typeface="Lora Bold"/>
              </a:rPr>
              <a:t>tích dữ liệu bảng xếp hạng Spotify Việt Nam nhằm dự đoán lượt nghe và nhận diện bài hát tiềm năng</a:t>
            </a:r>
          </a:p>
        </p:txBody>
      </p:sp>
      <p:grpSp>
        <p:nvGrpSpPr>
          <p:cNvPr name="Group 8" id="8"/>
          <p:cNvGrpSpPr/>
          <p:nvPr/>
        </p:nvGrpSpPr>
        <p:grpSpPr>
          <a:xfrm rot="0">
            <a:off x="9911577" y="7401367"/>
            <a:ext cx="6978490" cy="1437569"/>
            <a:chOff x="0" y="0"/>
            <a:chExt cx="9304654" cy="1916759"/>
          </a:xfrm>
        </p:grpSpPr>
        <p:sp>
          <p:nvSpPr>
            <p:cNvPr name="Freeform 9" id="9"/>
            <p:cNvSpPr/>
            <p:nvPr/>
          </p:nvSpPr>
          <p:spPr>
            <a:xfrm flipH="false" flipV="false" rot="0">
              <a:off x="0" y="0"/>
              <a:ext cx="9304654" cy="1916759"/>
            </a:xfrm>
            <a:custGeom>
              <a:avLst/>
              <a:gdLst/>
              <a:ahLst/>
              <a:cxnLst/>
              <a:rect r="r" b="b" t="t" l="l"/>
              <a:pathLst>
                <a:path h="1916759" w="9304654">
                  <a:moveTo>
                    <a:pt x="0" y="0"/>
                  </a:moveTo>
                  <a:lnTo>
                    <a:pt x="9304654" y="0"/>
                  </a:lnTo>
                  <a:lnTo>
                    <a:pt x="9304654" y="1916759"/>
                  </a:lnTo>
                  <a:lnTo>
                    <a:pt x="0" y="191675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0" id="10"/>
            <p:cNvSpPr txBox="true"/>
            <p:nvPr/>
          </p:nvSpPr>
          <p:spPr>
            <a:xfrm rot="0">
              <a:off x="364298" y="571275"/>
              <a:ext cx="8576059" cy="707534"/>
            </a:xfrm>
            <a:prstGeom prst="rect">
              <a:avLst/>
            </a:prstGeom>
          </p:spPr>
          <p:txBody>
            <a:bodyPr anchor="t" rtlCol="false" tIns="0" lIns="0" bIns="0" rIns="0">
              <a:spAutoFit/>
            </a:bodyPr>
            <a:lstStyle/>
            <a:p>
              <a:pPr algn="ctr">
                <a:lnSpc>
                  <a:spcPts val="4482"/>
                </a:lnSpc>
              </a:pPr>
              <a:r>
                <a:rPr lang="en-US" sz="3202" spc="243">
                  <a:solidFill>
                    <a:srgbClr val="EFEFDA"/>
                  </a:solidFill>
                  <a:latin typeface="ABeeZee Bold"/>
                  <a:ea typeface="ABeeZee Bold"/>
                  <a:cs typeface="ABeeZee Bold"/>
                  <a:sym typeface="ABeeZee Bold"/>
                </a:rPr>
                <a:t>GVHD: ThS. Hồ Hướng Thiên</a:t>
              </a:r>
            </a:p>
          </p:txBody>
        </p:sp>
      </p:grpSp>
      <p:sp>
        <p:nvSpPr>
          <p:cNvPr name="TextBox 11" id="11"/>
          <p:cNvSpPr txBox="true"/>
          <p:nvPr/>
        </p:nvSpPr>
        <p:spPr>
          <a:xfrm rot="0">
            <a:off x="7789964" y="5758673"/>
            <a:ext cx="6432044" cy="547319"/>
          </a:xfrm>
          <a:prstGeom prst="rect">
            <a:avLst/>
          </a:prstGeom>
        </p:spPr>
        <p:txBody>
          <a:bodyPr anchor="t" rtlCol="false" tIns="0" lIns="0" bIns="0" rIns="0">
            <a:spAutoFit/>
          </a:bodyPr>
          <a:lstStyle/>
          <a:p>
            <a:pPr algn="ctr">
              <a:lnSpc>
                <a:spcPts val="4482"/>
              </a:lnSpc>
            </a:pPr>
            <a:r>
              <a:rPr lang="en-US" sz="3202" spc="243">
                <a:solidFill>
                  <a:srgbClr val="EFEFDA"/>
                </a:solidFill>
                <a:latin typeface="ABeeZee Bold"/>
                <a:ea typeface="ABeeZee Bold"/>
                <a:cs typeface="ABeeZee Bold"/>
                <a:sym typeface="ABeeZee Bold"/>
              </a:rPr>
              <a:t>Môn học: Phân tích dữ liệu</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E3653"/>
        </a:solidFill>
      </p:bgPr>
    </p:bg>
    <p:spTree>
      <p:nvGrpSpPr>
        <p:cNvPr id="1" name=""/>
        <p:cNvGrpSpPr/>
        <p:nvPr/>
      </p:nvGrpSpPr>
      <p:grpSpPr>
        <a:xfrm>
          <a:off x="0" y="0"/>
          <a:ext cx="0" cy="0"/>
          <a:chOff x="0" y="0"/>
          <a:chExt cx="0" cy="0"/>
        </a:xfrm>
      </p:grpSpPr>
      <p:grpSp>
        <p:nvGrpSpPr>
          <p:cNvPr name="Group 2" id="2"/>
          <p:cNvGrpSpPr/>
          <p:nvPr/>
        </p:nvGrpSpPr>
        <p:grpSpPr>
          <a:xfrm rot="0">
            <a:off x="1157375" y="3129428"/>
            <a:ext cx="15973249" cy="6128872"/>
            <a:chOff x="0" y="0"/>
            <a:chExt cx="4206946" cy="1614188"/>
          </a:xfrm>
        </p:grpSpPr>
        <p:sp>
          <p:nvSpPr>
            <p:cNvPr name="Freeform 3" id="3"/>
            <p:cNvSpPr/>
            <p:nvPr/>
          </p:nvSpPr>
          <p:spPr>
            <a:xfrm flipH="false" flipV="false" rot="0">
              <a:off x="0" y="0"/>
              <a:ext cx="4206946" cy="1614188"/>
            </a:xfrm>
            <a:custGeom>
              <a:avLst/>
              <a:gdLst/>
              <a:ahLst/>
              <a:cxnLst/>
              <a:rect r="r" b="b" t="t" l="l"/>
              <a:pathLst>
                <a:path h="1614188" w="4206946">
                  <a:moveTo>
                    <a:pt x="24719" y="0"/>
                  </a:moveTo>
                  <a:lnTo>
                    <a:pt x="4182228" y="0"/>
                  </a:lnTo>
                  <a:cubicBezTo>
                    <a:pt x="4195880" y="0"/>
                    <a:pt x="4206946" y="11067"/>
                    <a:pt x="4206946" y="24719"/>
                  </a:cubicBezTo>
                  <a:lnTo>
                    <a:pt x="4206946" y="1589470"/>
                  </a:lnTo>
                  <a:cubicBezTo>
                    <a:pt x="4206946" y="1603121"/>
                    <a:pt x="4195880" y="1614188"/>
                    <a:pt x="4182228" y="1614188"/>
                  </a:cubicBezTo>
                  <a:lnTo>
                    <a:pt x="24719" y="1614188"/>
                  </a:lnTo>
                  <a:cubicBezTo>
                    <a:pt x="11067" y="1614188"/>
                    <a:pt x="0" y="1603121"/>
                    <a:pt x="0" y="1589470"/>
                  </a:cubicBezTo>
                  <a:lnTo>
                    <a:pt x="0" y="24719"/>
                  </a:lnTo>
                  <a:cubicBezTo>
                    <a:pt x="0" y="11067"/>
                    <a:pt x="11067" y="0"/>
                    <a:pt x="24719" y="0"/>
                  </a:cubicBezTo>
                  <a:close/>
                </a:path>
              </a:pathLst>
            </a:custGeom>
            <a:solidFill>
              <a:srgbClr val="2F5972"/>
            </a:solidFill>
            <a:ln w="95250" cap="rnd">
              <a:solidFill>
                <a:srgbClr val="EFEFDA"/>
              </a:solidFill>
              <a:prstDash val="solid"/>
              <a:round/>
            </a:ln>
          </p:spPr>
        </p:sp>
        <p:sp>
          <p:nvSpPr>
            <p:cNvPr name="TextBox 4" id="4"/>
            <p:cNvSpPr txBox="true"/>
            <p:nvPr/>
          </p:nvSpPr>
          <p:spPr>
            <a:xfrm>
              <a:off x="0" y="-38100"/>
              <a:ext cx="4206946" cy="165228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4247277" y="1372279"/>
            <a:ext cx="9793447" cy="1825663"/>
            <a:chOff x="0" y="0"/>
            <a:chExt cx="2579344" cy="480833"/>
          </a:xfrm>
        </p:grpSpPr>
        <p:sp>
          <p:nvSpPr>
            <p:cNvPr name="Freeform 6" id="6"/>
            <p:cNvSpPr/>
            <p:nvPr/>
          </p:nvSpPr>
          <p:spPr>
            <a:xfrm flipH="false" flipV="false" rot="0">
              <a:off x="0" y="0"/>
              <a:ext cx="2579344" cy="480833"/>
            </a:xfrm>
            <a:custGeom>
              <a:avLst/>
              <a:gdLst/>
              <a:ahLst/>
              <a:cxnLst/>
              <a:rect r="r" b="b" t="t" l="l"/>
              <a:pathLst>
                <a:path h="480833" w="2579344">
                  <a:moveTo>
                    <a:pt x="79052" y="0"/>
                  </a:moveTo>
                  <a:lnTo>
                    <a:pt x="2500292" y="0"/>
                  </a:lnTo>
                  <a:cubicBezTo>
                    <a:pt x="2543951" y="0"/>
                    <a:pt x="2579344" y="35393"/>
                    <a:pt x="2579344" y="79052"/>
                  </a:cubicBezTo>
                  <a:lnTo>
                    <a:pt x="2579344" y="401781"/>
                  </a:lnTo>
                  <a:cubicBezTo>
                    <a:pt x="2579344" y="445440"/>
                    <a:pt x="2543951" y="480833"/>
                    <a:pt x="2500292" y="480833"/>
                  </a:cubicBezTo>
                  <a:lnTo>
                    <a:pt x="79052" y="480833"/>
                  </a:lnTo>
                  <a:cubicBezTo>
                    <a:pt x="35393" y="480833"/>
                    <a:pt x="0" y="445440"/>
                    <a:pt x="0" y="401781"/>
                  </a:cubicBezTo>
                  <a:lnTo>
                    <a:pt x="0" y="79052"/>
                  </a:lnTo>
                  <a:cubicBezTo>
                    <a:pt x="0" y="35393"/>
                    <a:pt x="35393" y="0"/>
                    <a:pt x="79052" y="0"/>
                  </a:cubicBezTo>
                  <a:close/>
                </a:path>
              </a:pathLst>
            </a:custGeom>
            <a:solidFill>
              <a:srgbClr val="EFEFDA"/>
            </a:solidFill>
          </p:spPr>
        </p:sp>
        <p:sp>
          <p:nvSpPr>
            <p:cNvPr name="TextBox 7" id="7"/>
            <p:cNvSpPr txBox="true"/>
            <p:nvPr/>
          </p:nvSpPr>
          <p:spPr>
            <a:xfrm>
              <a:off x="0" y="-38100"/>
              <a:ext cx="2579344" cy="518933"/>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4721322" y="4519091"/>
            <a:ext cx="2701964" cy="270196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146130" y="0"/>
                  </a:moveTo>
                  <a:lnTo>
                    <a:pt x="666670" y="0"/>
                  </a:lnTo>
                  <a:cubicBezTo>
                    <a:pt x="705426" y="0"/>
                    <a:pt x="742595" y="15396"/>
                    <a:pt x="770000" y="42800"/>
                  </a:cubicBezTo>
                  <a:cubicBezTo>
                    <a:pt x="797404" y="70205"/>
                    <a:pt x="812800" y="107374"/>
                    <a:pt x="812800" y="146130"/>
                  </a:cubicBezTo>
                  <a:lnTo>
                    <a:pt x="812800" y="666670"/>
                  </a:lnTo>
                  <a:cubicBezTo>
                    <a:pt x="812800" y="705426"/>
                    <a:pt x="797404" y="742595"/>
                    <a:pt x="770000" y="770000"/>
                  </a:cubicBezTo>
                  <a:cubicBezTo>
                    <a:pt x="742595" y="797404"/>
                    <a:pt x="705426" y="812800"/>
                    <a:pt x="666670" y="812800"/>
                  </a:cubicBezTo>
                  <a:lnTo>
                    <a:pt x="146130" y="812800"/>
                  </a:lnTo>
                  <a:cubicBezTo>
                    <a:pt x="107374" y="812800"/>
                    <a:pt x="70205" y="797404"/>
                    <a:pt x="42800" y="770000"/>
                  </a:cubicBezTo>
                  <a:cubicBezTo>
                    <a:pt x="15396" y="742595"/>
                    <a:pt x="0" y="705426"/>
                    <a:pt x="0" y="666670"/>
                  </a:cubicBezTo>
                  <a:lnTo>
                    <a:pt x="0" y="146130"/>
                  </a:lnTo>
                  <a:cubicBezTo>
                    <a:pt x="0" y="107374"/>
                    <a:pt x="15396" y="70205"/>
                    <a:pt x="42800" y="42800"/>
                  </a:cubicBezTo>
                  <a:cubicBezTo>
                    <a:pt x="70205" y="15396"/>
                    <a:pt x="107374" y="0"/>
                    <a:pt x="146130" y="0"/>
                  </a:cubicBezTo>
                  <a:close/>
                </a:path>
              </a:pathLst>
            </a:custGeom>
            <a:blipFill>
              <a:blip r:embed="rId2"/>
              <a:stretch>
                <a:fillRect l="-6782" t="0" r="-6782" b="0"/>
              </a:stretch>
            </a:blipFill>
            <a:ln w="66675" cap="rnd">
              <a:solidFill>
                <a:srgbClr val="EFEFDA"/>
              </a:solidFill>
              <a:prstDash val="solid"/>
              <a:round/>
            </a:ln>
          </p:spPr>
        </p:sp>
      </p:grpSp>
      <p:sp>
        <p:nvSpPr>
          <p:cNvPr name="AutoShape 10" id="10"/>
          <p:cNvSpPr/>
          <p:nvPr/>
        </p:nvSpPr>
        <p:spPr>
          <a:xfrm>
            <a:off x="4378878" y="8101816"/>
            <a:ext cx="3386850" cy="0"/>
          </a:xfrm>
          <a:prstGeom prst="line">
            <a:avLst/>
          </a:prstGeom>
          <a:ln cap="rnd" w="76200">
            <a:solidFill>
              <a:srgbClr val="EFEFDA"/>
            </a:solidFill>
            <a:prstDash val="solid"/>
            <a:headEnd type="none" len="sm" w="sm"/>
            <a:tailEnd type="none" len="sm" w="sm"/>
          </a:ln>
        </p:spPr>
      </p:sp>
      <p:grpSp>
        <p:nvGrpSpPr>
          <p:cNvPr name="Group 11" id="11"/>
          <p:cNvGrpSpPr/>
          <p:nvPr/>
        </p:nvGrpSpPr>
        <p:grpSpPr>
          <a:xfrm rot="0">
            <a:off x="10864715" y="4519091"/>
            <a:ext cx="2701964" cy="2701964"/>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146130" y="0"/>
                  </a:moveTo>
                  <a:lnTo>
                    <a:pt x="666670" y="0"/>
                  </a:lnTo>
                  <a:cubicBezTo>
                    <a:pt x="705426" y="0"/>
                    <a:pt x="742595" y="15396"/>
                    <a:pt x="770000" y="42800"/>
                  </a:cubicBezTo>
                  <a:cubicBezTo>
                    <a:pt x="797404" y="70205"/>
                    <a:pt x="812800" y="107374"/>
                    <a:pt x="812800" y="146130"/>
                  </a:cubicBezTo>
                  <a:lnTo>
                    <a:pt x="812800" y="666670"/>
                  </a:lnTo>
                  <a:cubicBezTo>
                    <a:pt x="812800" y="705426"/>
                    <a:pt x="797404" y="742595"/>
                    <a:pt x="770000" y="770000"/>
                  </a:cubicBezTo>
                  <a:cubicBezTo>
                    <a:pt x="742595" y="797404"/>
                    <a:pt x="705426" y="812800"/>
                    <a:pt x="666670" y="812800"/>
                  </a:cubicBezTo>
                  <a:lnTo>
                    <a:pt x="146130" y="812800"/>
                  </a:lnTo>
                  <a:cubicBezTo>
                    <a:pt x="107374" y="812800"/>
                    <a:pt x="70205" y="797404"/>
                    <a:pt x="42800" y="770000"/>
                  </a:cubicBezTo>
                  <a:cubicBezTo>
                    <a:pt x="15396" y="742595"/>
                    <a:pt x="0" y="705426"/>
                    <a:pt x="0" y="666670"/>
                  </a:cubicBezTo>
                  <a:lnTo>
                    <a:pt x="0" y="146130"/>
                  </a:lnTo>
                  <a:cubicBezTo>
                    <a:pt x="0" y="107374"/>
                    <a:pt x="15396" y="70205"/>
                    <a:pt x="42800" y="42800"/>
                  </a:cubicBezTo>
                  <a:cubicBezTo>
                    <a:pt x="70205" y="15396"/>
                    <a:pt x="107374" y="0"/>
                    <a:pt x="146130" y="0"/>
                  </a:cubicBezTo>
                  <a:close/>
                </a:path>
              </a:pathLst>
            </a:custGeom>
            <a:blipFill>
              <a:blip r:embed="rId3"/>
              <a:stretch>
                <a:fillRect l="-8658" t="-7158" r="0" b="-37719"/>
              </a:stretch>
            </a:blipFill>
            <a:ln w="66675" cap="rnd">
              <a:solidFill>
                <a:srgbClr val="EFEFDA"/>
              </a:solidFill>
              <a:prstDash val="solid"/>
              <a:round/>
            </a:ln>
          </p:spPr>
        </p:sp>
      </p:grpSp>
      <p:sp>
        <p:nvSpPr>
          <p:cNvPr name="AutoShape 13" id="13"/>
          <p:cNvSpPr/>
          <p:nvPr/>
        </p:nvSpPr>
        <p:spPr>
          <a:xfrm>
            <a:off x="10522272" y="8101816"/>
            <a:ext cx="3386850" cy="0"/>
          </a:xfrm>
          <a:prstGeom prst="line">
            <a:avLst/>
          </a:prstGeom>
          <a:ln cap="rnd" w="76200">
            <a:solidFill>
              <a:srgbClr val="EFEFDA"/>
            </a:solidFill>
            <a:prstDash val="solid"/>
            <a:headEnd type="none" len="sm" w="sm"/>
            <a:tailEnd type="none" len="sm" w="sm"/>
          </a:ln>
        </p:spPr>
      </p:sp>
      <p:sp>
        <p:nvSpPr>
          <p:cNvPr name="Freeform 14" id="14"/>
          <p:cNvSpPr/>
          <p:nvPr/>
        </p:nvSpPr>
        <p:spPr>
          <a:xfrm flipH="false" flipV="false" rot="0">
            <a:off x="-136381" y="7802464"/>
            <a:ext cx="3061987" cy="2911671"/>
          </a:xfrm>
          <a:custGeom>
            <a:avLst/>
            <a:gdLst/>
            <a:ahLst/>
            <a:cxnLst/>
            <a:rect r="r" b="b" t="t" l="l"/>
            <a:pathLst>
              <a:path h="2911671" w="3061987">
                <a:moveTo>
                  <a:pt x="0" y="0"/>
                </a:moveTo>
                <a:lnTo>
                  <a:pt x="3061987" y="0"/>
                </a:lnTo>
                <a:lnTo>
                  <a:pt x="3061987" y="2911672"/>
                </a:lnTo>
                <a:lnTo>
                  <a:pt x="0" y="29116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5" id="15"/>
          <p:cNvSpPr/>
          <p:nvPr/>
        </p:nvSpPr>
        <p:spPr>
          <a:xfrm flipH="true" flipV="false" rot="0">
            <a:off x="15362394" y="7802464"/>
            <a:ext cx="3061987" cy="2911671"/>
          </a:xfrm>
          <a:custGeom>
            <a:avLst/>
            <a:gdLst/>
            <a:ahLst/>
            <a:cxnLst/>
            <a:rect r="r" b="b" t="t" l="l"/>
            <a:pathLst>
              <a:path h="2911671" w="3061987">
                <a:moveTo>
                  <a:pt x="3061987" y="0"/>
                </a:moveTo>
                <a:lnTo>
                  <a:pt x="0" y="0"/>
                </a:lnTo>
                <a:lnTo>
                  <a:pt x="0" y="2911672"/>
                </a:lnTo>
                <a:lnTo>
                  <a:pt x="3061987" y="2911672"/>
                </a:lnTo>
                <a:lnTo>
                  <a:pt x="3061987"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6" id="16"/>
          <p:cNvSpPr txBox="true"/>
          <p:nvPr/>
        </p:nvSpPr>
        <p:spPr>
          <a:xfrm rot="0">
            <a:off x="3588608" y="7363933"/>
            <a:ext cx="4967390" cy="490439"/>
          </a:xfrm>
          <a:prstGeom prst="rect">
            <a:avLst/>
          </a:prstGeom>
        </p:spPr>
        <p:txBody>
          <a:bodyPr anchor="t" rtlCol="false" tIns="0" lIns="0" bIns="0" rIns="0">
            <a:spAutoFit/>
          </a:bodyPr>
          <a:lstStyle/>
          <a:p>
            <a:pPr algn="ctr">
              <a:lnSpc>
                <a:spcPts val="3937"/>
              </a:lnSpc>
            </a:pPr>
            <a:r>
              <a:rPr lang="en-US" sz="2812" spc="213">
                <a:solidFill>
                  <a:srgbClr val="EFEFDA"/>
                </a:solidFill>
                <a:latin typeface="ABeeZee Bold"/>
                <a:ea typeface="ABeeZee Bold"/>
                <a:cs typeface="ABeeZee Bold"/>
                <a:sym typeface="ABeeZee Bold"/>
              </a:rPr>
              <a:t>DƯƠNG LÊ KIM PHỤNG</a:t>
            </a:r>
          </a:p>
        </p:txBody>
      </p:sp>
      <p:sp>
        <p:nvSpPr>
          <p:cNvPr name="TextBox 17" id="17"/>
          <p:cNvSpPr txBox="true"/>
          <p:nvPr/>
        </p:nvSpPr>
        <p:spPr>
          <a:xfrm rot="0">
            <a:off x="4721322" y="1855740"/>
            <a:ext cx="8845357" cy="877791"/>
          </a:xfrm>
          <a:prstGeom prst="rect">
            <a:avLst/>
          </a:prstGeom>
        </p:spPr>
        <p:txBody>
          <a:bodyPr anchor="t" rtlCol="false" tIns="0" lIns="0" bIns="0" rIns="0">
            <a:spAutoFit/>
          </a:bodyPr>
          <a:lstStyle/>
          <a:p>
            <a:pPr algn="ctr">
              <a:lnSpc>
                <a:spcPts val="6865"/>
              </a:lnSpc>
            </a:pPr>
            <a:r>
              <a:rPr lang="en-US" sz="5918" b="true">
                <a:solidFill>
                  <a:srgbClr val="2F5972"/>
                </a:solidFill>
                <a:latin typeface="Glacial Indifference Bold"/>
                <a:ea typeface="Glacial Indifference Bold"/>
                <a:cs typeface="Glacial Indifference Bold"/>
                <a:sym typeface="Glacial Indifference Bold"/>
              </a:rPr>
              <a:t>Thành viên</a:t>
            </a:r>
          </a:p>
        </p:txBody>
      </p:sp>
      <p:sp>
        <p:nvSpPr>
          <p:cNvPr name="TextBox 18" id="18"/>
          <p:cNvSpPr txBox="true"/>
          <p:nvPr/>
        </p:nvSpPr>
        <p:spPr>
          <a:xfrm rot="0">
            <a:off x="9732002" y="7363828"/>
            <a:ext cx="4967390" cy="490543"/>
          </a:xfrm>
          <a:prstGeom prst="rect">
            <a:avLst/>
          </a:prstGeom>
        </p:spPr>
        <p:txBody>
          <a:bodyPr anchor="t" rtlCol="false" tIns="0" lIns="0" bIns="0" rIns="0">
            <a:spAutoFit/>
          </a:bodyPr>
          <a:lstStyle/>
          <a:p>
            <a:pPr algn="ctr">
              <a:lnSpc>
                <a:spcPts val="3937"/>
              </a:lnSpc>
            </a:pPr>
            <a:r>
              <a:rPr lang="en-US" sz="2812" spc="213">
                <a:solidFill>
                  <a:srgbClr val="EFEFDA"/>
                </a:solidFill>
                <a:latin typeface="ABeeZee Bold"/>
                <a:ea typeface="ABeeZee Bold"/>
                <a:cs typeface="ABeeZee Bold"/>
                <a:sym typeface="ABeeZee Bold"/>
              </a:rPr>
              <a:t>TR</a:t>
            </a:r>
            <a:r>
              <a:rPr lang="en-US" sz="2812" spc="213">
                <a:solidFill>
                  <a:srgbClr val="EFEFDA"/>
                </a:solidFill>
                <a:latin typeface="ABeeZee Bold"/>
                <a:ea typeface="ABeeZee Bold"/>
                <a:cs typeface="ABeeZee Bold"/>
                <a:sym typeface="ABeeZee Bold"/>
              </a:rPr>
              <a:t>ẦN THỊ PHƯƠNG UYÊN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E3653"/>
        </a:solidFill>
      </p:bgPr>
    </p:bg>
    <p:spTree>
      <p:nvGrpSpPr>
        <p:cNvPr id="1" name=""/>
        <p:cNvGrpSpPr/>
        <p:nvPr/>
      </p:nvGrpSpPr>
      <p:grpSpPr>
        <a:xfrm>
          <a:off x="0" y="0"/>
          <a:ext cx="0" cy="0"/>
          <a:chOff x="0" y="0"/>
          <a:chExt cx="0" cy="0"/>
        </a:xfrm>
      </p:grpSpPr>
      <p:sp>
        <p:nvSpPr>
          <p:cNvPr name="Freeform 2" id="2"/>
          <p:cNvSpPr/>
          <p:nvPr/>
        </p:nvSpPr>
        <p:spPr>
          <a:xfrm flipH="false" flipV="false" rot="-7535101">
            <a:off x="12908415" y="5364213"/>
            <a:ext cx="8309635" cy="2961252"/>
          </a:xfrm>
          <a:custGeom>
            <a:avLst/>
            <a:gdLst/>
            <a:ahLst/>
            <a:cxnLst/>
            <a:rect r="r" b="b" t="t" l="l"/>
            <a:pathLst>
              <a:path h="2961252" w="8309635">
                <a:moveTo>
                  <a:pt x="0" y="0"/>
                </a:moveTo>
                <a:lnTo>
                  <a:pt x="8309634" y="0"/>
                </a:lnTo>
                <a:lnTo>
                  <a:pt x="8309634" y="2961251"/>
                </a:lnTo>
                <a:lnTo>
                  <a:pt x="0" y="29612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535101">
            <a:off x="9325455" y="3695285"/>
            <a:ext cx="5732907" cy="2043000"/>
          </a:xfrm>
          <a:custGeom>
            <a:avLst/>
            <a:gdLst/>
            <a:ahLst/>
            <a:cxnLst/>
            <a:rect r="r" b="b" t="t" l="l"/>
            <a:pathLst>
              <a:path h="2043000" w="5732907">
                <a:moveTo>
                  <a:pt x="0" y="0"/>
                </a:moveTo>
                <a:lnTo>
                  <a:pt x="5732907" y="0"/>
                </a:lnTo>
                <a:lnTo>
                  <a:pt x="5732907" y="2043000"/>
                </a:lnTo>
                <a:lnTo>
                  <a:pt x="0" y="2043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7535101">
            <a:off x="11003538" y="9926360"/>
            <a:ext cx="8309635" cy="2961252"/>
          </a:xfrm>
          <a:custGeom>
            <a:avLst/>
            <a:gdLst/>
            <a:ahLst/>
            <a:cxnLst/>
            <a:rect r="r" b="b" t="t" l="l"/>
            <a:pathLst>
              <a:path h="2961252" w="8309635">
                <a:moveTo>
                  <a:pt x="0" y="0"/>
                </a:moveTo>
                <a:lnTo>
                  <a:pt x="8309635" y="0"/>
                </a:lnTo>
                <a:lnTo>
                  <a:pt x="8309635" y="2961251"/>
                </a:lnTo>
                <a:lnTo>
                  <a:pt x="0" y="29612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8921262" y="2565176"/>
            <a:ext cx="9186513" cy="7499535"/>
          </a:xfrm>
          <a:custGeom>
            <a:avLst/>
            <a:gdLst/>
            <a:ahLst/>
            <a:cxnLst/>
            <a:rect r="r" b="b" t="t" l="l"/>
            <a:pathLst>
              <a:path h="7499535" w="9186513">
                <a:moveTo>
                  <a:pt x="0" y="0"/>
                </a:moveTo>
                <a:lnTo>
                  <a:pt x="9186513" y="0"/>
                </a:lnTo>
                <a:lnTo>
                  <a:pt x="9186513" y="7499535"/>
                </a:lnTo>
                <a:lnTo>
                  <a:pt x="0" y="749953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7535101">
            <a:off x="11357356" y="-1841144"/>
            <a:ext cx="7931569" cy="2826523"/>
          </a:xfrm>
          <a:custGeom>
            <a:avLst/>
            <a:gdLst/>
            <a:ahLst/>
            <a:cxnLst/>
            <a:rect r="r" b="b" t="t" l="l"/>
            <a:pathLst>
              <a:path h="2826523" w="7931569">
                <a:moveTo>
                  <a:pt x="0" y="0"/>
                </a:moveTo>
                <a:lnTo>
                  <a:pt x="7931569" y="0"/>
                </a:lnTo>
                <a:lnTo>
                  <a:pt x="7931569" y="2826523"/>
                </a:lnTo>
                <a:lnTo>
                  <a:pt x="0" y="28265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028700" y="1186366"/>
            <a:ext cx="6211159" cy="877791"/>
          </a:xfrm>
          <a:prstGeom prst="rect">
            <a:avLst/>
          </a:prstGeom>
        </p:spPr>
        <p:txBody>
          <a:bodyPr anchor="t" rtlCol="false" tIns="0" lIns="0" bIns="0" rIns="0">
            <a:spAutoFit/>
          </a:bodyPr>
          <a:lstStyle/>
          <a:p>
            <a:pPr algn="l">
              <a:lnSpc>
                <a:spcPts val="6865"/>
              </a:lnSpc>
            </a:pPr>
            <a:r>
              <a:rPr lang="en-US" sz="5918" b="true">
                <a:solidFill>
                  <a:srgbClr val="EFEFDA"/>
                </a:solidFill>
                <a:latin typeface="Glacial Indifference Bold"/>
                <a:ea typeface="Glacial Indifference Bold"/>
                <a:cs typeface="Glacial Indifference Bold"/>
                <a:sym typeface="Glacial Indifference Bold"/>
              </a:rPr>
              <a:t>Bối cảnh</a:t>
            </a:r>
          </a:p>
        </p:txBody>
      </p:sp>
      <p:sp>
        <p:nvSpPr>
          <p:cNvPr name="AutoShape 8" id="8"/>
          <p:cNvSpPr/>
          <p:nvPr/>
        </p:nvSpPr>
        <p:spPr>
          <a:xfrm>
            <a:off x="1028700" y="2198560"/>
            <a:ext cx="3027947" cy="0"/>
          </a:xfrm>
          <a:prstGeom prst="line">
            <a:avLst/>
          </a:prstGeom>
          <a:ln cap="rnd" w="95250">
            <a:solidFill>
              <a:srgbClr val="EFEFDA"/>
            </a:solidFill>
            <a:prstDash val="solid"/>
            <a:headEnd type="none" len="sm" w="sm"/>
            <a:tailEnd type="none" len="sm" w="sm"/>
          </a:ln>
        </p:spPr>
      </p:sp>
      <p:sp>
        <p:nvSpPr>
          <p:cNvPr name="TextBox 9" id="9"/>
          <p:cNvSpPr txBox="true"/>
          <p:nvPr/>
        </p:nvSpPr>
        <p:spPr>
          <a:xfrm rot="0">
            <a:off x="1462060" y="3274699"/>
            <a:ext cx="7091169" cy="5067823"/>
          </a:xfrm>
          <a:prstGeom prst="rect">
            <a:avLst/>
          </a:prstGeom>
        </p:spPr>
        <p:txBody>
          <a:bodyPr anchor="t" rtlCol="false" tIns="0" lIns="0" bIns="0" rIns="0">
            <a:spAutoFit/>
          </a:bodyPr>
          <a:lstStyle/>
          <a:p>
            <a:pPr algn="l" marL="685958" indent="-342979" lvl="1">
              <a:lnSpc>
                <a:spcPts val="5083"/>
              </a:lnSpc>
              <a:buFont typeface="Arial"/>
              <a:buChar char="•"/>
            </a:pPr>
            <a:r>
              <a:rPr lang="en-US" sz="3177" spc="241">
                <a:solidFill>
                  <a:srgbClr val="EFEFDA"/>
                </a:solidFill>
                <a:latin typeface="ABeeZee"/>
                <a:ea typeface="ABeeZee"/>
                <a:cs typeface="ABeeZee"/>
                <a:sym typeface="ABeeZee"/>
              </a:rPr>
              <a:t>S</a:t>
            </a:r>
            <a:r>
              <a:rPr lang="en-US" sz="3177" spc="241">
                <a:solidFill>
                  <a:srgbClr val="EFEFDA"/>
                </a:solidFill>
                <a:latin typeface="ABeeZee"/>
                <a:ea typeface="ABeeZee"/>
                <a:cs typeface="ABeeZee"/>
                <a:sym typeface="ABeeZee"/>
              </a:rPr>
              <a:t>potify Charts phản ánh mức độ quan tâm của người nghe qua lượt nghe và thứ hạng.</a:t>
            </a:r>
          </a:p>
          <a:p>
            <a:pPr algn="l" marL="685958" indent="-342979" lvl="1">
              <a:lnSpc>
                <a:spcPts val="5083"/>
              </a:lnSpc>
              <a:buFont typeface="Arial"/>
              <a:buChar char="•"/>
            </a:pPr>
            <a:r>
              <a:rPr lang="en-US" sz="3177" spc="241">
                <a:solidFill>
                  <a:srgbClr val="EFEFDA"/>
                </a:solidFill>
                <a:latin typeface="ABeeZee"/>
                <a:ea typeface="ABeeZee"/>
                <a:cs typeface="ABeeZee"/>
                <a:sym typeface="ABeeZee"/>
              </a:rPr>
              <a:t>Chỉ quan sát thứ hạng chưa đủ để đánh giá xu hướng và khả năng duy trì sức hút của bài hát.</a:t>
            </a:r>
          </a:p>
          <a:p>
            <a:pPr algn="l">
              <a:lnSpc>
                <a:spcPts val="5083"/>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E3653"/>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3628654" y="7682134"/>
            <a:ext cx="7007903" cy="2497362"/>
          </a:xfrm>
          <a:custGeom>
            <a:avLst/>
            <a:gdLst/>
            <a:ahLst/>
            <a:cxnLst/>
            <a:rect r="r" b="b" t="t" l="l"/>
            <a:pathLst>
              <a:path h="2497362" w="7007903">
                <a:moveTo>
                  <a:pt x="0" y="0"/>
                </a:moveTo>
                <a:lnTo>
                  <a:pt x="7007903" y="0"/>
                </a:lnTo>
                <a:lnTo>
                  <a:pt x="7007903" y="2497362"/>
                </a:lnTo>
                <a:lnTo>
                  <a:pt x="0" y="24973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4908751" y="107504"/>
            <a:ext cx="7007903" cy="2497362"/>
          </a:xfrm>
          <a:custGeom>
            <a:avLst/>
            <a:gdLst/>
            <a:ahLst/>
            <a:cxnLst/>
            <a:rect r="r" b="b" t="t" l="l"/>
            <a:pathLst>
              <a:path h="2497362" w="7007903">
                <a:moveTo>
                  <a:pt x="0" y="0"/>
                </a:moveTo>
                <a:lnTo>
                  <a:pt x="7007903" y="0"/>
                </a:lnTo>
                <a:lnTo>
                  <a:pt x="7007903" y="2497362"/>
                </a:lnTo>
                <a:lnTo>
                  <a:pt x="0" y="24973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400000">
            <a:off x="-3503952" y="2579630"/>
            <a:ext cx="7007903" cy="2497362"/>
          </a:xfrm>
          <a:custGeom>
            <a:avLst/>
            <a:gdLst/>
            <a:ahLst/>
            <a:cxnLst/>
            <a:rect r="r" b="b" t="t" l="l"/>
            <a:pathLst>
              <a:path h="2497362" w="7007903">
                <a:moveTo>
                  <a:pt x="0" y="0"/>
                </a:moveTo>
                <a:lnTo>
                  <a:pt x="7007904" y="0"/>
                </a:lnTo>
                <a:lnTo>
                  <a:pt x="7007904" y="2497362"/>
                </a:lnTo>
                <a:lnTo>
                  <a:pt x="0" y="249736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5400000">
            <a:off x="14784048" y="5210008"/>
            <a:ext cx="7007903" cy="2497362"/>
          </a:xfrm>
          <a:custGeom>
            <a:avLst/>
            <a:gdLst/>
            <a:ahLst/>
            <a:cxnLst/>
            <a:rect r="r" b="b" t="t" l="l"/>
            <a:pathLst>
              <a:path h="2497362" w="7007903">
                <a:moveTo>
                  <a:pt x="0" y="0"/>
                </a:moveTo>
                <a:lnTo>
                  <a:pt x="7007904" y="0"/>
                </a:lnTo>
                <a:lnTo>
                  <a:pt x="7007904" y="2497362"/>
                </a:lnTo>
                <a:lnTo>
                  <a:pt x="0" y="249736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10037946" y="2826732"/>
            <a:ext cx="6815884" cy="4633537"/>
            <a:chOff x="0" y="0"/>
            <a:chExt cx="1055959" cy="717856"/>
          </a:xfrm>
        </p:grpSpPr>
        <p:sp>
          <p:nvSpPr>
            <p:cNvPr name="Freeform 7" id="7"/>
            <p:cNvSpPr/>
            <p:nvPr/>
          </p:nvSpPr>
          <p:spPr>
            <a:xfrm flipH="false" flipV="false" rot="0">
              <a:off x="0" y="0"/>
              <a:ext cx="1055959" cy="717856"/>
            </a:xfrm>
            <a:custGeom>
              <a:avLst/>
              <a:gdLst/>
              <a:ahLst/>
              <a:cxnLst/>
              <a:rect r="r" b="b" t="t" l="l"/>
              <a:pathLst>
                <a:path h="717856" w="1055959">
                  <a:moveTo>
                    <a:pt x="26125" y="0"/>
                  </a:moveTo>
                  <a:lnTo>
                    <a:pt x="1029834" y="0"/>
                  </a:lnTo>
                  <a:cubicBezTo>
                    <a:pt x="1044262" y="0"/>
                    <a:pt x="1055959" y="11697"/>
                    <a:pt x="1055959" y="26125"/>
                  </a:cubicBezTo>
                  <a:lnTo>
                    <a:pt x="1055959" y="691731"/>
                  </a:lnTo>
                  <a:cubicBezTo>
                    <a:pt x="1055959" y="698660"/>
                    <a:pt x="1053206" y="705305"/>
                    <a:pt x="1048307" y="710204"/>
                  </a:cubicBezTo>
                  <a:cubicBezTo>
                    <a:pt x="1043408" y="715104"/>
                    <a:pt x="1036763" y="717856"/>
                    <a:pt x="1029834" y="717856"/>
                  </a:cubicBezTo>
                  <a:lnTo>
                    <a:pt x="26125" y="717856"/>
                  </a:lnTo>
                  <a:cubicBezTo>
                    <a:pt x="19196" y="717856"/>
                    <a:pt x="12551" y="715104"/>
                    <a:pt x="7652" y="710204"/>
                  </a:cubicBezTo>
                  <a:cubicBezTo>
                    <a:pt x="2752" y="705305"/>
                    <a:pt x="0" y="698660"/>
                    <a:pt x="0" y="691731"/>
                  </a:cubicBezTo>
                  <a:lnTo>
                    <a:pt x="0" y="26125"/>
                  </a:lnTo>
                  <a:cubicBezTo>
                    <a:pt x="0" y="19196"/>
                    <a:pt x="2752" y="12551"/>
                    <a:pt x="7652" y="7652"/>
                  </a:cubicBezTo>
                  <a:cubicBezTo>
                    <a:pt x="12551" y="2752"/>
                    <a:pt x="19196" y="0"/>
                    <a:pt x="26125" y="0"/>
                  </a:cubicBezTo>
                  <a:close/>
                </a:path>
              </a:pathLst>
            </a:custGeom>
            <a:blipFill>
              <a:blip r:embed="rId6"/>
              <a:stretch>
                <a:fillRect l="-939" t="0" r="-939" b="0"/>
              </a:stretch>
            </a:blipFill>
            <a:ln w="85725" cap="rnd">
              <a:solidFill>
                <a:srgbClr val="EFEFDA"/>
              </a:solidFill>
              <a:prstDash val="solid"/>
              <a:round/>
            </a:ln>
          </p:spPr>
        </p:sp>
      </p:grpSp>
      <p:sp>
        <p:nvSpPr>
          <p:cNvPr name="TextBox 8" id="8"/>
          <p:cNvSpPr txBox="true"/>
          <p:nvPr/>
        </p:nvSpPr>
        <p:spPr>
          <a:xfrm rot="0">
            <a:off x="1028700" y="1186366"/>
            <a:ext cx="5228916" cy="877791"/>
          </a:xfrm>
          <a:prstGeom prst="rect">
            <a:avLst/>
          </a:prstGeom>
        </p:spPr>
        <p:txBody>
          <a:bodyPr anchor="t" rtlCol="false" tIns="0" lIns="0" bIns="0" rIns="0">
            <a:spAutoFit/>
          </a:bodyPr>
          <a:lstStyle/>
          <a:p>
            <a:pPr algn="l">
              <a:lnSpc>
                <a:spcPts val="6865"/>
              </a:lnSpc>
            </a:pPr>
            <a:r>
              <a:rPr lang="en-US" sz="5918" b="true">
                <a:solidFill>
                  <a:srgbClr val="EFEFDA"/>
                </a:solidFill>
                <a:latin typeface="Glacial Indifference Bold"/>
                <a:ea typeface="Glacial Indifference Bold"/>
                <a:cs typeface="Glacial Indifference Bold"/>
                <a:sym typeface="Glacial Indifference Bold"/>
              </a:rPr>
              <a:t>Mục tiêu</a:t>
            </a:r>
          </a:p>
        </p:txBody>
      </p:sp>
      <p:sp>
        <p:nvSpPr>
          <p:cNvPr name="AutoShape 9" id="9"/>
          <p:cNvSpPr/>
          <p:nvPr/>
        </p:nvSpPr>
        <p:spPr>
          <a:xfrm>
            <a:off x="1028700" y="2198560"/>
            <a:ext cx="3164999" cy="0"/>
          </a:xfrm>
          <a:prstGeom prst="line">
            <a:avLst/>
          </a:prstGeom>
          <a:ln cap="rnd" w="95250">
            <a:solidFill>
              <a:srgbClr val="EFEFDA"/>
            </a:solidFill>
            <a:prstDash val="solid"/>
            <a:headEnd type="none" len="sm" w="sm"/>
            <a:tailEnd type="none" len="sm" w="sm"/>
          </a:ln>
        </p:spPr>
      </p:sp>
      <p:sp>
        <p:nvSpPr>
          <p:cNvPr name="TextBox 10" id="10"/>
          <p:cNvSpPr txBox="true"/>
          <p:nvPr/>
        </p:nvSpPr>
        <p:spPr>
          <a:xfrm rot="0">
            <a:off x="1462060" y="2731482"/>
            <a:ext cx="8229678" cy="4927551"/>
          </a:xfrm>
          <a:prstGeom prst="rect">
            <a:avLst/>
          </a:prstGeom>
        </p:spPr>
        <p:txBody>
          <a:bodyPr anchor="t" rtlCol="false" tIns="0" lIns="0" bIns="0" rIns="0">
            <a:spAutoFit/>
          </a:bodyPr>
          <a:lstStyle/>
          <a:p>
            <a:pPr algn="l" marL="707547" indent="-353774" lvl="1">
              <a:lnSpc>
                <a:spcPts val="4883"/>
              </a:lnSpc>
              <a:buFont typeface="Arial"/>
              <a:buChar char="•"/>
            </a:pPr>
            <a:r>
              <a:rPr lang="en-US" sz="3277" spc="249">
                <a:solidFill>
                  <a:srgbClr val="EFEFDA"/>
                </a:solidFill>
                <a:latin typeface="ABeeZee"/>
                <a:ea typeface="ABeeZee"/>
                <a:cs typeface="ABeeZee"/>
                <a:sym typeface="ABeeZee"/>
              </a:rPr>
              <a:t>Phân tích</a:t>
            </a:r>
            <a:r>
              <a:rPr lang="en-US" sz="3277" spc="249">
                <a:solidFill>
                  <a:srgbClr val="EFEFDA"/>
                </a:solidFill>
                <a:latin typeface="ABeeZee"/>
                <a:ea typeface="ABeeZee"/>
                <a:cs typeface="ABeeZee"/>
                <a:sym typeface="ABeeZee"/>
              </a:rPr>
              <a:t> xu hướng lượt nghe, thứ hạng, nghệ sĩ và thể loại.</a:t>
            </a:r>
          </a:p>
          <a:p>
            <a:pPr algn="l" marL="707547" indent="-353774" lvl="1">
              <a:lnSpc>
                <a:spcPts val="4883"/>
              </a:lnSpc>
              <a:buFont typeface="Arial"/>
              <a:buChar char="•"/>
            </a:pPr>
            <a:r>
              <a:rPr lang="en-US" sz="3277" spc="249">
                <a:solidFill>
                  <a:srgbClr val="EFEFDA"/>
                </a:solidFill>
                <a:latin typeface="ABeeZee"/>
                <a:ea typeface="ABeeZee"/>
                <a:cs typeface="ABeeZee"/>
                <a:sym typeface="ABeeZee"/>
              </a:rPr>
              <a:t>Nhận diện bài hát có dấu hiệu tăng trưởng.</a:t>
            </a:r>
          </a:p>
          <a:p>
            <a:pPr algn="l" marL="707547" indent="-353774" lvl="1">
              <a:lnSpc>
                <a:spcPts val="4883"/>
              </a:lnSpc>
              <a:buFont typeface="Arial"/>
              <a:buChar char="•"/>
            </a:pPr>
            <a:r>
              <a:rPr lang="en-US" sz="3277" spc="249">
                <a:solidFill>
                  <a:srgbClr val="EFEFDA"/>
                </a:solidFill>
                <a:latin typeface="ABeeZee"/>
                <a:ea typeface="ABeeZee"/>
                <a:cs typeface="ABeeZee"/>
                <a:sym typeface="ABeeZee"/>
              </a:rPr>
              <a:t>Dự đoán lượt nghe tuần tiếp theo.</a:t>
            </a:r>
          </a:p>
          <a:p>
            <a:pPr algn="l" marL="707547" indent="-353774" lvl="1">
              <a:lnSpc>
                <a:spcPts val="4883"/>
              </a:lnSpc>
              <a:buFont typeface="Arial"/>
              <a:buChar char="•"/>
            </a:pPr>
            <a:r>
              <a:rPr lang="en-US" sz="3277" spc="249">
                <a:solidFill>
                  <a:srgbClr val="EFEFDA"/>
                </a:solidFill>
                <a:latin typeface="ABeeZee"/>
                <a:ea typeface="ABeeZee"/>
                <a:cs typeface="ABeeZee"/>
                <a:sym typeface="ABeeZee"/>
              </a:rPr>
              <a:t>Hỗ trợ tham khảo cho hoạt động marketing âm nhạc.</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E3653"/>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3503952" y="3894819"/>
            <a:ext cx="7007903" cy="2497362"/>
          </a:xfrm>
          <a:custGeom>
            <a:avLst/>
            <a:gdLst/>
            <a:ahLst/>
            <a:cxnLst/>
            <a:rect r="r" b="b" t="t" l="l"/>
            <a:pathLst>
              <a:path h="2497362" w="7007903">
                <a:moveTo>
                  <a:pt x="0" y="0"/>
                </a:moveTo>
                <a:lnTo>
                  <a:pt x="7007904" y="0"/>
                </a:lnTo>
                <a:lnTo>
                  <a:pt x="7007904" y="2497362"/>
                </a:lnTo>
                <a:lnTo>
                  <a:pt x="0" y="24973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4784048" y="3894819"/>
            <a:ext cx="7007903" cy="2497362"/>
          </a:xfrm>
          <a:custGeom>
            <a:avLst/>
            <a:gdLst/>
            <a:ahLst/>
            <a:cxnLst/>
            <a:rect r="r" b="b" t="t" l="l"/>
            <a:pathLst>
              <a:path h="2497362" w="7007903">
                <a:moveTo>
                  <a:pt x="0" y="0"/>
                </a:moveTo>
                <a:lnTo>
                  <a:pt x="7007904" y="0"/>
                </a:lnTo>
                <a:lnTo>
                  <a:pt x="7007904" y="2497362"/>
                </a:lnTo>
                <a:lnTo>
                  <a:pt x="0" y="24973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400000">
            <a:off x="645491" y="9984532"/>
            <a:ext cx="4154770" cy="1480609"/>
          </a:xfrm>
          <a:custGeom>
            <a:avLst/>
            <a:gdLst/>
            <a:ahLst/>
            <a:cxnLst/>
            <a:rect r="r" b="b" t="t" l="l"/>
            <a:pathLst>
              <a:path h="1480609" w="4154770">
                <a:moveTo>
                  <a:pt x="0" y="0"/>
                </a:moveTo>
                <a:lnTo>
                  <a:pt x="4154770" y="0"/>
                </a:lnTo>
                <a:lnTo>
                  <a:pt x="4154770" y="1480609"/>
                </a:lnTo>
                <a:lnTo>
                  <a:pt x="0" y="14806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5400000">
            <a:off x="13401636" y="9873414"/>
            <a:ext cx="4154770" cy="1480609"/>
          </a:xfrm>
          <a:custGeom>
            <a:avLst/>
            <a:gdLst/>
            <a:ahLst/>
            <a:cxnLst/>
            <a:rect r="r" b="b" t="t" l="l"/>
            <a:pathLst>
              <a:path h="1480609" w="4154770">
                <a:moveTo>
                  <a:pt x="0" y="0"/>
                </a:moveTo>
                <a:lnTo>
                  <a:pt x="4154770" y="0"/>
                </a:lnTo>
                <a:lnTo>
                  <a:pt x="4154770" y="1480609"/>
                </a:lnTo>
                <a:lnTo>
                  <a:pt x="0" y="14806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4721322" y="1186366"/>
            <a:ext cx="8845357" cy="877791"/>
          </a:xfrm>
          <a:prstGeom prst="rect">
            <a:avLst/>
          </a:prstGeom>
        </p:spPr>
        <p:txBody>
          <a:bodyPr anchor="t" rtlCol="false" tIns="0" lIns="0" bIns="0" rIns="0">
            <a:spAutoFit/>
          </a:bodyPr>
          <a:lstStyle/>
          <a:p>
            <a:pPr algn="ctr">
              <a:lnSpc>
                <a:spcPts val="6865"/>
              </a:lnSpc>
            </a:pPr>
            <a:r>
              <a:rPr lang="en-US" sz="5918" b="true">
                <a:solidFill>
                  <a:srgbClr val="EFEFDA"/>
                </a:solidFill>
                <a:latin typeface="Glacial Indifference Bold"/>
                <a:ea typeface="Glacial Indifference Bold"/>
                <a:cs typeface="Glacial Indifference Bold"/>
                <a:sym typeface="Glacial Indifference Bold"/>
              </a:rPr>
              <a:t>Dữ liệu nghiên cứu</a:t>
            </a:r>
          </a:p>
        </p:txBody>
      </p:sp>
      <p:sp>
        <p:nvSpPr>
          <p:cNvPr name="AutoShape 7" id="7"/>
          <p:cNvSpPr/>
          <p:nvPr/>
        </p:nvSpPr>
        <p:spPr>
          <a:xfrm flipV="true">
            <a:off x="5886139" y="2149881"/>
            <a:ext cx="6604073" cy="0"/>
          </a:xfrm>
          <a:prstGeom prst="line">
            <a:avLst/>
          </a:prstGeom>
          <a:ln cap="rnd" w="95250">
            <a:solidFill>
              <a:srgbClr val="EFEFDA"/>
            </a:solidFill>
            <a:prstDash val="solid"/>
            <a:headEnd type="none" len="sm" w="sm"/>
            <a:tailEnd type="none" len="sm" w="sm"/>
          </a:ln>
        </p:spPr>
      </p:sp>
      <p:sp>
        <p:nvSpPr>
          <p:cNvPr name="TextBox 8" id="8"/>
          <p:cNvSpPr txBox="true"/>
          <p:nvPr/>
        </p:nvSpPr>
        <p:spPr>
          <a:xfrm rot="0">
            <a:off x="1748515" y="2682736"/>
            <a:ext cx="8950476" cy="3083701"/>
          </a:xfrm>
          <a:prstGeom prst="rect">
            <a:avLst/>
          </a:prstGeom>
        </p:spPr>
        <p:txBody>
          <a:bodyPr anchor="t" rtlCol="false" tIns="0" lIns="0" bIns="0" rIns="0">
            <a:spAutoFit/>
          </a:bodyPr>
          <a:lstStyle/>
          <a:p>
            <a:pPr algn="l">
              <a:lnSpc>
                <a:spcPts val="5479"/>
              </a:lnSpc>
            </a:pPr>
            <a:r>
              <a:rPr lang="en-US" sz="3677" spc="279">
                <a:solidFill>
                  <a:srgbClr val="EFEFDA"/>
                </a:solidFill>
                <a:latin typeface="ABeeZee Bold"/>
                <a:ea typeface="ABeeZee Bold"/>
                <a:cs typeface="ABeeZee Bold"/>
                <a:sym typeface="ABeeZee Bold"/>
              </a:rPr>
              <a:t>Phạ</a:t>
            </a:r>
            <a:r>
              <a:rPr lang="en-US" sz="3677" spc="279">
                <a:solidFill>
                  <a:srgbClr val="EFEFDA"/>
                </a:solidFill>
                <a:latin typeface="ABeeZee Bold"/>
                <a:ea typeface="ABeeZee Bold"/>
                <a:cs typeface="ABeeZee Bold"/>
                <a:sym typeface="ABeeZee Bold"/>
              </a:rPr>
              <a:t>m vi</a:t>
            </a:r>
          </a:p>
          <a:p>
            <a:pPr algn="l" marL="685958" indent="-342979" lvl="1">
              <a:lnSpc>
                <a:spcPts val="4734"/>
              </a:lnSpc>
              <a:buFont typeface="Arial"/>
              <a:buChar char="•"/>
            </a:pPr>
            <a:r>
              <a:rPr lang="en-US" sz="3177" spc="241">
                <a:solidFill>
                  <a:srgbClr val="EFEFDA"/>
                </a:solidFill>
                <a:latin typeface="ABeeZee"/>
                <a:ea typeface="ABeeZee"/>
                <a:cs typeface="ABeeZee"/>
                <a:sym typeface="ABeeZee"/>
              </a:rPr>
              <a:t>Thời gian: 09/04/2026 – 25/06/2026</a:t>
            </a:r>
          </a:p>
          <a:p>
            <a:pPr algn="l" marL="685958" indent="-342979" lvl="1">
              <a:lnSpc>
                <a:spcPts val="4734"/>
              </a:lnSpc>
              <a:buFont typeface="Arial"/>
              <a:buChar char="•"/>
            </a:pPr>
            <a:r>
              <a:rPr lang="en-US" sz="3177" spc="241">
                <a:solidFill>
                  <a:srgbClr val="EFEFDA"/>
                </a:solidFill>
                <a:latin typeface="ABeeZee"/>
                <a:ea typeface="ABeeZee"/>
                <a:cs typeface="ABeeZee"/>
                <a:sym typeface="ABeeZee"/>
              </a:rPr>
              <a:t>12 tuần liên tiếp</a:t>
            </a:r>
          </a:p>
          <a:p>
            <a:pPr algn="l" marL="685958" indent="-342979" lvl="1">
              <a:lnSpc>
                <a:spcPts val="4734"/>
              </a:lnSpc>
              <a:buFont typeface="Arial"/>
              <a:buChar char="•"/>
            </a:pPr>
            <a:r>
              <a:rPr lang="en-US" sz="3177" spc="241">
                <a:solidFill>
                  <a:srgbClr val="EFEFDA"/>
                </a:solidFill>
                <a:latin typeface="ABeeZee"/>
                <a:ea typeface="ABeeZee"/>
                <a:cs typeface="ABeeZee"/>
                <a:sym typeface="ABeeZee"/>
              </a:rPr>
              <a:t>Top 200 bài/tuần</a:t>
            </a:r>
          </a:p>
          <a:p>
            <a:pPr algn="l" marL="685958" indent="-342979" lvl="1">
              <a:lnSpc>
                <a:spcPts val="4734"/>
              </a:lnSpc>
              <a:buFont typeface="Arial"/>
              <a:buChar char="•"/>
            </a:pPr>
            <a:r>
              <a:rPr lang="en-US" sz="3177" spc="241">
                <a:solidFill>
                  <a:srgbClr val="EFEFDA"/>
                </a:solidFill>
                <a:latin typeface="ABeeZee"/>
                <a:ea typeface="ABeeZee"/>
                <a:cs typeface="ABeeZee"/>
                <a:sym typeface="ABeeZee"/>
              </a:rPr>
              <a:t>Tổng cộng 2.400 quan sát</a:t>
            </a:r>
          </a:p>
        </p:txBody>
      </p:sp>
      <p:grpSp>
        <p:nvGrpSpPr>
          <p:cNvPr name="Group 9" id="9"/>
          <p:cNvGrpSpPr/>
          <p:nvPr/>
        </p:nvGrpSpPr>
        <p:grpSpPr>
          <a:xfrm rot="0">
            <a:off x="11182342" y="2797036"/>
            <a:ext cx="4296679" cy="5918749"/>
            <a:chOff x="0" y="0"/>
            <a:chExt cx="5728905" cy="7891665"/>
          </a:xfrm>
        </p:grpSpPr>
        <p:sp>
          <p:nvSpPr>
            <p:cNvPr name="TextBox 10" id="10"/>
            <p:cNvSpPr txBox="true"/>
            <p:nvPr/>
          </p:nvSpPr>
          <p:spPr>
            <a:xfrm rot="0">
              <a:off x="0" y="-114300"/>
              <a:ext cx="5728905" cy="3273402"/>
            </a:xfrm>
            <a:prstGeom prst="rect">
              <a:avLst/>
            </a:prstGeom>
          </p:spPr>
          <p:txBody>
            <a:bodyPr anchor="t" rtlCol="false" tIns="0" lIns="0" bIns="0" rIns="0">
              <a:spAutoFit/>
            </a:bodyPr>
            <a:lstStyle/>
            <a:p>
              <a:pPr algn="just">
                <a:lnSpc>
                  <a:spcPts val="5479"/>
                </a:lnSpc>
              </a:pPr>
              <a:r>
                <a:rPr lang="en-US" sz="3677" spc="279">
                  <a:solidFill>
                    <a:srgbClr val="EFEFDA"/>
                  </a:solidFill>
                  <a:latin typeface="ABeeZee Bold"/>
                  <a:ea typeface="ABeeZee Bold"/>
                  <a:cs typeface="ABeeZee Bold"/>
                  <a:sym typeface="ABeeZee Bold"/>
                </a:rPr>
                <a:t>Các biến chính:</a:t>
              </a:r>
            </a:p>
            <a:p>
              <a:pPr algn="l" marL="685958" indent="-342979" lvl="1">
                <a:lnSpc>
                  <a:spcPts val="4734"/>
                </a:lnSpc>
                <a:buFont typeface="Arial"/>
                <a:buChar char="•"/>
              </a:pPr>
              <a:r>
                <a:rPr lang="en-US" sz="3177" spc="241">
                  <a:solidFill>
                    <a:srgbClr val="EFEFDA"/>
                  </a:solidFill>
                  <a:latin typeface="ABeeZee Bold"/>
                  <a:ea typeface="ABeeZee Bold"/>
                  <a:cs typeface="ABeeZee Bold"/>
                  <a:sym typeface="ABeeZee Bold"/>
                </a:rPr>
                <a:t>rank</a:t>
              </a:r>
            </a:p>
            <a:p>
              <a:pPr algn="l" marL="685958" indent="-342979" lvl="1">
                <a:lnSpc>
                  <a:spcPts val="4734"/>
                </a:lnSpc>
                <a:buFont typeface="Arial"/>
                <a:buChar char="•"/>
              </a:pPr>
              <a:r>
                <a:rPr lang="en-US" sz="3177" spc="241">
                  <a:solidFill>
                    <a:srgbClr val="EFEFDA"/>
                  </a:solidFill>
                  <a:latin typeface="ABeeZee Bold"/>
                  <a:ea typeface="ABeeZee Bold"/>
                  <a:cs typeface="ABeeZee Bold"/>
                  <a:sym typeface="ABeeZee Bold"/>
                </a:rPr>
                <a:t>streams</a:t>
              </a:r>
            </a:p>
            <a:p>
              <a:pPr algn="l" marL="685958" indent="-342979" lvl="1">
                <a:lnSpc>
                  <a:spcPts val="4734"/>
                </a:lnSpc>
                <a:buFont typeface="Arial"/>
                <a:buChar char="•"/>
              </a:pPr>
              <a:r>
                <a:rPr lang="en-US" sz="3177" spc="241">
                  <a:solidFill>
                    <a:srgbClr val="EFEFDA"/>
                  </a:solidFill>
                  <a:latin typeface="ABeeZee Bold"/>
                  <a:ea typeface="ABeeZee Bold"/>
                  <a:cs typeface="ABeeZee Bold"/>
                  <a:sym typeface="ABeeZee Bold"/>
                </a:rPr>
                <a:t>previous_rank</a:t>
              </a:r>
            </a:p>
          </p:txBody>
        </p:sp>
        <p:sp>
          <p:nvSpPr>
            <p:cNvPr name="TextBox 11" id="11"/>
            <p:cNvSpPr txBox="true"/>
            <p:nvPr/>
          </p:nvSpPr>
          <p:spPr>
            <a:xfrm rot="0">
              <a:off x="0" y="5552137"/>
              <a:ext cx="5728905" cy="2339528"/>
            </a:xfrm>
            <a:prstGeom prst="rect">
              <a:avLst/>
            </a:prstGeom>
          </p:spPr>
          <p:txBody>
            <a:bodyPr anchor="t" rtlCol="false" tIns="0" lIns="0" bIns="0" rIns="0">
              <a:spAutoFit/>
            </a:bodyPr>
            <a:lstStyle/>
            <a:p>
              <a:pPr algn="l" marL="685958" indent="-342979" lvl="1">
                <a:lnSpc>
                  <a:spcPts val="4734"/>
                </a:lnSpc>
                <a:buFont typeface="Arial"/>
                <a:buChar char="•"/>
              </a:pPr>
              <a:r>
                <a:rPr lang="en-US" sz="3177" spc="241">
                  <a:solidFill>
                    <a:srgbClr val="EFEFDA"/>
                  </a:solidFill>
                  <a:latin typeface="ABeeZee Bold"/>
                  <a:ea typeface="ABeeZee Bold"/>
                  <a:cs typeface="ABeeZee Bold"/>
                  <a:sym typeface="ABeeZee Bold"/>
                </a:rPr>
                <a:t>track_name</a:t>
              </a:r>
            </a:p>
            <a:p>
              <a:pPr algn="just" marL="685958" indent="-342979" lvl="1">
                <a:lnSpc>
                  <a:spcPts val="4734"/>
                </a:lnSpc>
                <a:buFont typeface="Arial"/>
                <a:buChar char="•"/>
              </a:pPr>
              <a:r>
                <a:rPr lang="en-US" sz="3177" spc="241">
                  <a:solidFill>
                    <a:srgbClr val="EFEFDA"/>
                  </a:solidFill>
                  <a:latin typeface="ABeeZee Bold"/>
                  <a:ea typeface="ABeeZee Bold"/>
                  <a:cs typeface="ABeeZee Bold"/>
                  <a:sym typeface="ABeeZee Bold"/>
                </a:rPr>
                <a:t>genre</a:t>
              </a:r>
            </a:p>
            <a:p>
              <a:pPr algn="just" marL="685958" indent="-342979" lvl="1">
                <a:lnSpc>
                  <a:spcPts val="4734"/>
                </a:lnSpc>
                <a:buFont typeface="Arial"/>
                <a:buChar char="•"/>
              </a:pPr>
              <a:r>
                <a:rPr lang="en-US" sz="3177" spc="241">
                  <a:solidFill>
                    <a:srgbClr val="EFEFDA"/>
                  </a:solidFill>
                  <a:latin typeface="ABeeZee Bold"/>
                  <a:ea typeface="ABeeZee Bold"/>
                  <a:cs typeface="ABeeZee Bold"/>
                  <a:sym typeface="ABeeZee Bold"/>
                </a:rPr>
                <a:t>chart_week</a:t>
              </a:r>
            </a:p>
          </p:txBody>
        </p:sp>
        <p:sp>
          <p:nvSpPr>
            <p:cNvPr name="TextBox 12" id="12"/>
            <p:cNvSpPr txBox="true"/>
            <p:nvPr/>
          </p:nvSpPr>
          <p:spPr>
            <a:xfrm rot="0">
              <a:off x="0" y="3142759"/>
              <a:ext cx="5728905" cy="2339528"/>
            </a:xfrm>
            <a:prstGeom prst="rect">
              <a:avLst/>
            </a:prstGeom>
          </p:spPr>
          <p:txBody>
            <a:bodyPr anchor="t" rtlCol="false" tIns="0" lIns="0" bIns="0" rIns="0">
              <a:spAutoFit/>
            </a:bodyPr>
            <a:lstStyle/>
            <a:p>
              <a:pPr algn="just" marL="685958" indent="-342979" lvl="1">
                <a:lnSpc>
                  <a:spcPts val="4734"/>
                </a:lnSpc>
                <a:buFont typeface="Arial"/>
                <a:buChar char="•"/>
              </a:pPr>
              <a:r>
                <a:rPr lang="en-US" sz="3177" spc="241">
                  <a:solidFill>
                    <a:srgbClr val="EFEFDA"/>
                  </a:solidFill>
                  <a:latin typeface="ABeeZee Bold"/>
                  <a:ea typeface="ABeeZee Bold"/>
                  <a:cs typeface="ABeeZee Bold"/>
                  <a:sym typeface="ABeeZee Bold"/>
                </a:rPr>
                <a:t>peak_rank</a:t>
              </a:r>
            </a:p>
            <a:p>
              <a:pPr algn="just" marL="685958" indent="-342979" lvl="1">
                <a:lnSpc>
                  <a:spcPts val="4734"/>
                </a:lnSpc>
                <a:buFont typeface="Arial"/>
                <a:buChar char="•"/>
              </a:pPr>
              <a:r>
                <a:rPr lang="en-US" sz="3177" spc="241">
                  <a:solidFill>
                    <a:srgbClr val="EFEFDA"/>
                  </a:solidFill>
                  <a:latin typeface="ABeeZee Bold"/>
                  <a:ea typeface="ABeeZee Bold"/>
                  <a:cs typeface="ABeeZee Bold"/>
                  <a:sym typeface="ABeeZee Bold"/>
                </a:rPr>
                <a:t>weeks_on_chart</a:t>
              </a:r>
            </a:p>
            <a:p>
              <a:pPr algn="just" marL="685958" indent="-342979" lvl="1">
                <a:lnSpc>
                  <a:spcPts val="4734"/>
                </a:lnSpc>
                <a:buFont typeface="Arial"/>
                <a:buChar char="•"/>
              </a:pPr>
              <a:r>
                <a:rPr lang="en-US" sz="3177" spc="241">
                  <a:solidFill>
                    <a:srgbClr val="EFEFDA"/>
                  </a:solidFill>
                  <a:latin typeface="ABeeZee Bold"/>
                  <a:ea typeface="ABeeZee Bold"/>
                  <a:cs typeface="ABeeZee Bold"/>
                  <a:sym typeface="ABeeZee Bold"/>
                </a:rPr>
                <a:t>artist_names</a:t>
              </a:r>
            </a:p>
          </p:txBody>
        </p:sp>
      </p:grpSp>
      <p:sp>
        <p:nvSpPr>
          <p:cNvPr name="TextBox 13" id="13"/>
          <p:cNvSpPr txBox="true"/>
          <p:nvPr/>
        </p:nvSpPr>
        <p:spPr>
          <a:xfrm rot="0">
            <a:off x="1748515" y="6246370"/>
            <a:ext cx="8950476" cy="1283476"/>
          </a:xfrm>
          <a:prstGeom prst="rect">
            <a:avLst/>
          </a:prstGeom>
        </p:spPr>
        <p:txBody>
          <a:bodyPr anchor="t" rtlCol="false" tIns="0" lIns="0" bIns="0" rIns="0">
            <a:spAutoFit/>
          </a:bodyPr>
          <a:lstStyle/>
          <a:p>
            <a:pPr algn="l">
              <a:lnSpc>
                <a:spcPts val="5479"/>
              </a:lnSpc>
            </a:pPr>
            <a:r>
              <a:rPr lang="en-US" sz="3677" spc="279">
                <a:solidFill>
                  <a:srgbClr val="EFEFDA"/>
                </a:solidFill>
                <a:latin typeface="ABeeZee Bold"/>
                <a:ea typeface="ABeeZee Bold"/>
                <a:cs typeface="ABeeZee Bold"/>
                <a:sym typeface="ABeeZee Bold"/>
              </a:rPr>
              <a:t>N</a:t>
            </a:r>
            <a:r>
              <a:rPr lang="en-US" sz="3677" spc="279">
                <a:solidFill>
                  <a:srgbClr val="EFEFDA"/>
                </a:solidFill>
                <a:latin typeface="ABeeZee Bold"/>
                <a:ea typeface="ABeeZee Bold"/>
                <a:cs typeface="ABeeZee Bold"/>
                <a:sym typeface="ABeeZee Bold"/>
              </a:rPr>
              <a:t>guồn dữ liệu</a:t>
            </a:r>
          </a:p>
          <a:p>
            <a:pPr algn="l" marL="685958" indent="-342979" lvl="1">
              <a:lnSpc>
                <a:spcPts val="4734"/>
              </a:lnSpc>
              <a:buFont typeface="Arial"/>
              <a:buChar char="•"/>
            </a:pPr>
            <a:r>
              <a:rPr lang="en-US" sz="3177" spc="241">
                <a:solidFill>
                  <a:srgbClr val="EFEFDA"/>
                </a:solidFill>
                <a:latin typeface="ABeeZee"/>
                <a:ea typeface="ABeeZee"/>
                <a:cs typeface="ABeeZee"/>
                <a:sym typeface="ABeeZee"/>
              </a:rPr>
              <a:t>Spo</a:t>
            </a:r>
            <a:r>
              <a:rPr lang="en-US" sz="3177" spc="241">
                <a:solidFill>
                  <a:srgbClr val="EFEFDA"/>
                </a:solidFill>
                <a:latin typeface="ABeeZee"/>
                <a:ea typeface="ABeeZee"/>
                <a:cs typeface="ABeeZee"/>
                <a:sym typeface="ABeeZee"/>
              </a:rPr>
              <a:t>tify Charts – Top Songs Vietnam.</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E3653"/>
        </a:solidFill>
      </p:bgPr>
    </p:bg>
    <p:spTree>
      <p:nvGrpSpPr>
        <p:cNvPr id="1" name=""/>
        <p:cNvGrpSpPr/>
        <p:nvPr/>
      </p:nvGrpSpPr>
      <p:grpSpPr>
        <a:xfrm>
          <a:off x="0" y="0"/>
          <a:ext cx="0" cy="0"/>
          <a:chOff x="0" y="0"/>
          <a:chExt cx="0" cy="0"/>
        </a:xfrm>
      </p:grpSpPr>
      <p:sp>
        <p:nvSpPr>
          <p:cNvPr name="Freeform 2" id="2"/>
          <p:cNvSpPr/>
          <p:nvPr/>
        </p:nvSpPr>
        <p:spPr>
          <a:xfrm flipH="false" flipV="false" rot="0">
            <a:off x="16541746" y="8263308"/>
            <a:ext cx="7007903" cy="2497362"/>
          </a:xfrm>
          <a:custGeom>
            <a:avLst/>
            <a:gdLst/>
            <a:ahLst/>
            <a:cxnLst/>
            <a:rect r="r" b="b" t="t" l="l"/>
            <a:pathLst>
              <a:path h="2497362" w="7007903">
                <a:moveTo>
                  <a:pt x="0" y="0"/>
                </a:moveTo>
                <a:lnTo>
                  <a:pt x="7007903" y="0"/>
                </a:lnTo>
                <a:lnTo>
                  <a:pt x="7007903" y="2497361"/>
                </a:lnTo>
                <a:lnTo>
                  <a:pt x="0" y="24973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5259388" y="-1002041"/>
            <a:ext cx="7007903" cy="2497362"/>
          </a:xfrm>
          <a:custGeom>
            <a:avLst/>
            <a:gdLst/>
            <a:ahLst/>
            <a:cxnLst/>
            <a:rect r="r" b="b" t="t" l="l"/>
            <a:pathLst>
              <a:path h="2497362" w="7007903">
                <a:moveTo>
                  <a:pt x="0" y="2497362"/>
                </a:moveTo>
                <a:lnTo>
                  <a:pt x="7007903" y="2497362"/>
                </a:lnTo>
                <a:lnTo>
                  <a:pt x="7007903" y="0"/>
                </a:lnTo>
                <a:lnTo>
                  <a:pt x="0" y="0"/>
                </a:lnTo>
                <a:lnTo>
                  <a:pt x="0" y="249736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1486065" y="775011"/>
            <a:ext cx="6449736" cy="8736977"/>
          </a:xfrm>
          <a:custGeom>
            <a:avLst/>
            <a:gdLst/>
            <a:ahLst/>
            <a:cxnLst/>
            <a:rect r="r" b="b" t="t" l="l"/>
            <a:pathLst>
              <a:path h="8736977" w="6449736">
                <a:moveTo>
                  <a:pt x="0" y="0"/>
                </a:moveTo>
                <a:lnTo>
                  <a:pt x="6449736" y="0"/>
                </a:lnTo>
                <a:lnTo>
                  <a:pt x="6449736" y="8736978"/>
                </a:lnTo>
                <a:lnTo>
                  <a:pt x="0" y="8736978"/>
                </a:lnTo>
                <a:lnTo>
                  <a:pt x="0" y="0"/>
                </a:lnTo>
                <a:close/>
              </a:path>
            </a:pathLst>
          </a:custGeom>
          <a:blipFill>
            <a:blip r:embed="rId4"/>
            <a:stretch>
              <a:fillRect l="0" t="0" r="0" b="0"/>
            </a:stretch>
          </a:blipFill>
        </p:spPr>
      </p:sp>
      <p:grpSp>
        <p:nvGrpSpPr>
          <p:cNvPr name="Group 5" id="5"/>
          <p:cNvGrpSpPr/>
          <p:nvPr/>
        </p:nvGrpSpPr>
        <p:grpSpPr>
          <a:xfrm rot="0">
            <a:off x="-301913" y="1167316"/>
            <a:ext cx="8845357" cy="1001616"/>
            <a:chOff x="0" y="0"/>
            <a:chExt cx="11793809" cy="1335488"/>
          </a:xfrm>
        </p:grpSpPr>
        <p:sp>
          <p:nvSpPr>
            <p:cNvPr name="AutoShape 6" id="6"/>
            <p:cNvSpPr/>
            <p:nvPr/>
          </p:nvSpPr>
          <p:spPr>
            <a:xfrm>
              <a:off x="1867422" y="1271988"/>
              <a:ext cx="8058965" cy="0"/>
            </a:xfrm>
            <a:prstGeom prst="line">
              <a:avLst/>
            </a:prstGeom>
            <a:ln cap="rnd" w="127000">
              <a:solidFill>
                <a:srgbClr val="EFEFDA"/>
              </a:solidFill>
              <a:prstDash val="solid"/>
              <a:headEnd type="none" len="sm" w="sm"/>
              <a:tailEnd type="none" len="sm" w="sm"/>
            </a:ln>
          </p:spPr>
        </p:sp>
        <p:sp>
          <p:nvSpPr>
            <p:cNvPr name="TextBox 7" id="7"/>
            <p:cNvSpPr txBox="true"/>
            <p:nvPr/>
          </p:nvSpPr>
          <p:spPr>
            <a:xfrm rot="0">
              <a:off x="0" y="19050"/>
              <a:ext cx="11793809" cy="1176738"/>
            </a:xfrm>
            <a:prstGeom prst="rect">
              <a:avLst/>
            </a:prstGeom>
          </p:spPr>
          <p:txBody>
            <a:bodyPr anchor="t" rtlCol="false" tIns="0" lIns="0" bIns="0" rIns="0">
              <a:spAutoFit/>
            </a:bodyPr>
            <a:lstStyle/>
            <a:p>
              <a:pPr algn="ctr">
                <a:lnSpc>
                  <a:spcPts val="6865"/>
                </a:lnSpc>
              </a:pPr>
              <a:r>
                <a:rPr lang="en-US" sz="5918" b="true">
                  <a:solidFill>
                    <a:srgbClr val="EFEFDA"/>
                  </a:solidFill>
                  <a:latin typeface="Glacial Indifference Bold"/>
                  <a:ea typeface="Glacial Indifference Bold"/>
                  <a:cs typeface="Glacial Indifference Bold"/>
                  <a:sym typeface="Glacial Indifference Bold"/>
                </a:rPr>
                <a:t>Tiền xử lý dữ liệu</a:t>
              </a:r>
            </a:p>
          </p:txBody>
        </p:sp>
      </p:grpSp>
      <p:sp>
        <p:nvSpPr>
          <p:cNvPr name="TextBox 8" id="8"/>
          <p:cNvSpPr txBox="true"/>
          <p:nvPr/>
        </p:nvSpPr>
        <p:spPr>
          <a:xfrm rot="0">
            <a:off x="1028700" y="2365691"/>
            <a:ext cx="6246984" cy="2877517"/>
          </a:xfrm>
          <a:prstGeom prst="rect">
            <a:avLst/>
          </a:prstGeom>
        </p:spPr>
        <p:txBody>
          <a:bodyPr anchor="t" rtlCol="false" tIns="0" lIns="0" bIns="0" rIns="0">
            <a:spAutoFit/>
          </a:bodyPr>
          <a:lstStyle/>
          <a:p>
            <a:pPr algn="l">
              <a:lnSpc>
                <a:spcPts val="4585"/>
              </a:lnSpc>
            </a:pPr>
            <a:r>
              <a:rPr lang="en-US" sz="3077" i="true" spc="233">
                <a:solidFill>
                  <a:srgbClr val="EFEFDA"/>
                </a:solidFill>
                <a:latin typeface="ABeeZee Bold Italics"/>
                <a:ea typeface="ABeeZee Bold Italics"/>
                <a:cs typeface="ABeeZee Bold Italics"/>
                <a:sym typeface="ABeeZee Bold Italics"/>
              </a:rPr>
              <a:t>Dữ</a:t>
            </a:r>
            <a:r>
              <a:rPr lang="en-US" sz="3077" i="true" spc="233">
                <a:solidFill>
                  <a:srgbClr val="EFEFDA"/>
                </a:solidFill>
                <a:latin typeface="ABeeZee Bold Italics"/>
                <a:ea typeface="ABeeZee Bold Italics"/>
                <a:cs typeface="ABeeZee Bold Italics"/>
                <a:sym typeface="ABeeZee Bold Italics"/>
              </a:rPr>
              <a:t> liệu ban đầu</a:t>
            </a:r>
          </a:p>
          <a:p>
            <a:pPr algn="l" marL="664369" indent="-332184" lvl="1">
              <a:lnSpc>
                <a:spcPts val="4585"/>
              </a:lnSpc>
              <a:buFont typeface="Arial"/>
              <a:buChar char="•"/>
            </a:pPr>
            <a:r>
              <a:rPr lang="en-US" sz="3077" spc="233">
                <a:solidFill>
                  <a:srgbClr val="EFEFDA"/>
                </a:solidFill>
                <a:latin typeface="ABeeZee"/>
                <a:ea typeface="ABeeZee"/>
                <a:cs typeface="ABeeZee"/>
                <a:sym typeface="ABeeZee"/>
              </a:rPr>
              <a:t>2.400 dòng</a:t>
            </a:r>
          </a:p>
          <a:p>
            <a:pPr algn="l" marL="664369" indent="-332184" lvl="1">
              <a:lnSpc>
                <a:spcPts val="4585"/>
              </a:lnSpc>
              <a:buFont typeface="Arial"/>
              <a:buChar char="•"/>
            </a:pPr>
            <a:r>
              <a:rPr lang="en-US" sz="3077" spc="233">
                <a:solidFill>
                  <a:srgbClr val="EFEFDA"/>
                </a:solidFill>
                <a:latin typeface="ABeeZee"/>
                <a:ea typeface="ABeeZee"/>
                <a:cs typeface="ABeeZee"/>
                <a:sym typeface="ABeeZee"/>
              </a:rPr>
              <a:t>13 cột</a:t>
            </a:r>
          </a:p>
          <a:p>
            <a:pPr algn="l" marL="664369" indent="-332184" lvl="1">
              <a:lnSpc>
                <a:spcPts val="4585"/>
              </a:lnSpc>
              <a:buFont typeface="Arial"/>
              <a:buChar char="•"/>
            </a:pPr>
            <a:r>
              <a:rPr lang="en-US" sz="3077" spc="233">
                <a:solidFill>
                  <a:srgbClr val="EFEFDA"/>
                </a:solidFill>
                <a:latin typeface="ABeeZee"/>
                <a:ea typeface="ABeeZee"/>
                <a:cs typeface="ABeeZee"/>
                <a:sym typeface="ABeeZee"/>
              </a:rPr>
              <a:t>215 giá trị thiếu ở rank_change</a:t>
            </a:r>
          </a:p>
        </p:txBody>
      </p:sp>
      <p:sp>
        <p:nvSpPr>
          <p:cNvPr name="TextBox 9" id="9"/>
          <p:cNvSpPr txBox="true"/>
          <p:nvPr/>
        </p:nvSpPr>
        <p:spPr>
          <a:xfrm rot="0">
            <a:off x="1028700" y="5348401"/>
            <a:ext cx="10457365" cy="4039567"/>
          </a:xfrm>
          <a:prstGeom prst="rect">
            <a:avLst/>
          </a:prstGeom>
        </p:spPr>
        <p:txBody>
          <a:bodyPr anchor="t" rtlCol="false" tIns="0" lIns="0" bIns="0" rIns="0">
            <a:spAutoFit/>
          </a:bodyPr>
          <a:lstStyle/>
          <a:p>
            <a:pPr algn="l">
              <a:lnSpc>
                <a:spcPts val="4585"/>
              </a:lnSpc>
            </a:pPr>
            <a:r>
              <a:rPr lang="en-US" sz="3077" i="true" spc="233">
                <a:solidFill>
                  <a:srgbClr val="EFEFDA"/>
                </a:solidFill>
                <a:latin typeface="ABeeZee Bold Italics"/>
                <a:ea typeface="ABeeZee Bold Italics"/>
                <a:cs typeface="ABeeZee Bold Italics"/>
                <a:sym typeface="ABeeZee Bold Italics"/>
              </a:rPr>
              <a:t>Các bước xử lý</a:t>
            </a:r>
          </a:p>
          <a:p>
            <a:pPr algn="l" marL="664369" indent="-332184" lvl="1">
              <a:lnSpc>
                <a:spcPts val="4585"/>
              </a:lnSpc>
              <a:buAutoNum type="arabicPeriod" startAt="1"/>
            </a:pPr>
            <a:r>
              <a:rPr lang="en-US" sz="3077" spc="233">
                <a:solidFill>
                  <a:srgbClr val="EFEFDA"/>
                </a:solidFill>
                <a:latin typeface="ABeeZee"/>
                <a:ea typeface="ABeeZee"/>
                <a:cs typeface="ABeeZee"/>
                <a:sym typeface="ABeeZee"/>
              </a:rPr>
              <a:t>Kiểm tra d</a:t>
            </a:r>
            <a:r>
              <a:rPr lang="en-US" sz="3077" spc="233">
                <a:solidFill>
                  <a:srgbClr val="EFEFDA"/>
                </a:solidFill>
                <a:latin typeface="ABeeZee"/>
                <a:ea typeface="ABeeZee"/>
                <a:cs typeface="ABeeZee"/>
                <a:sym typeface="ABeeZee"/>
              </a:rPr>
              <a:t>ữ</a:t>
            </a:r>
            <a:r>
              <a:rPr lang="en-US" sz="3077" spc="233">
                <a:solidFill>
                  <a:srgbClr val="EFEFDA"/>
                </a:solidFill>
                <a:latin typeface="ABeeZee"/>
                <a:ea typeface="ABeeZee"/>
                <a:cs typeface="ABeeZee"/>
                <a:sym typeface="ABeeZee"/>
              </a:rPr>
              <a:t> liệu thiếu và trùng.</a:t>
            </a:r>
          </a:p>
          <a:p>
            <a:pPr algn="l" marL="664369" indent="-332184" lvl="1">
              <a:lnSpc>
                <a:spcPts val="4585"/>
              </a:lnSpc>
              <a:buAutoNum type="arabicPeriod" startAt="1"/>
            </a:pPr>
            <a:r>
              <a:rPr lang="en-US" sz="3077" spc="233">
                <a:solidFill>
                  <a:srgbClr val="EFEFDA"/>
                </a:solidFill>
                <a:latin typeface="ABeeZee"/>
                <a:ea typeface="ABeeZee"/>
                <a:cs typeface="ABeeZee"/>
                <a:sym typeface="ABeeZee"/>
              </a:rPr>
              <a:t>Giữ rank_change thiếu đối với bài không có hạng tuần trước.</a:t>
            </a:r>
          </a:p>
          <a:p>
            <a:pPr algn="l" marL="664369" indent="-332184" lvl="1">
              <a:lnSpc>
                <a:spcPts val="4585"/>
              </a:lnSpc>
              <a:buAutoNum type="arabicPeriod" startAt="1"/>
            </a:pPr>
            <a:r>
              <a:rPr lang="en-US" sz="3077" spc="233">
                <a:solidFill>
                  <a:srgbClr val="EFEFDA"/>
                </a:solidFill>
                <a:latin typeface="ABeeZee"/>
                <a:ea typeface="ABeeZee"/>
                <a:cs typeface="ABeeZee"/>
                <a:sym typeface="ABeeZee"/>
              </a:rPr>
              <a:t>Chuẩn hóa kiểu ngày, số và văn bản.</a:t>
            </a:r>
          </a:p>
          <a:p>
            <a:pPr algn="l" marL="664369" indent="-332184" lvl="1">
              <a:lnSpc>
                <a:spcPts val="4585"/>
              </a:lnSpc>
              <a:buAutoNum type="arabicPeriod" startAt="1"/>
            </a:pPr>
            <a:r>
              <a:rPr lang="en-US" sz="3077" spc="233">
                <a:solidFill>
                  <a:srgbClr val="EFEFDA"/>
                </a:solidFill>
                <a:latin typeface="ABeeZee"/>
                <a:ea typeface="ABeeZee"/>
                <a:cs typeface="ABeeZee"/>
                <a:sym typeface="ABeeZee"/>
              </a:rPr>
              <a:t>Tạo song_key để tổng hợp bài hát.</a:t>
            </a:r>
          </a:p>
          <a:p>
            <a:pPr algn="l" marL="664369" indent="-332184" lvl="1">
              <a:lnSpc>
                <a:spcPts val="4585"/>
              </a:lnSpc>
              <a:buAutoNum type="arabicPeriod" startAt="1"/>
            </a:pPr>
            <a:r>
              <a:rPr lang="en-US" sz="3077" spc="233">
                <a:solidFill>
                  <a:srgbClr val="EFEFDA"/>
                </a:solidFill>
                <a:latin typeface="ABeeZee"/>
                <a:ea typeface="ABeeZee"/>
                <a:cs typeface="ABeeZee"/>
                <a:sym typeface="ABeeZee"/>
              </a:rPr>
              <a:t>Kiểm tra lại chất lượng dữ liệu.</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E3653"/>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3953665" y="9038319"/>
            <a:ext cx="7007903" cy="2497362"/>
          </a:xfrm>
          <a:custGeom>
            <a:avLst/>
            <a:gdLst/>
            <a:ahLst/>
            <a:cxnLst/>
            <a:rect r="r" b="b" t="t" l="l"/>
            <a:pathLst>
              <a:path h="2497362" w="7007903">
                <a:moveTo>
                  <a:pt x="0" y="0"/>
                </a:moveTo>
                <a:lnTo>
                  <a:pt x="7007903" y="0"/>
                </a:lnTo>
                <a:lnTo>
                  <a:pt x="7007903" y="2497362"/>
                </a:lnTo>
                <a:lnTo>
                  <a:pt x="0" y="24973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5485902" y="-1248681"/>
            <a:ext cx="7007903" cy="2497362"/>
          </a:xfrm>
          <a:custGeom>
            <a:avLst/>
            <a:gdLst/>
            <a:ahLst/>
            <a:cxnLst/>
            <a:rect r="r" b="b" t="t" l="l"/>
            <a:pathLst>
              <a:path h="2497362" w="7007903">
                <a:moveTo>
                  <a:pt x="0" y="0"/>
                </a:moveTo>
                <a:lnTo>
                  <a:pt x="7007903" y="0"/>
                </a:lnTo>
                <a:lnTo>
                  <a:pt x="7007903" y="2497362"/>
                </a:lnTo>
                <a:lnTo>
                  <a:pt x="0" y="24973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3379249" y="2954738"/>
            <a:ext cx="12106653" cy="5442440"/>
          </a:xfrm>
          <a:custGeom>
            <a:avLst/>
            <a:gdLst/>
            <a:ahLst/>
            <a:cxnLst/>
            <a:rect r="r" b="b" t="t" l="l"/>
            <a:pathLst>
              <a:path h="5442440" w="12106653">
                <a:moveTo>
                  <a:pt x="0" y="0"/>
                </a:moveTo>
                <a:lnTo>
                  <a:pt x="12106653" y="0"/>
                </a:lnTo>
                <a:lnTo>
                  <a:pt x="12106653" y="5442440"/>
                </a:lnTo>
                <a:lnTo>
                  <a:pt x="0" y="5442440"/>
                </a:lnTo>
                <a:lnTo>
                  <a:pt x="0" y="0"/>
                </a:lnTo>
                <a:close/>
              </a:path>
            </a:pathLst>
          </a:custGeom>
          <a:blipFill>
            <a:blip r:embed="rId4"/>
            <a:stretch>
              <a:fillRect l="0" t="0" r="0" b="0"/>
            </a:stretch>
          </a:blipFill>
        </p:spPr>
      </p:sp>
      <p:grpSp>
        <p:nvGrpSpPr>
          <p:cNvPr name="Group 5" id="5"/>
          <p:cNvGrpSpPr/>
          <p:nvPr/>
        </p:nvGrpSpPr>
        <p:grpSpPr>
          <a:xfrm rot="0">
            <a:off x="1028700" y="1167316"/>
            <a:ext cx="11203080" cy="1031244"/>
            <a:chOff x="0" y="0"/>
            <a:chExt cx="14937440" cy="1374992"/>
          </a:xfrm>
        </p:grpSpPr>
        <p:sp>
          <p:nvSpPr>
            <p:cNvPr name="AutoShape 6" id="6"/>
            <p:cNvSpPr/>
            <p:nvPr/>
          </p:nvSpPr>
          <p:spPr>
            <a:xfrm>
              <a:off x="0" y="1311492"/>
              <a:ext cx="14538755" cy="0"/>
            </a:xfrm>
            <a:prstGeom prst="line">
              <a:avLst/>
            </a:prstGeom>
            <a:ln cap="rnd" w="127000">
              <a:solidFill>
                <a:srgbClr val="EFEFDA"/>
              </a:solidFill>
              <a:prstDash val="solid"/>
              <a:headEnd type="none" len="sm" w="sm"/>
              <a:tailEnd type="none" len="sm" w="sm"/>
            </a:ln>
          </p:spPr>
        </p:sp>
        <p:sp>
          <p:nvSpPr>
            <p:cNvPr name="TextBox 7" id="7"/>
            <p:cNvSpPr txBox="true"/>
            <p:nvPr/>
          </p:nvSpPr>
          <p:spPr>
            <a:xfrm rot="0">
              <a:off x="0" y="19050"/>
              <a:ext cx="14937440" cy="1176738"/>
            </a:xfrm>
            <a:prstGeom prst="rect">
              <a:avLst/>
            </a:prstGeom>
          </p:spPr>
          <p:txBody>
            <a:bodyPr anchor="t" rtlCol="false" tIns="0" lIns="0" bIns="0" rIns="0">
              <a:spAutoFit/>
            </a:bodyPr>
            <a:lstStyle/>
            <a:p>
              <a:pPr algn="l">
                <a:lnSpc>
                  <a:spcPts val="6865"/>
                </a:lnSpc>
              </a:pPr>
              <a:r>
                <a:rPr lang="en-US" sz="5918" b="true">
                  <a:solidFill>
                    <a:srgbClr val="EFEFDA"/>
                  </a:solidFill>
                  <a:latin typeface="Glacial Indifference Bold"/>
                  <a:ea typeface="Glacial Indifference Bold"/>
                  <a:cs typeface="Glacial Indifference Bold"/>
                  <a:sym typeface="Glacial Indifference Bold"/>
                </a:rPr>
                <a:t>Tổng quan xu hướng lượt nghe</a:t>
              </a:r>
            </a:p>
          </p:txBody>
        </p:sp>
      </p:grpSp>
      <p:sp>
        <p:nvSpPr>
          <p:cNvPr name="Freeform 8" id="8"/>
          <p:cNvSpPr/>
          <p:nvPr/>
        </p:nvSpPr>
        <p:spPr>
          <a:xfrm flipH="false" flipV="false" rot="0">
            <a:off x="4183866" y="3272863"/>
            <a:ext cx="774935" cy="406841"/>
          </a:xfrm>
          <a:custGeom>
            <a:avLst/>
            <a:gdLst/>
            <a:ahLst/>
            <a:cxnLst/>
            <a:rect r="r" b="b" t="t" l="l"/>
            <a:pathLst>
              <a:path h="406841" w="774935">
                <a:moveTo>
                  <a:pt x="0" y="0"/>
                </a:moveTo>
                <a:lnTo>
                  <a:pt x="774935" y="0"/>
                </a:lnTo>
                <a:lnTo>
                  <a:pt x="774935" y="406841"/>
                </a:lnTo>
                <a:lnTo>
                  <a:pt x="0" y="4068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true" rot="3796934">
            <a:off x="3232432" y="2491885"/>
            <a:ext cx="1047507" cy="958469"/>
          </a:xfrm>
          <a:custGeom>
            <a:avLst/>
            <a:gdLst/>
            <a:ahLst/>
            <a:cxnLst/>
            <a:rect r="r" b="b" t="t" l="l"/>
            <a:pathLst>
              <a:path h="958469" w="1047507">
                <a:moveTo>
                  <a:pt x="0" y="958468"/>
                </a:moveTo>
                <a:lnTo>
                  <a:pt x="1047507" y="958468"/>
                </a:lnTo>
                <a:lnTo>
                  <a:pt x="1047507" y="0"/>
                </a:lnTo>
                <a:lnTo>
                  <a:pt x="0" y="0"/>
                </a:lnTo>
                <a:lnTo>
                  <a:pt x="0" y="958468"/>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0" id="10"/>
          <p:cNvSpPr txBox="true"/>
          <p:nvPr/>
        </p:nvSpPr>
        <p:spPr>
          <a:xfrm rot="0">
            <a:off x="200309" y="2357069"/>
            <a:ext cx="3178940" cy="2078940"/>
          </a:xfrm>
          <a:prstGeom prst="rect">
            <a:avLst/>
          </a:prstGeom>
        </p:spPr>
        <p:txBody>
          <a:bodyPr anchor="t" rtlCol="false" tIns="0" lIns="0" bIns="0" rIns="0">
            <a:spAutoFit/>
          </a:bodyPr>
          <a:lstStyle/>
          <a:p>
            <a:pPr algn="ctr">
              <a:lnSpc>
                <a:spcPts val="4138"/>
              </a:lnSpc>
            </a:pPr>
            <a:r>
              <a:rPr lang="en-US" sz="2777" spc="211">
                <a:solidFill>
                  <a:srgbClr val="EFEFDA"/>
                </a:solidFill>
                <a:latin typeface="ABeeZee Bold"/>
                <a:ea typeface="ABeeZee Bold"/>
                <a:cs typeface="ABeeZee Bold"/>
                <a:sym typeface="ABeeZee Bold"/>
              </a:rPr>
              <a:t>Ca</a:t>
            </a:r>
            <a:r>
              <a:rPr lang="en-US" sz="2777" spc="211">
                <a:solidFill>
                  <a:srgbClr val="EFEFDA"/>
                </a:solidFill>
                <a:latin typeface="ABeeZee Bold"/>
                <a:ea typeface="ABeeZee Bold"/>
                <a:cs typeface="ABeeZee Bold"/>
                <a:sym typeface="ABeeZee Bold"/>
              </a:rPr>
              <a:t>o</a:t>
            </a:r>
            <a:r>
              <a:rPr lang="en-US" sz="2777" spc="211">
                <a:solidFill>
                  <a:srgbClr val="EFEFDA"/>
                </a:solidFill>
                <a:latin typeface="ABeeZee Bold"/>
                <a:ea typeface="ABeeZee Bold"/>
                <a:cs typeface="ABeeZee Bold"/>
                <a:sym typeface="ABeeZee Bold"/>
              </a:rPr>
              <a:t> nhất: 09/04/2026, khoảng 63,70 triệu lượt</a:t>
            </a:r>
          </a:p>
        </p:txBody>
      </p:sp>
      <p:sp>
        <p:nvSpPr>
          <p:cNvPr name="Freeform 11" id="11"/>
          <p:cNvSpPr/>
          <p:nvPr/>
        </p:nvSpPr>
        <p:spPr>
          <a:xfrm flipH="false" flipV="false" rot="0">
            <a:off x="13517216" y="6807719"/>
            <a:ext cx="774935" cy="406841"/>
          </a:xfrm>
          <a:custGeom>
            <a:avLst/>
            <a:gdLst/>
            <a:ahLst/>
            <a:cxnLst/>
            <a:rect r="r" b="b" t="t" l="l"/>
            <a:pathLst>
              <a:path h="406841" w="774935">
                <a:moveTo>
                  <a:pt x="0" y="0"/>
                </a:moveTo>
                <a:lnTo>
                  <a:pt x="774936" y="0"/>
                </a:lnTo>
                <a:lnTo>
                  <a:pt x="774936" y="406841"/>
                </a:lnTo>
                <a:lnTo>
                  <a:pt x="0" y="4068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false" flipV="false" rot="6855184">
            <a:off x="14420477" y="6060944"/>
            <a:ext cx="1047507" cy="958469"/>
          </a:xfrm>
          <a:custGeom>
            <a:avLst/>
            <a:gdLst/>
            <a:ahLst/>
            <a:cxnLst/>
            <a:rect r="r" b="b" t="t" l="l"/>
            <a:pathLst>
              <a:path h="958469" w="1047507">
                <a:moveTo>
                  <a:pt x="0" y="0"/>
                </a:moveTo>
                <a:lnTo>
                  <a:pt x="1047506" y="0"/>
                </a:lnTo>
                <a:lnTo>
                  <a:pt x="1047506" y="958469"/>
                </a:lnTo>
                <a:lnTo>
                  <a:pt x="0" y="95846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3" id="13"/>
          <p:cNvSpPr txBox="true"/>
          <p:nvPr/>
        </p:nvSpPr>
        <p:spPr>
          <a:xfrm rot="0">
            <a:off x="15280861" y="5590233"/>
            <a:ext cx="3178940" cy="2078940"/>
          </a:xfrm>
          <a:prstGeom prst="rect">
            <a:avLst/>
          </a:prstGeom>
        </p:spPr>
        <p:txBody>
          <a:bodyPr anchor="t" rtlCol="false" tIns="0" lIns="0" bIns="0" rIns="0">
            <a:spAutoFit/>
          </a:bodyPr>
          <a:lstStyle/>
          <a:p>
            <a:pPr algn="ctr">
              <a:lnSpc>
                <a:spcPts val="4138"/>
              </a:lnSpc>
            </a:pPr>
            <a:r>
              <a:rPr lang="en-US" sz="2777" spc="211">
                <a:solidFill>
                  <a:srgbClr val="EFEFDA"/>
                </a:solidFill>
                <a:latin typeface="ABeeZee Bold"/>
                <a:ea typeface="ABeeZee Bold"/>
                <a:cs typeface="ABeeZee Bold"/>
                <a:sym typeface="ABeeZee Bold"/>
              </a:rPr>
              <a:t>Thấp</a:t>
            </a:r>
            <a:r>
              <a:rPr lang="en-US" sz="2777" spc="211">
                <a:solidFill>
                  <a:srgbClr val="EFEFDA"/>
                </a:solidFill>
                <a:latin typeface="ABeeZee Bold"/>
                <a:ea typeface="ABeeZee Bold"/>
                <a:cs typeface="ABeeZee Bold"/>
                <a:sym typeface="ABeeZee Bold"/>
              </a:rPr>
              <a:t> nhất: 18/06/2026, khoảng 56,85 triệu lượt</a:t>
            </a:r>
          </a:p>
        </p:txBody>
      </p:sp>
      <p:sp>
        <p:nvSpPr>
          <p:cNvPr name="TextBox 14" id="14"/>
          <p:cNvSpPr txBox="true"/>
          <p:nvPr/>
        </p:nvSpPr>
        <p:spPr>
          <a:xfrm rot="0">
            <a:off x="3092640" y="8827185"/>
            <a:ext cx="13401673" cy="507315"/>
          </a:xfrm>
          <a:prstGeom prst="rect">
            <a:avLst/>
          </a:prstGeom>
        </p:spPr>
        <p:txBody>
          <a:bodyPr anchor="t" rtlCol="false" tIns="0" lIns="0" bIns="0" rIns="0">
            <a:spAutoFit/>
          </a:bodyPr>
          <a:lstStyle/>
          <a:p>
            <a:pPr algn="l">
              <a:lnSpc>
                <a:spcPts val="4138"/>
              </a:lnSpc>
            </a:pPr>
            <a:r>
              <a:rPr lang="en-US" sz="2777" spc="211">
                <a:solidFill>
                  <a:srgbClr val="EFEFDA"/>
                </a:solidFill>
                <a:latin typeface="ABeeZee Bold"/>
                <a:ea typeface="ABeeZee Bold"/>
                <a:cs typeface="ABeeZee Bold"/>
                <a:sym typeface="ABeeZee Bold"/>
              </a:rPr>
              <a:t>Tổng lượt</a:t>
            </a:r>
            <a:r>
              <a:rPr lang="en-US" sz="2777" spc="211">
                <a:solidFill>
                  <a:srgbClr val="EFEFDA"/>
                </a:solidFill>
                <a:latin typeface="ABeeZee Bold"/>
                <a:ea typeface="ABeeZee Bold"/>
                <a:cs typeface="ABeeZee Bold"/>
                <a:sym typeface="ABeeZee Bold"/>
              </a:rPr>
              <a:t> nghe: 722,7 triệu       Trung bình: 301.132 lượt/bài/tuần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E3653"/>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3953665" y="9038319"/>
            <a:ext cx="7007903" cy="2497362"/>
          </a:xfrm>
          <a:custGeom>
            <a:avLst/>
            <a:gdLst/>
            <a:ahLst/>
            <a:cxnLst/>
            <a:rect r="r" b="b" t="t" l="l"/>
            <a:pathLst>
              <a:path h="2497362" w="7007903">
                <a:moveTo>
                  <a:pt x="0" y="0"/>
                </a:moveTo>
                <a:lnTo>
                  <a:pt x="7007903" y="0"/>
                </a:lnTo>
                <a:lnTo>
                  <a:pt x="7007903" y="2497362"/>
                </a:lnTo>
                <a:lnTo>
                  <a:pt x="0" y="24973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5485902" y="-1248681"/>
            <a:ext cx="7007903" cy="2497362"/>
          </a:xfrm>
          <a:custGeom>
            <a:avLst/>
            <a:gdLst/>
            <a:ahLst/>
            <a:cxnLst/>
            <a:rect r="r" b="b" t="t" l="l"/>
            <a:pathLst>
              <a:path h="2497362" w="7007903">
                <a:moveTo>
                  <a:pt x="0" y="0"/>
                </a:moveTo>
                <a:lnTo>
                  <a:pt x="7007903" y="0"/>
                </a:lnTo>
                <a:lnTo>
                  <a:pt x="7007903" y="2497362"/>
                </a:lnTo>
                <a:lnTo>
                  <a:pt x="0" y="24973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4" id="4"/>
          <p:cNvSpPr/>
          <p:nvPr/>
        </p:nvSpPr>
        <p:spPr>
          <a:xfrm>
            <a:off x="1028700" y="2150935"/>
            <a:ext cx="7552095" cy="0"/>
          </a:xfrm>
          <a:prstGeom prst="line">
            <a:avLst/>
          </a:prstGeom>
          <a:ln cap="rnd" w="95250">
            <a:solidFill>
              <a:srgbClr val="EFEFDA"/>
            </a:solidFill>
            <a:prstDash val="solid"/>
            <a:headEnd type="none" len="sm" w="sm"/>
            <a:tailEnd type="none" len="sm" w="sm"/>
          </a:ln>
        </p:spPr>
      </p:sp>
      <p:sp>
        <p:nvSpPr>
          <p:cNvPr name="TextBox 5" id="5"/>
          <p:cNvSpPr txBox="true"/>
          <p:nvPr/>
        </p:nvSpPr>
        <p:spPr>
          <a:xfrm rot="0">
            <a:off x="1028700" y="1186366"/>
            <a:ext cx="11203080" cy="877791"/>
          </a:xfrm>
          <a:prstGeom prst="rect">
            <a:avLst/>
          </a:prstGeom>
        </p:spPr>
        <p:txBody>
          <a:bodyPr anchor="t" rtlCol="false" tIns="0" lIns="0" bIns="0" rIns="0">
            <a:spAutoFit/>
          </a:bodyPr>
          <a:lstStyle/>
          <a:p>
            <a:pPr algn="l">
              <a:lnSpc>
                <a:spcPts val="6865"/>
              </a:lnSpc>
            </a:pPr>
            <a:r>
              <a:rPr lang="en-US" sz="5918" b="true">
                <a:solidFill>
                  <a:srgbClr val="EFEFDA"/>
                </a:solidFill>
                <a:latin typeface="Glacial Indifference Bold"/>
                <a:ea typeface="Glacial Indifference Bold"/>
                <a:cs typeface="Glacial Indifference Bold"/>
                <a:sym typeface="Glacial Indifference Bold"/>
              </a:rPr>
              <a:t>Các phát hiện nổi bật</a:t>
            </a:r>
          </a:p>
        </p:txBody>
      </p:sp>
      <p:sp>
        <p:nvSpPr>
          <p:cNvPr name="Freeform 6" id="6"/>
          <p:cNvSpPr/>
          <p:nvPr/>
        </p:nvSpPr>
        <p:spPr>
          <a:xfrm flipH="false" flipV="false" rot="0">
            <a:off x="8916641" y="2193974"/>
            <a:ext cx="8568559" cy="7064326"/>
          </a:xfrm>
          <a:custGeom>
            <a:avLst/>
            <a:gdLst/>
            <a:ahLst/>
            <a:cxnLst/>
            <a:rect r="r" b="b" t="t" l="l"/>
            <a:pathLst>
              <a:path h="7064326" w="8568559">
                <a:moveTo>
                  <a:pt x="0" y="0"/>
                </a:moveTo>
                <a:lnTo>
                  <a:pt x="8568559" y="0"/>
                </a:lnTo>
                <a:lnTo>
                  <a:pt x="8568559" y="7064326"/>
                </a:lnTo>
                <a:lnTo>
                  <a:pt x="0" y="7064326"/>
                </a:lnTo>
                <a:lnTo>
                  <a:pt x="0" y="0"/>
                </a:lnTo>
                <a:close/>
              </a:path>
            </a:pathLst>
          </a:custGeom>
          <a:blipFill>
            <a:blip r:embed="rId4"/>
            <a:stretch>
              <a:fillRect l="0" t="0" r="0" b="0"/>
            </a:stretch>
          </a:blipFill>
        </p:spPr>
      </p:sp>
      <p:sp>
        <p:nvSpPr>
          <p:cNvPr name="TextBox 7" id="7"/>
          <p:cNvSpPr txBox="true"/>
          <p:nvPr/>
        </p:nvSpPr>
        <p:spPr>
          <a:xfrm rot="0">
            <a:off x="1241612" y="3490189"/>
            <a:ext cx="7339184" cy="3243122"/>
          </a:xfrm>
          <a:prstGeom prst="rect">
            <a:avLst/>
          </a:prstGeom>
        </p:spPr>
        <p:txBody>
          <a:bodyPr anchor="t" rtlCol="false" tIns="0" lIns="0" bIns="0" rIns="0">
            <a:spAutoFit/>
          </a:bodyPr>
          <a:lstStyle/>
          <a:p>
            <a:pPr algn="l">
              <a:lnSpc>
                <a:spcPts val="5231"/>
              </a:lnSpc>
            </a:pPr>
            <a:r>
              <a:rPr lang="en-US" sz="3077" i="true" spc="233">
                <a:solidFill>
                  <a:srgbClr val="EFEFDA"/>
                </a:solidFill>
                <a:latin typeface="ABeeZee Bold Italics"/>
                <a:ea typeface="ABeeZee Bold Italics"/>
                <a:cs typeface="ABeeZee Bold Italics"/>
                <a:sym typeface="ABeeZee Bold Italics"/>
              </a:rPr>
              <a:t>Nghệ sĩ nổi bật</a:t>
            </a:r>
          </a:p>
          <a:p>
            <a:pPr algn="l" marL="664369" indent="-332184" lvl="1">
              <a:lnSpc>
                <a:spcPts val="5231"/>
              </a:lnSpc>
              <a:buFont typeface="Arial"/>
              <a:buChar char="•"/>
            </a:pPr>
            <a:r>
              <a:rPr lang="en-US" sz="3077" i="true" spc="233">
                <a:solidFill>
                  <a:srgbClr val="EFEFDA"/>
                </a:solidFill>
                <a:latin typeface="ABeeZee Bold Italics"/>
                <a:ea typeface="ABeeZee Bold Italics"/>
                <a:cs typeface="ABeeZee Bold Italics"/>
                <a:sym typeface="ABeeZee Bold Italics"/>
              </a:rPr>
              <a:t>BTS: 35,67 triệu lượt nghe</a:t>
            </a:r>
          </a:p>
          <a:p>
            <a:pPr algn="l" marL="664369" indent="-332184" lvl="1">
              <a:lnSpc>
                <a:spcPts val="5231"/>
              </a:lnSpc>
              <a:buFont typeface="Arial"/>
              <a:buChar char="•"/>
            </a:pPr>
            <a:r>
              <a:rPr lang="en-US" sz="3077" i="true" spc="233">
                <a:solidFill>
                  <a:srgbClr val="EFEFDA"/>
                </a:solidFill>
                <a:latin typeface="ABeeZee Bold Italics"/>
                <a:ea typeface="ABeeZee Bold Italics"/>
                <a:cs typeface="ABeeZee Bold Italics"/>
                <a:sym typeface="ABeeZee Bold Italics"/>
              </a:rPr>
              <a:t>Sơn Tùng M-TP: 27,18 triệu</a:t>
            </a:r>
          </a:p>
          <a:p>
            <a:pPr algn="l" marL="664369" indent="-332184" lvl="1">
              <a:lnSpc>
                <a:spcPts val="5231"/>
              </a:lnSpc>
              <a:buFont typeface="Arial"/>
              <a:buChar char="•"/>
            </a:pPr>
            <a:r>
              <a:rPr lang="en-US" sz="3077" i="true" spc="233">
                <a:solidFill>
                  <a:srgbClr val="EFEFDA"/>
                </a:solidFill>
                <a:latin typeface="ABeeZee Bold Italics"/>
                <a:ea typeface="ABeeZee Bold Italics"/>
                <a:cs typeface="ABeeZee Bold Italics"/>
                <a:sym typeface="ABeeZee Bold Italics"/>
              </a:rPr>
              <a:t>Jung Kook &amp; Latto: 27,09 triệu</a:t>
            </a:r>
          </a:p>
          <a:p>
            <a:pPr algn="l" marL="664369" indent="-332184" lvl="1">
              <a:lnSpc>
                <a:spcPts val="5231"/>
              </a:lnSpc>
              <a:buFont typeface="Arial"/>
              <a:buChar char="•"/>
            </a:pPr>
            <a:r>
              <a:rPr lang="en-US" sz="3077" i="true" spc="233">
                <a:solidFill>
                  <a:srgbClr val="EFEFDA"/>
                </a:solidFill>
                <a:latin typeface="ABeeZee Bold Italics"/>
                <a:ea typeface="ABeeZee Bold Italics"/>
                <a:cs typeface="ABeeZee Bold Italics"/>
                <a:sym typeface="ABeeZee Bold Italics"/>
              </a:rPr>
              <a:t>HIEUTHUHAI: 26,70 triệu</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E3653"/>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3953665" y="9038319"/>
            <a:ext cx="7007903" cy="2497362"/>
          </a:xfrm>
          <a:custGeom>
            <a:avLst/>
            <a:gdLst/>
            <a:ahLst/>
            <a:cxnLst/>
            <a:rect r="r" b="b" t="t" l="l"/>
            <a:pathLst>
              <a:path h="2497362" w="7007903">
                <a:moveTo>
                  <a:pt x="0" y="0"/>
                </a:moveTo>
                <a:lnTo>
                  <a:pt x="7007903" y="0"/>
                </a:lnTo>
                <a:lnTo>
                  <a:pt x="7007903" y="2497362"/>
                </a:lnTo>
                <a:lnTo>
                  <a:pt x="0" y="24973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5485902" y="-1248681"/>
            <a:ext cx="7007903" cy="2497362"/>
          </a:xfrm>
          <a:custGeom>
            <a:avLst/>
            <a:gdLst/>
            <a:ahLst/>
            <a:cxnLst/>
            <a:rect r="r" b="b" t="t" l="l"/>
            <a:pathLst>
              <a:path h="2497362" w="7007903">
                <a:moveTo>
                  <a:pt x="0" y="0"/>
                </a:moveTo>
                <a:lnTo>
                  <a:pt x="7007903" y="0"/>
                </a:lnTo>
                <a:lnTo>
                  <a:pt x="7007903" y="2497362"/>
                </a:lnTo>
                <a:lnTo>
                  <a:pt x="0" y="24973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4" id="4"/>
          <p:cNvSpPr/>
          <p:nvPr/>
        </p:nvSpPr>
        <p:spPr>
          <a:xfrm>
            <a:off x="1028700" y="2150935"/>
            <a:ext cx="7552095" cy="0"/>
          </a:xfrm>
          <a:prstGeom prst="line">
            <a:avLst/>
          </a:prstGeom>
          <a:ln cap="rnd" w="95250">
            <a:solidFill>
              <a:srgbClr val="EFEFDA"/>
            </a:solidFill>
            <a:prstDash val="solid"/>
            <a:headEnd type="none" len="sm" w="sm"/>
            <a:tailEnd type="none" len="sm" w="sm"/>
          </a:ln>
        </p:spPr>
      </p:sp>
      <p:sp>
        <p:nvSpPr>
          <p:cNvPr name="Freeform 5" id="5"/>
          <p:cNvSpPr/>
          <p:nvPr/>
        </p:nvSpPr>
        <p:spPr>
          <a:xfrm flipH="false" flipV="false" rot="0">
            <a:off x="10238647" y="2504647"/>
            <a:ext cx="7246552" cy="5922938"/>
          </a:xfrm>
          <a:custGeom>
            <a:avLst/>
            <a:gdLst/>
            <a:ahLst/>
            <a:cxnLst/>
            <a:rect r="r" b="b" t="t" l="l"/>
            <a:pathLst>
              <a:path h="5922938" w="7246552">
                <a:moveTo>
                  <a:pt x="0" y="0"/>
                </a:moveTo>
                <a:lnTo>
                  <a:pt x="7246553" y="0"/>
                </a:lnTo>
                <a:lnTo>
                  <a:pt x="7246553" y="5922937"/>
                </a:lnTo>
                <a:lnTo>
                  <a:pt x="0" y="5922937"/>
                </a:lnTo>
                <a:lnTo>
                  <a:pt x="0" y="0"/>
                </a:lnTo>
                <a:close/>
              </a:path>
            </a:pathLst>
          </a:custGeom>
          <a:blipFill>
            <a:blip r:embed="rId4"/>
            <a:stretch>
              <a:fillRect l="0" t="0" r="0" b="0"/>
            </a:stretch>
          </a:blipFill>
        </p:spPr>
      </p:sp>
      <p:sp>
        <p:nvSpPr>
          <p:cNvPr name="TextBox 6" id="6"/>
          <p:cNvSpPr txBox="true"/>
          <p:nvPr/>
        </p:nvSpPr>
        <p:spPr>
          <a:xfrm rot="0">
            <a:off x="1028700" y="1186366"/>
            <a:ext cx="11203080" cy="877791"/>
          </a:xfrm>
          <a:prstGeom prst="rect">
            <a:avLst/>
          </a:prstGeom>
        </p:spPr>
        <p:txBody>
          <a:bodyPr anchor="t" rtlCol="false" tIns="0" lIns="0" bIns="0" rIns="0">
            <a:spAutoFit/>
          </a:bodyPr>
          <a:lstStyle/>
          <a:p>
            <a:pPr algn="l">
              <a:lnSpc>
                <a:spcPts val="6865"/>
              </a:lnSpc>
            </a:pPr>
            <a:r>
              <a:rPr lang="en-US" sz="5918" b="true">
                <a:solidFill>
                  <a:srgbClr val="EFEFDA"/>
                </a:solidFill>
                <a:latin typeface="Glacial Indifference Bold"/>
                <a:ea typeface="Glacial Indifference Bold"/>
                <a:cs typeface="Glacial Indifference Bold"/>
                <a:sym typeface="Glacial Indifference Bold"/>
              </a:rPr>
              <a:t>Các phát hiện nổi bật</a:t>
            </a:r>
          </a:p>
        </p:txBody>
      </p:sp>
      <p:sp>
        <p:nvSpPr>
          <p:cNvPr name="TextBox 7" id="7"/>
          <p:cNvSpPr txBox="true"/>
          <p:nvPr/>
        </p:nvSpPr>
        <p:spPr>
          <a:xfrm rot="0">
            <a:off x="4149703" y="8562251"/>
            <a:ext cx="12733287" cy="1239697"/>
          </a:xfrm>
          <a:prstGeom prst="rect">
            <a:avLst/>
          </a:prstGeom>
        </p:spPr>
        <p:txBody>
          <a:bodyPr anchor="t" rtlCol="false" tIns="0" lIns="0" bIns="0" rIns="0">
            <a:spAutoFit/>
          </a:bodyPr>
          <a:lstStyle/>
          <a:p>
            <a:pPr algn="l" marL="642779" indent="-321390" lvl="1">
              <a:lnSpc>
                <a:spcPts val="5061"/>
              </a:lnSpc>
              <a:buFont typeface="Arial"/>
              <a:buChar char="•"/>
            </a:pPr>
            <a:r>
              <a:rPr lang="en-US" sz="2977" i="true" spc="226">
                <a:solidFill>
                  <a:srgbClr val="EFEFDA"/>
                </a:solidFill>
                <a:latin typeface="ABeeZee Bold Italics"/>
                <a:ea typeface="ABeeZee Bold Italics"/>
                <a:cs typeface="ABeeZee Bold Italics"/>
                <a:sym typeface="ABeeZee Bold Italics"/>
              </a:rPr>
              <a:t>“</a:t>
            </a:r>
            <a:r>
              <a:rPr lang="en-US" sz="2977" i="true" spc="226">
                <a:solidFill>
                  <a:srgbClr val="EFEFDA"/>
                </a:solidFill>
                <a:latin typeface="ABeeZee Bold Italics"/>
                <a:ea typeface="ABeeZee Bold Italics"/>
                <a:cs typeface="ABeeZee Bold Italics"/>
                <a:sym typeface="ABeeZee Bold Italics"/>
              </a:rPr>
              <a:t>That Should Be Me”: tăng mạnh nhất 140 bậc</a:t>
            </a:r>
          </a:p>
          <a:p>
            <a:pPr algn="l" marL="642779" indent="-321390" lvl="1">
              <a:lnSpc>
                <a:spcPts val="5061"/>
              </a:lnSpc>
              <a:buFont typeface="Arial"/>
              <a:buChar char="•"/>
            </a:pPr>
            <a:r>
              <a:rPr lang="en-US" sz="2977" i="true" spc="226">
                <a:solidFill>
                  <a:srgbClr val="EFEFDA"/>
                </a:solidFill>
                <a:latin typeface="ABeeZee Bold Italics"/>
                <a:ea typeface="ABeeZee Bold Italics"/>
                <a:cs typeface="ABeeZee Bold Italics"/>
                <a:sym typeface="ABeeZee Bold Italics"/>
              </a:rPr>
              <a:t>Một số bài giảm hạng mạnh đồng thời giảm lượt nghe.</a:t>
            </a:r>
          </a:p>
        </p:txBody>
      </p:sp>
      <p:sp>
        <p:nvSpPr>
          <p:cNvPr name="Freeform 8" id="8"/>
          <p:cNvSpPr/>
          <p:nvPr/>
        </p:nvSpPr>
        <p:spPr>
          <a:xfrm flipH="false" flipV="false" rot="0">
            <a:off x="1028700" y="2504647"/>
            <a:ext cx="6908499" cy="5922938"/>
          </a:xfrm>
          <a:custGeom>
            <a:avLst/>
            <a:gdLst/>
            <a:ahLst/>
            <a:cxnLst/>
            <a:rect r="r" b="b" t="t" l="l"/>
            <a:pathLst>
              <a:path h="5922938" w="6908499">
                <a:moveTo>
                  <a:pt x="0" y="0"/>
                </a:moveTo>
                <a:lnTo>
                  <a:pt x="6908499" y="0"/>
                </a:lnTo>
                <a:lnTo>
                  <a:pt x="6908499" y="5922937"/>
                </a:lnTo>
                <a:lnTo>
                  <a:pt x="0" y="5922937"/>
                </a:lnTo>
                <a:lnTo>
                  <a:pt x="0" y="0"/>
                </a:lnTo>
                <a:close/>
              </a:path>
            </a:pathLst>
          </a:custGeom>
          <a:blipFill>
            <a:blip r:embed="rId5"/>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E3653"/>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2881941" y="8009619"/>
            <a:ext cx="7007903" cy="2497362"/>
          </a:xfrm>
          <a:custGeom>
            <a:avLst/>
            <a:gdLst/>
            <a:ahLst/>
            <a:cxnLst/>
            <a:rect r="r" b="b" t="t" l="l"/>
            <a:pathLst>
              <a:path h="2497362" w="7007903">
                <a:moveTo>
                  <a:pt x="0" y="0"/>
                </a:moveTo>
                <a:lnTo>
                  <a:pt x="7007903" y="0"/>
                </a:lnTo>
                <a:lnTo>
                  <a:pt x="7007903" y="2497362"/>
                </a:lnTo>
                <a:lnTo>
                  <a:pt x="0" y="24973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5485902" y="-1248681"/>
            <a:ext cx="7007903" cy="2497362"/>
          </a:xfrm>
          <a:custGeom>
            <a:avLst/>
            <a:gdLst/>
            <a:ahLst/>
            <a:cxnLst/>
            <a:rect r="r" b="b" t="t" l="l"/>
            <a:pathLst>
              <a:path h="2497362" w="7007903">
                <a:moveTo>
                  <a:pt x="0" y="0"/>
                </a:moveTo>
                <a:lnTo>
                  <a:pt x="7007903" y="0"/>
                </a:lnTo>
                <a:lnTo>
                  <a:pt x="7007903" y="2497362"/>
                </a:lnTo>
                <a:lnTo>
                  <a:pt x="0" y="24973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4" id="4"/>
          <p:cNvSpPr/>
          <p:nvPr/>
        </p:nvSpPr>
        <p:spPr>
          <a:xfrm>
            <a:off x="1028700" y="2150935"/>
            <a:ext cx="7552095" cy="0"/>
          </a:xfrm>
          <a:prstGeom prst="line">
            <a:avLst/>
          </a:prstGeom>
          <a:ln cap="rnd" w="95250">
            <a:solidFill>
              <a:srgbClr val="EFEFDA"/>
            </a:solidFill>
            <a:prstDash val="solid"/>
            <a:headEnd type="none" len="sm" w="sm"/>
            <a:tailEnd type="none" len="sm" w="sm"/>
          </a:ln>
        </p:spPr>
      </p:sp>
      <p:sp>
        <p:nvSpPr>
          <p:cNvPr name="Freeform 5" id="5"/>
          <p:cNvSpPr/>
          <p:nvPr/>
        </p:nvSpPr>
        <p:spPr>
          <a:xfrm flipH="false" flipV="false" rot="0">
            <a:off x="9039372" y="2150935"/>
            <a:ext cx="8445827" cy="7270873"/>
          </a:xfrm>
          <a:custGeom>
            <a:avLst/>
            <a:gdLst/>
            <a:ahLst/>
            <a:cxnLst/>
            <a:rect r="r" b="b" t="t" l="l"/>
            <a:pathLst>
              <a:path h="7270873" w="8445827">
                <a:moveTo>
                  <a:pt x="0" y="0"/>
                </a:moveTo>
                <a:lnTo>
                  <a:pt x="8445828" y="0"/>
                </a:lnTo>
                <a:lnTo>
                  <a:pt x="8445828" y="7270873"/>
                </a:lnTo>
                <a:lnTo>
                  <a:pt x="0" y="7270873"/>
                </a:lnTo>
                <a:lnTo>
                  <a:pt x="0" y="0"/>
                </a:lnTo>
                <a:close/>
              </a:path>
            </a:pathLst>
          </a:custGeom>
          <a:blipFill>
            <a:blip r:embed="rId4"/>
            <a:stretch>
              <a:fillRect l="0" t="0" r="-3972" b="0"/>
            </a:stretch>
          </a:blipFill>
        </p:spPr>
      </p:sp>
      <p:sp>
        <p:nvSpPr>
          <p:cNvPr name="TextBox 6" id="6"/>
          <p:cNvSpPr txBox="true"/>
          <p:nvPr/>
        </p:nvSpPr>
        <p:spPr>
          <a:xfrm rot="0">
            <a:off x="1028700" y="1186366"/>
            <a:ext cx="11203080" cy="877791"/>
          </a:xfrm>
          <a:prstGeom prst="rect">
            <a:avLst/>
          </a:prstGeom>
        </p:spPr>
        <p:txBody>
          <a:bodyPr anchor="t" rtlCol="false" tIns="0" lIns="0" bIns="0" rIns="0">
            <a:spAutoFit/>
          </a:bodyPr>
          <a:lstStyle/>
          <a:p>
            <a:pPr algn="l">
              <a:lnSpc>
                <a:spcPts val="6865"/>
              </a:lnSpc>
            </a:pPr>
            <a:r>
              <a:rPr lang="en-US" sz="5918" b="true">
                <a:solidFill>
                  <a:srgbClr val="EFEFDA"/>
                </a:solidFill>
                <a:latin typeface="Glacial Indifference Bold"/>
                <a:ea typeface="Glacial Indifference Bold"/>
                <a:cs typeface="Glacial Indifference Bold"/>
                <a:sym typeface="Glacial Indifference Bold"/>
              </a:rPr>
              <a:t>Các phát hiện nổi bật</a:t>
            </a:r>
          </a:p>
        </p:txBody>
      </p:sp>
      <p:sp>
        <p:nvSpPr>
          <p:cNvPr name="TextBox 7" id="7"/>
          <p:cNvSpPr txBox="true"/>
          <p:nvPr/>
        </p:nvSpPr>
        <p:spPr>
          <a:xfrm rot="0">
            <a:off x="1241612" y="3992950"/>
            <a:ext cx="7339184" cy="2931973"/>
          </a:xfrm>
          <a:prstGeom prst="rect">
            <a:avLst/>
          </a:prstGeom>
        </p:spPr>
        <p:txBody>
          <a:bodyPr anchor="t" rtlCol="false" tIns="0" lIns="0" bIns="0" rIns="0">
            <a:spAutoFit/>
          </a:bodyPr>
          <a:lstStyle/>
          <a:p>
            <a:pPr algn="l">
              <a:lnSpc>
                <a:spcPts val="5911"/>
              </a:lnSpc>
            </a:pPr>
            <a:r>
              <a:rPr lang="en-US" sz="3477" i="true" spc="264">
                <a:solidFill>
                  <a:srgbClr val="EFEFDA"/>
                </a:solidFill>
                <a:latin typeface="ABeeZee Bold Italics"/>
                <a:ea typeface="ABeeZee Bold Italics"/>
                <a:cs typeface="ABeeZee Bold Italics"/>
                <a:sym typeface="ABeeZee Bold Italics"/>
              </a:rPr>
              <a:t>T</a:t>
            </a:r>
            <a:r>
              <a:rPr lang="en-US" sz="3477" i="true" spc="264">
                <a:solidFill>
                  <a:srgbClr val="EFEFDA"/>
                </a:solidFill>
                <a:latin typeface="ABeeZee Bold Italics"/>
                <a:ea typeface="ABeeZee Bold Italics"/>
                <a:cs typeface="ABeeZee Bold Italics"/>
                <a:sym typeface="ABeeZee Bold Italics"/>
              </a:rPr>
              <a:t>hể loại</a:t>
            </a:r>
          </a:p>
          <a:p>
            <a:pPr algn="l" marL="750726" indent="-375363" lvl="1">
              <a:lnSpc>
                <a:spcPts val="5911"/>
              </a:lnSpc>
              <a:buFont typeface="Arial"/>
              <a:buChar char="•"/>
            </a:pPr>
            <a:r>
              <a:rPr lang="en-US" sz="3477" i="true" spc="264">
                <a:solidFill>
                  <a:srgbClr val="EFEFDA"/>
                </a:solidFill>
                <a:latin typeface="ABeeZee Bold Italics"/>
                <a:ea typeface="ABeeZee Bold Italics"/>
                <a:cs typeface="ABeeZee Bold Italics"/>
                <a:sym typeface="ABeeZee Bold Italics"/>
              </a:rPr>
              <a:t>Pop</a:t>
            </a:r>
            <a:r>
              <a:rPr lang="en-US" sz="3477" i="true" spc="264">
                <a:solidFill>
                  <a:srgbClr val="EFEFDA"/>
                </a:solidFill>
                <a:latin typeface="ABeeZee Bold Italics"/>
                <a:ea typeface="ABeeZee Bold Italics"/>
                <a:cs typeface="ABeeZee Bold Italics"/>
                <a:sym typeface="ABeeZee Bold Italics"/>
              </a:rPr>
              <a:t>: 23,17%</a:t>
            </a:r>
          </a:p>
          <a:p>
            <a:pPr algn="l" marL="750726" indent="-375363" lvl="1">
              <a:lnSpc>
                <a:spcPts val="5911"/>
              </a:lnSpc>
              <a:buFont typeface="Arial"/>
              <a:buChar char="•"/>
            </a:pPr>
            <a:r>
              <a:rPr lang="en-US" sz="3477" i="true" spc="264">
                <a:solidFill>
                  <a:srgbClr val="EFEFDA"/>
                </a:solidFill>
                <a:latin typeface="ABeeZee Bold Italics"/>
                <a:ea typeface="ABeeZee Bold Italics"/>
                <a:cs typeface="ABeeZee Bold Italics"/>
                <a:sym typeface="ABeeZee Bold Italics"/>
              </a:rPr>
              <a:t>Ballad</a:t>
            </a:r>
            <a:r>
              <a:rPr lang="en-US" sz="3477" i="true" spc="264">
                <a:solidFill>
                  <a:srgbClr val="EFEFDA"/>
                </a:solidFill>
                <a:latin typeface="ABeeZee Bold Italics"/>
                <a:ea typeface="ABeeZee Bold Italics"/>
                <a:cs typeface="ABeeZee Bold Italics"/>
                <a:sym typeface="ABeeZee Bold Italics"/>
              </a:rPr>
              <a:t>: 21,35%</a:t>
            </a:r>
          </a:p>
          <a:p>
            <a:pPr algn="l" marL="750726" indent="-375363" lvl="1">
              <a:lnSpc>
                <a:spcPts val="5911"/>
              </a:lnSpc>
              <a:buFont typeface="Arial"/>
              <a:buChar char="•"/>
            </a:pPr>
            <a:r>
              <a:rPr lang="en-US" sz="3477" i="true" spc="264">
                <a:solidFill>
                  <a:srgbClr val="EFEFDA"/>
                </a:solidFill>
                <a:latin typeface="ABeeZee Bold Italics"/>
                <a:ea typeface="ABeeZee Bold Italics"/>
                <a:cs typeface="ABeeZee Bold Italics"/>
                <a:sym typeface="ABeeZee Bold Italics"/>
              </a:rPr>
              <a:t>R</a:t>
            </a:r>
            <a:r>
              <a:rPr lang="en-US" sz="3477" i="true" spc="264">
                <a:solidFill>
                  <a:srgbClr val="EFEFDA"/>
                </a:solidFill>
                <a:latin typeface="ABeeZee Bold Italics"/>
                <a:ea typeface="ABeeZee Bold Italics"/>
                <a:cs typeface="ABeeZee Bold Italics"/>
                <a:sym typeface="ABeeZee Bold Italics"/>
              </a:rPr>
              <a:t>ap/Hip-hop: 19,94%</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1E3653"/>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4198435" y="7769386"/>
            <a:ext cx="12479089" cy="4447094"/>
          </a:xfrm>
          <a:custGeom>
            <a:avLst/>
            <a:gdLst/>
            <a:ahLst/>
            <a:cxnLst/>
            <a:rect r="r" b="b" t="t" l="l"/>
            <a:pathLst>
              <a:path h="4447094" w="12479089">
                <a:moveTo>
                  <a:pt x="0" y="0"/>
                </a:moveTo>
                <a:lnTo>
                  <a:pt x="12479089" y="0"/>
                </a:lnTo>
                <a:lnTo>
                  <a:pt x="12479089" y="4447093"/>
                </a:lnTo>
                <a:lnTo>
                  <a:pt x="0" y="444709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980173" y="923241"/>
            <a:ext cx="8845357" cy="581881"/>
          </a:xfrm>
          <a:prstGeom prst="rect">
            <a:avLst/>
          </a:prstGeom>
        </p:spPr>
        <p:txBody>
          <a:bodyPr anchor="t" rtlCol="false" tIns="0" lIns="0" bIns="0" rIns="0">
            <a:spAutoFit/>
          </a:bodyPr>
          <a:lstStyle/>
          <a:p>
            <a:pPr algn="l">
              <a:lnSpc>
                <a:spcPts val="4545"/>
              </a:lnSpc>
            </a:pPr>
            <a:r>
              <a:rPr lang="en-US" sz="3918" b="true">
                <a:solidFill>
                  <a:srgbClr val="EFEFDA"/>
                </a:solidFill>
                <a:latin typeface="Glacial Indifference Bold"/>
                <a:ea typeface="Glacial Indifference Bold"/>
                <a:cs typeface="Glacial Indifference Bold"/>
                <a:sym typeface="Glacial Indifference Bold"/>
              </a:rPr>
              <a:t>XÂY DỰNG ĐIỂM TIỀM NĂNG</a:t>
            </a:r>
          </a:p>
        </p:txBody>
      </p:sp>
      <p:sp>
        <p:nvSpPr>
          <p:cNvPr name="AutoShape 4" id="4"/>
          <p:cNvSpPr/>
          <p:nvPr/>
        </p:nvSpPr>
        <p:spPr>
          <a:xfrm>
            <a:off x="1028818" y="1505122"/>
            <a:ext cx="6598483" cy="0"/>
          </a:xfrm>
          <a:prstGeom prst="line">
            <a:avLst/>
          </a:prstGeom>
          <a:ln cap="rnd" w="95250">
            <a:solidFill>
              <a:srgbClr val="EFEFDA"/>
            </a:solidFill>
            <a:prstDash val="solid"/>
            <a:headEnd type="none" len="sm" w="sm"/>
            <a:tailEnd type="none" len="sm" w="sm"/>
          </a:ln>
        </p:spPr>
      </p:sp>
      <p:sp>
        <p:nvSpPr>
          <p:cNvPr name="Freeform 5" id="5"/>
          <p:cNvSpPr/>
          <p:nvPr/>
        </p:nvSpPr>
        <p:spPr>
          <a:xfrm flipH="false" flipV="false" rot="0">
            <a:off x="7258036" y="2346686"/>
            <a:ext cx="10001264" cy="5593627"/>
          </a:xfrm>
          <a:custGeom>
            <a:avLst/>
            <a:gdLst/>
            <a:ahLst/>
            <a:cxnLst/>
            <a:rect r="r" b="b" t="t" l="l"/>
            <a:pathLst>
              <a:path h="5593627" w="10001264">
                <a:moveTo>
                  <a:pt x="0" y="0"/>
                </a:moveTo>
                <a:lnTo>
                  <a:pt x="10001264" y="0"/>
                </a:lnTo>
                <a:lnTo>
                  <a:pt x="10001264" y="5593628"/>
                </a:lnTo>
                <a:lnTo>
                  <a:pt x="0" y="5593628"/>
                </a:lnTo>
                <a:lnTo>
                  <a:pt x="0" y="0"/>
                </a:lnTo>
                <a:close/>
              </a:path>
            </a:pathLst>
          </a:custGeom>
          <a:blipFill>
            <a:blip r:embed="rId4"/>
            <a:stretch>
              <a:fillRect l="0" t="0" r="0" b="0"/>
            </a:stretch>
          </a:blipFill>
        </p:spPr>
      </p:sp>
      <p:sp>
        <p:nvSpPr>
          <p:cNvPr name="Freeform 6" id="6"/>
          <p:cNvSpPr/>
          <p:nvPr/>
        </p:nvSpPr>
        <p:spPr>
          <a:xfrm flipH="false" flipV="false" rot="0">
            <a:off x="536906" y="3544160"/>
            <a:ext cx="840046" cy="840046"/>
          </a:xfrm>
          <a:custGeom>
            <a:avLst/>
            <a:gdLst/>
            <a:ahLst/>
            <a:cxnLst/>
            <a:rect r="r" b="b" t="t" l="l"/>
            <a:pathLst>
              <a:path h="840046" w="840046">
                <a:moveTo>
                  <a:pt x="0" y="0"/>
                </a:moveTo>
                <a:lnTo>
                  <a:pt x="840047" y="0"/>
                </a:lnTo>
                <a:lnTo>
                  <a:pt x="840047" y="840046"/>
                </a:lnTo>
                <a:lnTo>
                  <a:pt x="0" y="840046"/>
                </a:lnTo>
                <a:lnTo>
                  <a:pt x="0" y="0"/>
                </a:lnTo>
                <a:close/>
              </a:path>
            </a:pathLst>
          </a:custGeom>
          <a:blipFill>
            <a:blip r:embed="rId5"/>
            <a:stretch>
              <a:fillRect l="0" t="0" r="0" b="0"/>
            </a:stretch>
          </a:blipFill>
        </p:spPr>
      </p:sp>
      <p:sp>
        <p:nvSpPr>
          <p:cNvPr name="Freeform 7" id="7"/>
          <p:cNvSpPr/>
          <p:nvPr/>
        </p:nvSpPr>
        <p:spPr>
          <a:xfrm flipH="false" flipV="false" rot="0">
            <a:off x="536906" y="4683911"/>
            <a:ext cx="840046" cy="840046"/>
          </a:xfrm>
          <a:custGeom>
            <a:avLst/>
            <a:gdLst/>
            <a:ahLst/>
            <a:cxnLst/>
            <a:rect r="r" b="b" t="t" l="l"/>
            <a:pathLst>
              <a:path h="840046" w="840046">
                <a:moveTo>
                  <a:pt x="0" y="0"/>
                </a:moveTo>
                <a:lnTo>
                  <a:pt x="840047" y="0"/>
                </a:lnTo>
                <a:lnTo>
                  <a:pt x="840047" y="840046"/>
                </a:lnTo>
                <a:lnTo>
                  <a:pt x="0" y="840046"/>
                </a:lnTo>
                <a:lnTo>
                  <a:pt x="0" y="0"/>
                </a:lnTo>
                <a:close/>
              </a:path>
            </a:pathLst>
          </a:custGeom>
          <a:blipFill>
            <a:blip r:embed="rId6"/>
            <a:stretch>
              <a:fillRect l="0" t="0" r="0" b="0"/>
            </a:stretch>
          </a:blipFill>
        </p:spPr>
      </p:sp>
      <p:sp>
        <p:nvSpPr>
          <p:cNvPr name="Freeform 8" id="8"/>
          <p:cNvSpPr/>
          <p:nvPr/>
        </p:nvSpPr>
        <p:spPr>
          <a:xfrm flipH="false" flipV="false" rot="0">
            <a:off x="430341" y="5817602"/>
            <a:ext cx="1053176" cy="1053176"/>
          </a:xfrm>
          <a:custGeom>
            <a:avLst/>
            <a:gdLst/>
            <a:ahLst/>
            <a:cxnLst/>
            <a:rect r="r" b="b" t="t" l="l"/>
            <a:pathLst>
              <a:path h="1053176" w="1053176">
                <a:moveTo>
                  <a:pt x="0" y="0"/>
                </a:moveTo>
                <a:lnTo>
                  <a:pt x="1053177" y="0"/>
                </a:lnTo>
                <a:lnTo>
                  <a:pt x="1053177" y="1053177"/>
                </a:lnTo>
                <a:lnTo>
                  <a:pt x="0" y="1053177"/>
                </a:lnTo>
                <a:lnTo>
                  <a:pt x="0" y="0"/>
                </a:lnTo>
                <a:close/>
              </a:path>
            </a:pathLst>
          </a:custGeom>
          <a:blipFill>
            <a:blip r:embed="rId7"/>
            <a:stretch>
              <a:fillRect l="0" t="0" r="0" b="0"/>
            </a:stretch>
          </a:blipFill>
        </p:spPr>
      </p:sp>
      <p:sp>
        <p:nvSpPr>
          <p:cNvPr name="Freeform 9" id="9"/>
          <p:cNvSpPr/>
          <p:nvPr/>
        </p:nvSpPr>
        <p:spPr>
          <a:xfrm flipH="false" flipV="false" rot="0">
            <a:off x="430341" y="6840650"/>
            <a:ext cx="1099663" cy="1099663"/>
          </a:xfrm>
          <a:custGeom>
            <a:avLst/>
            <a:gdLst/>
            <a:ahLst/>
            <a:cxnLst/>
            <a:rect r="r" b="b" t="t" l="l"/>
            <a:pathLst>
              <a:path h="1099663" w="1099663">
                <a:moveTo>
                  <a:pt x="0" y="0"/>
                </a:moveTo>
                <a:lnTo>
                  <a:pt x="1099664" y="0"/>
                </a:lnTo>
                <a:lnTo>
                  <a:pt x="1099664" y="1099664"/>
                </a:lnTo>
                <a:lnTo>
                  <a:pt x="0" y="1099664"/>
                </a:lnTo>
                <a:lnTo>
                  <a:pt x="0" y="0"/>
                </a:lnTo>
                <a:close/>
              </a:path>
            </a:pathLst>
          </a:custGeom>
          <a:blipFill>
            <a:blip r:embed="rId8"/>
            <a:stretch>
              <a:fillRect l="0" t="0" r="0" b="0"/>
            </a:stretch>
          </a:blipFill>
        </p:spPr>
      </p:sp>
      <p:sp>
        <p:nvSpPr>
          <p:cNvPr name="TextBox 10" id="10"/>
          <p:cNvSpPr txBox="true"/>
          <p:nvPr/>
        </p:nvSpPr>
        <p:spPr>
          <a:xfrm rot="0">
            <a:off x="1153051" y="1962322"/>
            <a:ext cx="5198644" cy="1134442"/>
          </a:xfrm>
          <a:prstGeom prst="rect">
            <a:avLst/>
          </a:prstGeom>
        </p:spPr>
        <p:txBody>
          <a:bodyPr anchor="t" rtlCol="false" tIns="0" lIns="0" bIns="0" rIns="0">
            <a:spAutoFit/>
          </a:bodyPr>
          <a:lstStyle/>
          <a:p>
            <a:pPr algn="l">
              <a:lnSpc>
                <a:spcPts val="4585"/>
              </a:lnSpc>
            </a:pPr>
            <a:r>
              <a:rPr lang="en-US" sz="3077" spc="233">
                <a:solidFill>
                  <a:srgbClr val="EFEFDA"/>
                </a:solidFill>
                <a:latin typeface="ABeeZee"/>
                <a:ea typeface="ABeeZee"/>
                <a:cs typeface="ABeeZee"/>
                <a:sym typeface="ABeeZee"/>
              </a:rPr>
              <a:t>Công thức chấm điểm trên thang 100:</a:t>
            </a:r>
          </a:p>
        </p:txBody>
      </p:sp>
      <p:sp>
        <p:nvSpPr>
          <p:cNvPr name="TextBox 11" id="11"/>
          <p:cNvSpPr txBox="true"/>
          <p:nvPr/>
        </p:nvSpPr>
        <p:spPr>
          <a:xfrm rot="0">
            <a:off x="1665335" y="3667663"/>
            <a:ext cx="5198644" cy="522682"/>
          </a:xfrm>
          <a:prstGeom prst="rect">
            <a:avLst/>
          </a:prstGeom>
        </p:spPr>
        <p:txBody>
          <a:bodyPr anchor="t" rtlCol="false" tIns="0" lIns="0" bIns="0" rIns="0">
            <a:spAutoFit/>
          </a:bodyPr>
          <a:lstStyle/>
          <a:p>
            <a:pPr algn="l">
              <a:lnSpc>
                <a:spcPts val="4287"/>
              </a:lnSpc>
            </a:pPr>
            <a:r>
              <a:rPr lang="en-US" sz="2877" spc="218">
                <a:solidFill>
                  <a:srgbClr val="EFEFDA"/>
                </a:solidFill>
                <a:latin typeface="ABeeZee Bold"/>
                <a:ea typeface="ABeeZee Bold"/>
                <a:cs typeface="ABeeZee Bold"/>
                <a:sym typeface="ABeeZee Bold"/>
              </a:rPr>
              <a:t>40%</a:t>
            </a:r>
            <a:r>
              <a:rPr lang="en-US" sz="2877" spc="218">
                <a:solidFill>
                  <a:srgbClr val="EFEFDA"/>
                </a:solidFill>
                <a:latin typeface="ABeeZee"/>
                <a:ea typeface="ABeeZee"/>
                <a:cs typeface="ABeeZee"/>
                <a:sym typeface="ABeeZee"/>
              </a:rPr>
              <a:t> - Lượt nghe hiện tại</a:t>
            </a:r>
          </a:p>
        </p:txBody>
      </p:sp>
      <p:sp>
        <p:nvSpPr>
          <p:cNvPr name="TextBox 12" id="12"/>
          <p:cNvSpPr txBox="true"/>
          <p:nvPr/>
        </p:nvSpPr>
        <p:spPr>
          <a:xfrm rot="0">
            <a:off x="1665335" y="4857667"/>
            <a:ext cx="5198644" cy="522682"/>
          </a:xfrm>
          <a:prstGeom prst="rect">
            <a:avLst/>
          </a:prstGeom>
        </p:spPr>
        <p:txBody>
          <a:bodyPr anchor="t" rtlCol="false" tIns="0" lIns="0" bIns="0" rIns="0">
            <a:spAutoFit/>
          </a:bodyPr>
          <a:lstStyle/>
          <a:p>
            <a:pPr algn="l">
              <a:lnSpc>
                <a:spcPts val="4287"/>
              </a:lnSpc>
            </a:pPr>
            <a:r>
              <a:rPr lang="en-US" sz="2877" spc="218">
                <a:solidFill>
                  <a:srgbClr val="EFEFDA"/>
                </a:solidFill>
                <a:latin typeface="ABeeZee Bold"/>
                <a:ea typeface="ABeeZee Bold"/>
                <a:cs typeface="ABeeZee Bold"/>
                <a:sym typeface="ABeeZee Bold"/>
              </a:rPr>
              <a:t>30% - </a:t>
            </a:r>
            <a:r>
              <a:rPr lang="en-US" sz="2877" spc="218">
                <a:solidFill>
                  <a:srgbClr val="EFEFDA"/>
                </a:solidFill>
                <a:latin typeface="ABeeZee"/>
                <a:ea typeface="ABeeZee"/>
                <a:cs typeface="ABeeZee"/>
                <a:sym typeface="ABeeZee"/>
              </a:rPr>
              <a:t>Mức tăng hạng</a:t>
            </a:r>
          </a:p>
        </p:txBody>
      </p:sp>
      <p:sp>
        <p:nvSpPr>
          <p:cNvPr name="TextBox 13" id="13"/>
          <p:cNvSpPr txBox="true"/>
          <p:nvPr/>
        </p:nvSpPr>
        <p:spPr>
          <a:xfrm rot="0">
            <a:off x="1665335" y="6047670"/>
            <a:ext cx="5198644" cy="522682"/>
          </a:xfrm>
          <a:prstGeom prst="rect">
            <a:avLst/>
          </a:prstGeom>
        </p:spPr>
        <p:txBody>
          <a:bodyPr anchor="t" rtlCol="false" tIns="0" lIns="0" bIns="0" rIns="0">
            <a:spAutoFit/>
          </a:bodyPr>
          <a:lstStyle/>
          <a:p>
            <a:pPr algn="l">
              <a:lnSpc>
                <a:spcPts val="4287"/>
              </a:lnSpc>
            </a:pPr>
            <a:r>
              <a:rPr lang="en-US" sz="2877" spc="218">
                <a:solidFill>
                  <a:srgbClr val="EFEFDA"/>
                </a:solidFill>
                <a:latin typeface="ABeeZee Bold"/>
                <a:ea typeface="ABeeZee Bold"/>
                <a:cs typeface="ABeeZee Bold"/>
                <a:sym typeface="ABeeZee Bold"/>
              </a:rPr>
              <a:t>20% - </a:t>
            </a:r>
            <a:r>
              <a:rPr lang="en-US" sz="2877" spc="218">
                <a:solidFill>
                  <a:srgbClr val="EFEFDA"/>
                </a:solidFill>
                <a:latin typeface="ABeeZee"/>
                <a:ea typeface="ABeeZee"/>
                <a:cs typeface="ABeeZee"/>
                <a:sym typeface="ABeeZee"/>
              </a:rPr>
              <a:t>Thứ hạng hiện tại</a:t>
            </a:r>
          </a:p>
        </p:txBody>
      </p:sp>
      <p:sp>
        <p:nvSpPr>
          <p:cNvPr name="TextBox 14" id="14"/>
          <p:cNvSpPr txBox="true"/>
          <p:nvPr/>
        </p:nvSpPr>
        <p:spPr>
          <a:xfrm rot="0">
            <a:off x="1665335" y="7240786"/>
            <a:ext cx="5198644" cy="522682"/>
          </a:xfrm>
          <a:prstGeom prst="rect">
            <a:avLst/>
          </a:prstGeom>
        </p:spPr>
        <p:txBody>
          <a:bodyPr anchor="t" rtlCol="false" tIns="0" lIns="0" bIns="0" rIns="0">
            <a:spAutoFit/>
          </a:bodyPr>
          <a:lstStyle/>
          <a:p>
            <a:pPr algn="l">
              <a:lnSpc>
                <a:spcPts val="4287"/>
              </a:lnSpc>
            </a:pPr>
            <a:r>
              <a:rPr lang="en-US" sz="2877" spc="218">
                <a:solidFill>
                  <a:srgbClr val="EFEFDA"/>
                </a:solidFill>
                <a:latin typeface="ABeeZee Bold"/>
                <a:ea typeface="ABeeZee Bold"/>
                <a:cs typeface="ABeeZee Bold"/>
                <a:sym typeface="ABeeZee Bold"/>
              </a:rPr>
              <a:t>10% - </a:t>
            </a:r>
            <a:r>
              <a:rPr lang="en-US" sz="2877" spc="218">
                <a:solidFill>
                  <a:srgbClr val="EFEFDA"/>
                </a:solidFill>
                <a:latin typeface="ABeeZee"/>
                <a:ea typeface="ABeeZee"/>
                <a:cs typeface="ABeeZee"/>
                <a:sym typeface="ABeeZee"/>
              </a:rPr>
              <a:t>Độ mới trên BXH</a:t>
            </a:r>
          </a:p>
        </p:txBody>
      </p:sp>
      <p:sp>
        <p:nvSpPr>
          <p:cNvPr name="TextBox 15" id="15"/>
          <p:cNvSpPr txBox="true"/>
          <p:nvPr/>
        </p:nvSpPr>
        <p:spPr>
          <a:xfrm rot="0">
            <a:off x="7491925" y="8431002"/>
            <a:ext cx="9767375" cy="522682"/>
          </a:xfrm>
          <a:prstGeom prst="rect">
            <a:avLst/>
          </a:prstGeom>
        </p:spPr>
        <p:txBody>
          <a:bodyPr anchor="t" rtlCol="false" tIns="0" lIns="0" bIns="0" rIns="0">
            <a:spAutoFit/>
          </a:bodyPr>
          <a:lstStyle/>
          <a:p>
            <a:pPr algn="l">
              <a:lnSpc>
                <a:spcPts val="4287"/>
              </a:lnSpc>
            </a:pPr>
            <a:r>
              <a:rPr lang="en-US" sz="2877" spc="218">
                <a:solidFill>
                  <a:srgbClr val="EFEFDA"/>
                </a:solidFill>
                <a:latin typeface="ABeeZee Bold"/>
                <a:ea typeface="ABeeZee Bold"/>
                <a:cs typeface="ABeeZee Bold"/>
                <a:sym typeface="ABeeZee Bold"/>
              </a:rPr>
              <a:t>Điểm tiềm năng hỗ trợ sàng lọc bài hát nổi bật</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E3653"/>
        </a:solidFill>
      </p:bgPr>
    </p:bg>
    <p:spTree>
      <p:nvGrpSpPr>
        <p:cNvPr id="1" name=""/>
        <p:cNvGrpSpPr/>
        <p:nvPr/>
      </p:nvGrpSpPr>
      <p:grpSpPr>
        <a:xfrm>
          <a:off x="0" y="0"/>
          <a:ext cx="0" cy="0"/>
          <a:chOff x="0" y="0"/>
          <a:chExt cx="0" cy="0"/>
        </a:xfrm>
      </p:grpSpPr>
      <p:sp>
        <p:nvSpPr>
          <p:cNvPr name="TextBox 2" id="2"/>
          <p:cNvSpPr txBox="true"/>
          <p:nvPr/>
        </p:nvSpPr>
        <p:spPr>
          <a:xfrm rot="0">
            <a:off x="1701312" y="987842"/>
            <a:ext cx="6955402" cy="601947"/>
          </a:xfrm>
          <a:prstGeom prst="rect">
            <a:avLst/>
          </a:prstGeom>
        </p:spPr>
        <p:txBody>
          <a:bodyPr anchor="t" rtlCol="false" tIns="0" lIns="0" bIns="0" rIns="0">
            <a:spAutoFit/>
          </a:bodyPr>
          <a:lstStyle/>
          <a:p>
            <a:pPr algn="l">
              <a:lnSpc>
                <a:spcPts val="4777"/>
              </a:lnSpc>
            </a:pPr>
            <a:r>
              <a:rPr lang="en-US" sz="4118" b="true">
                <a:solidFill>
                  <a:srgbClr val="EFEFDA"/>
                </a:solidFill>
                <a:latin typeface="Glacial Indifference Bold"/>
                <a:ea typeface="Glacial Indifference Bold"/>
                <a:cs typeface="Glacial Indifference Bold"/>
                <a:sym typeface="Glacial Indifference Bold"/>
              </a:rPr>
              <a:t>Kiểm chứng điểm tiềm năng</a:t>
            </a:r>
          </a:p>
        </p:txBody>
      </p:sp>
      <p:sp>
        <p:nvSpPr>
          <p:cNvPr name="AutoShape 3" id="3"/>
          <p:cNvSpPr/>
          <p:nvPr/>
        </p:nvSpPr>
        <p:spPr>
          <a:xfrm>
            <a:off x="1701312" y="1579756"/>
            <a:ext cx="6769295" cy="10033"/>
          </a:xfrm>
          <a:prstGeom prst="line">
            <a:avLst/>
          </a:prstGeom>
          <a:ln cap="rnd" w="95250">
            <a:solidFill>
              <a:srgbClr val="EFEFDA"/>
            </a:solidFill>
            <a:prstDash val="solid"/>
            <a:headEnd type="none" len="sm" w="sm"/>
            <a:tailEnd type="none" len="sm" w="sm"/>
          </a:ln>
        </p:spPr>
      </p:sp>
      <p:grpSp>
        <p:nvGrpSpPr>
          <p:cNvPr name="Group 4" id="4"/>
          <p:cNvGrpSpPr/>
          <p:nvPr/>
        </p:nvGrpSpPr>
        <p:grpSpPr>
          <a:xfrm rot="0">
            <a:off x="772287" y="4830528"/>
            <a:ext cx="3933765" cy="3834769"/>
            <a:chOff x="0" y="0"/>
            <a:chExt cx="1036053" cy="1009980"/>
          </a:xfrm>
        </p:grpSpPr>
        <p:sp>
          <p:nvSpPr>
            <p:cNvPr name="Freeform 5" id="5"/>
            <p:cNvSpPr/>
            <p:nvPr/>
          </p:nvSpPr>
          <p:spPr>
            <a:xfrm flipH="false" flipV="false" rot="0">
              <a:off x="0" y="0"/>
              <a:ext cx="1036053" cy="1009980"/>
            </a:xfrm>
            <a:custGeom>
              <a:avLst/>
              <a:gdLst/>
              <a:ahLst/>
              <a:cxnLst/>
              <a:rect r="r" b="b" t="t" l="l"/>
              <a:pathLst>
                <a:path h="1009980" w="1036053">
                  <a:moveTo>
                    <a:pt x="196807" y="0"/>
                  </a:moveTo>
                  <a:lnTo>
                    <a:pt x="839246" y="0"/>
                  </a:lnTo>
                  <a:cubicBezTo>
                    <a:pt x="947940" y="0"/>
                    <a:pt x="1036053" y="88113"/>
                    <a:pt x="1036053" y="196807"/>
                  </a:cubicBezTo>
                  <a:lnTo>
                    <a:pt x="1036053" y="813174"/>
                  </a:lnTo>
                  <a:cubicBezTo>
                    <a:pt x="1036053" y="865370"/>
                    <a:pt x="1015318" y="915429"/>
                    <a:pt x="978410" y="952337"/>
                  </a:cubicBezTo>
                  <a:cubicBezTo>
                    <a:pt x="941501" y="989245"/>
                    <a:pt x="891443" y="1009980"/>
                    <a:pt x="839246" y="1009980"/>
                  </a:cubicBezTo>
                  <a:lnTo>
                    <a:pt x="196807" y="1009980"/>
                  </a:lnTo>
                  <a:cubicBezTo>
                    <a:pt x="88113" y="1009980"/>
                    <a:pt x="0" y="921867"/>
                    <a:pt x="0" y="813174"/>
                  </a:cubicBezTo>
                  <a:lnTo>
                    <a:pt x="0" y="196807"/>
                  </a:lnTo>
                  <a:cubicBezTo>
                    <a:pt x="0" y="88113"/>
                    <a:pt x="88113" y="0"/>
                    <a:pt x="196807" y="0"/>
                  </a:cubicBezTo>
                  <a:close/>
                </a:path>
              </a:pathLst>
            </a:custGeom>
            <a:solidFill>
              <a:srgbClr val="2F5972"/>
            </a:solidFill>
          </p:spPr>
        </p:sp>
        <p:sp>
          <p:nvSpPr>
            <p:cNvPr name="TextBox 6" id="6"/>
            <p:cNvSpPr txBox="true"/>
            <p:nvPr/>
          </p:nvSpPr>
          <p:spPr>
            <a:xfrm>
              <a:off x="0" y="-38100"/>
              <a:ext cx="1036053" cy="1048080"/>
            </a:xfrm>
            <a:prstGeom prst="rect">
              <a:avLst/>
            </a:prstGeom>
          </p:spPr>
          <p:txBody>
            <a:bodyPr anchor="ctr" rtlCol="false" tIns="50800" lIns="50800" bIns="50800" rIns="50800"/>
            <a:lstStyle/>
            <a:p>
              <a:pPr algn="ctr">
                <a:lnSpc>
                  <a:spcPts val="2659"/>
                </a:lnSpc>
              </a:pPr>
            </a:p>
          </p:txBody>
        </p:sp>
      </p:grpSp>
      <p:sp>
        <p:nvSpPr>
          <p:cNvPr name="AutoShape 7" id="7"/>
          <p:cNvSpPr/>
          <p:nvPr/>
        </p:nvSpPr>
        <p:spPr>
          <a:xfrm flipV="true">
            <a:off x="1447978" y="5578603"/>
            <a:ext cx="2582384" cy="0"/>
          </a:xfrm>
          <a:prstGeom prst="line">
            <a:avLst/>
          </a:prstGeom>
          <a:ln cap="rnd" w="95250">
            <a:solidFill>
              <a:srgbClr val="EFEFDA"/>
            </a:solidFill>
            <a:prstDash val="solid"/>
            <a:headEnd type="none" len="sm" w="sm"/>
            <a:tailEnd type="none" len="sm" w="sm"/>
          </a:ln>
        </p:spPr>
      </p:sp>
      <p:grpSp>
        <p:nvGrpSpPr>
          <p:cNvPr name="Group 8" id="8"/>
          <p:cNvGrpSpPr/>
          <p:nvPr/>
        </p:nvGrpSpPr>
        <p:grpSpPr>
          <a:xfrm rot="0">
            <a:off x="5085960" y="4830528"/>
            <a:ext cx="3933765" cy="3834769"/>
            <a:chOff x="0" y="0"/>
            <a:chExt cx="1036053" cy="1009980"/>
          </a:xfrm>
        </p:grpSpPr>
        <p:sp>
          <p:nvSpPr>
            <p:cNvPr name="Freeform 9" id="9"/>
            <p:cNvSpPr/>
            <p:nvPr/>
          </p:nvSpPr>
          <p:spPr>
            <a:xfrm flipH="false" flipV="false" rot="0">
              <a:off x="0" y="0"/>
              <a:ext cx="1036053" cy="1009980"/>
            </a:xfrm>
            <a:custGeom>
              <a:avLst/>
              <a:gdLst/>
              <a:ahLst/>
              <a:cxnLst/>
              <a:rect r="r" b="b" t="t" l="l"/>
              <a:pathLst>
                <a:path h="1009980" w="1036053">
                  <a:moveTo>
                    <a:pt x="196807" y="0"/>
                  </a:moveTo>
                  <a:lnTo>
                    <a:pt x="839246" y="0"/>
                  </a:lnTo>
                  <a:cubicBezTo>
                    <a:pt x="947940" y="0"/>
                    <a:pt x="1036053" y="88113"/>
                    <a:pt x="1036053" y="196807"/>
                  </a:cubicBezTo>
                  <a:lnTo>
                    <a:pt x="1036053" y="813174"/>
                  </a:lnTo>
                  <a:cubicBezTo>
                    <a:pt x="1036053" y="865370"/>
                    <a:pt x="1015318" y="915429"/>
                    <a:pt x="978410" y="952337"/>
                  </a:cubicBezTo>
                  <a:cubicBezTo>
                    <a:pt x="941501" y="989245"/>
                    <a:pt x="891443" y="1009980"/>
                    <a:pt x="839246" y="1009980"/>
                  </a:cubicBezTo>
                  <a:lnTo>
                    <a:pt x="196807" y="1009980"/>
                  </a:lnTo>
                  <a:cubicBezTo>
                    <a:pt x="88113" y="1009980"/>
                    <a:pt x="0" y="921867"/>
                    <a:pt x="0" y="813174"/>
                  </a:cubicBezTo>
                  <a:lnTo>
                    <a:pt x="0" y="196807"/>
                  </a:lnTo>
                  <a:cubicBezTo>
                    <a:pt x="0" y="88113"/>
                    <a:pt x="88113" y="0"/>
                    <a:pt x="196807" y="0"/>
                  </a:cubicBezTo>
                  <a:close/>
                </a:path>
              </a:pathLst>
            </a:custGeom>
            <a:solidFill>
              <a:srgbClr val="2F5972"/>
            </a:solidFill>
          </p:spPr>
        </p:sp>
        <p:sp>
          <p:nvSpPr>
            <p:cNvPr name="TextBox 10" id="10"/>
            <p:cNvSpPr txBox="true"/>
            <p:nvPr/>
          </p:nvSpPr>
          <p:spPr>
            <a:xfrm>
              <a:off x="0" y="-38100"/>
              <a:ext cx="1036053" cy="1048080"/>
            </a:xfrm>
            <a:prstGeom prst="rect">
              <a:avLst/>
            </a:prstGeom>
          </p:spPr>
          <p:txBody>
            <a:bodyPr anchor="ctr" rtlCol="false" tIns="50800" lIns="50800" bIns="50800" rIns="50800"/>
            <a:lstStyle/>
            <a:p>
              <a:pPr algn="ctr">
                <a:lnSpc>
                  <a:spcPts val="2659"/>
                </a:lnSpc>
              </a:pPr>
            </a:p>
          </p:txBody>
        </p:sp>
      </p:grpSp>
      <p:sp>
        <p:nvSpPr>
          <p:cNvPr name="AutoShape 11" id="11"/>
          <p:cNvSpPr/>
          <p:nvPr/>
        </p:nvSpPr>
        <p:spPr>
          <a:xfrm flipV="true">
            <a:off x="5772064" y="5626228"/>
            <a:ext cx="2582384" cy="0"/>
          </a:xfrm>
          <a:prstGeom prst="line">
            <a:avLst/>
          </a:prstGeom>
          <a:ln cap="rnd" w="95250">
            <a:solidFill>
              <a:srgbClr val="EFEFDA"/>
            </a:solidFill>
            <a:prstDash val="solid"/>
            <a:headEnd type="none" len="sm" w="sm"/>
            <a:tailEnd type="none" len="sm" w="sm"/>
          </a:ln>
        </p:spPr>
      </p:sp>
      <p:grpSp>
        <p:nvGrpSpPr>
          <p:cNvPr name="Group 12" id="12"/>
          <p:cNvGrpSpPr/>
          <p:nvPr/>
        </p:nvGrpSpPr>
        <p:grpSpPr>
          <a:xfrm rot="0">
            <a:off x="11028364" y="1757091"/>
            <a:ext cx="5344520" cy="781996"/>
            <a:chOff x="0" y="0"/>
            <a:chExt cx="1407610" cy="205958"/>
          </a:xfrm>
        </p:grpSpPr>
        <p:sp>
          <p:nvSpPr>
            <p:cNvPr name="Freeform 13" id="13"/>
            <p:cNvSpPr/>
            <p:nvPr/>
          </p:nvSpPr>
          <p:spPr>
            <a:xfrm flipH="false" flipV="false" rot="0">
              <a:off x="0" y="0"/>
              <a:ext cx="1407610" cy="205958"/>
            </a:xfrm>
            <a:custGeom>
              <a:avLst/>
              <a:gdLst/>
              <a:ahLst/>
              <a:cxnLst/>
              <a:rect r="r" b="b" t="t" l="l"/>
              <a:pathLst>
                <a:path h="205958" w="1407610">
                  <a:moveTo>
                    <a:pt x="102979" y="0"/>
                  </a:moveTo>
                  <a:lnTo>
                    <a:pt x="1304631" y="0"/>
                  </a:lnTo>
                  <a:cubicBezTo>
                    <a:pt x="1331943" y="0"/>
                    <a:pt x="1358136" y="10850"/>
                    <a:pt x="1377448" y="30162"/>
                  </a:cubicBezTo>
                  <a:cubicBezTo>
                    <a:pt x="1396761" y="49474"/>
                    <a:pt x="1407610" y="75667"/>
                    <a:pt x="1407610" y="102979"/>
                  </a:cubicBezTo>
                  <a:lnTo>
                    <a:pt x="1407610" y="102979"/>
                  </a:lnTo>
                  <a:cubicBezTo>
                    <a:pt x="1407610" y="130291"/>
                    <a:pt x="1396761" y="156484"/>
                    <a:pt x="1377448" y="175796"/>
                  </a:cubicBezTo>
                  <a:cubicBezTo>
                    <a:pt x="1358136" y="195108"/>
                    <a:pt x="1331943" y="205958"/>
                    <a:pt x="1304631" y="205958"/>
                  </a:cubicBezTo>
                  <a:lnTo>
                    <a:pt x="102979" y="205958"/>
                  </a:lnTo>
                  <a:cubicBezTo>
                    <a:pt x="75667" y="205958"/>
                    <a:pt x="49474" y="195108"/>
                    <a:pt x="30162" y="175796"/>
                  </a:cubicBezTo>
                  <a:cubicBezTo>
                    <a:pt x="10850" y="156484"/>
                    <a:pt x="0" y="130291"/>
                    <a:pt x="0" y="102979"/>
                  </a:cubicBezTo>
                  <a:lnTo>
                    <a:pt x="0" y="102979"/>
                  </a:lnTo>
                  <a:cubicBezTo>
                    <a:pt x="0" y="75667"/>
                    <a:pt x="10850" y="49474"/>
                    <a:pt x="30162" y="30162"/>
                  </a:cubicBezTo>
                  <a:cubicBezTo>
                    <a:pt x="49474" y="10850"/>
                    <a:pt x="75667" y="0"/>
                    <a:pt x="102979" y="0"/>
                  </a:cubicBezTo>
                  <a:close/>
                </a:path>
              </a:pathLst>
            </a:custGeom>
            <a:solidFill>
              <a:srgbClr val="1E3653"/>
            </a:solidFill>
          </p:spPr>
        </p:sp>
        <p:sp>
          <p:nvSpPr>
            <p:cNvPr name="TextBox 14" id="14"/>
            <p:cNvSpPr txBox="true"/>
            <p:nvPr/>
          </p:nvSpPr>
          <p:spPr>
            <a:xfrm>
              <a:off x="0" y="-38100"/>
              <a:ext cx="1407610" cy="244058"/>
            </a:xfrm>
            <a:prstGeom prst="rect">
              <a:avLst/>
            </a:prstGeom>
          </p:spPr>
          <p:txBody>
            <a:bodyPr anchor="ctr" rtlCol="false" tIns="50800" lIns="50800" bIns="50800" rIns="50800"/>
            <a:lstStyle/>
            <a:p>
              <a:pPr algn="ctr">
                <a:lnSpc>
                  <a:spcPts val="2659"/>
                </a:lnSpc>
              </a:pPr>
            </a:p>
            <a:p>
              <a:pPr algn="ctr">
                <a:lnSpc>
                  <a:spcPts val="2659"/>
                </a:lnSpc>
              </a:pPr>
            </a:p>
          </p:txBody>
        </p:sp>
      </p:grpSp>
      <p:sp>
        <p:nvSpPr>
          <p:cNvPr name="TextBox 15" id="15"/>
          <p:cNvSpPr txBox="true"/>
          <p:nvPr/>
        </p:nvSpPr>
        <p:spPr>
          <a:xfrm rot="0">
            <a:off x="1057656" y="1927165"/>
            <a:ext cx="7962068" cy="2795110"/>
          </a:xfrm>
          <a:prstGeom prst="rect">
            <a:avLst/>
          </a:prstGeom>
        </p:spPr>
        <p:txBody>
          <a:bodyPr anchor="t" rtlCol="false" tIns="0" lIns="0" bIns="0" rIns="0">
            <a:spAutoFit/>
          </a:bodyPr>
          <a:lstStyle/>
          <a:p>
            <a:pPr algn="just">
              <a:lnSpc>
                <a:spcPts val="4450"/>
              </a:lnSpc>
            </a:pPr>
            <a:r>
              <a:rPr lang="en-US" sz="2987" spc="227">
                <a:solidFill>
                  <a:srgbClr val="EFEFDA"/>
                </a:solidFill>
                <a:latin typeface="ABeeZee"/>
                <a:ea typeface="ABeeZee"/>
                <a:cs typeface="ABeeZee"/>
                <a:sym typeface="ABeeZee"/>
              </a:rPr>
              <a:t>Kiểm chứng hiệu quả của điểm tiềm năng bằng cách áp dụng công thức trên các tuần đã có dữ liệu và đối chiếu Top 10 bài hát với tuần liền sau.</a:t>
            </a:r>
          </a:p>
        </p:txBody>
      </p:sp>
      <p:sp>
        <p:nvSpPr>
          <p:cNvPr name="TextBox 16" id="16"/>
          <p:cNvSpPr txBox="true"/>
          <p:nvPr/>
        </p:nvSpPr>
        <p:spPr>
          <a:xfrm rot="0">
            <a:off x="1712813" y="4826271"/>
            <a:ext cx="2052714" cy="704708"/>
          </a:xfrm>
          <a:prstGeom prst="rect">
            <a:avLst/>
          </a:prstGeom>
        </p:spPr>
        <p:txBody>
          <a:bodyPr anchor="t" rtlCol="false" tIns="0" lIns="0" bIns="0" rIns="0">
            <a:spAutoFit/>
          </a:bodyPr>
          <a:lstStyle/>
          <a:p>
            <a:pPr algn="l">
              <a:lnSpc>
                <a:spcPts val="5785"/>
              </a:lnSpc>
            </a:pPr>
            <a:r>
              <a:rPr lang="en-US" sz="3883" spc="295">
                <a:solidFill>
                  <a:srgbClr val="88958F"/>
                </a:solidFill>
                <a:latin typeface="ABeeZee Bold"/>
                <a:ea typeface="ABeeZee Bold"/>
                <a:cs typeface="ABeeZee Bold"/>
                <a:sym typeface="ABeeZee Bold"/>
              </a:rPr>
              <a:t>97,27%</a:t>
            </a:r>
          </a:p>
        </p:txBody>
      </p:sp>
      <p:sp>
        <p:nvSpPr>
          <p:cNvPr name="TextBox 17" id="17"/>
          <p:cNvSpPr txBox="true"/>
          <p:nvPr/>
        </p:nvSpPr>
        <p:spPr>
          <a:xfrm rot="0">
            <a:off x="1250553" y="5712637"/>
            <a:ext cx="2977234" cy="2703543"/>
          </a:xfrm>
          <a:prstGeom prst="rect">
            <a:avLst/>
          </a:prstGeom>
        </p:spPr>
        <p:txBody>
          <a:bodyPr anchor="t" rtlCol="false" tIns="0" lIns="0" bIns="0" rIns="0">
            <a:spAutoFit/>
          </a:bodyPr>
          <a:lstStyle/>
          <a:p>
            <a:pPr algn="just">
              <a:lnSpc>
                <a:spcPts val="4301"/>
              </a:lnSpc>
            </a:pPr>
            <a:r>
              <a:rPr lang="en-US" sz="2887" spc="219">
                <a:solidFill>
                  <a:srgbClr val="EFEFDA"/>
                </a:solidFill>
                <a:latin typeface="ABeeZee"/>
                <a:ea typeface="ABeeZee"/>
                <a:cs typeface="ABeeZee"/>
                <a:sym typeface="ABeeZee"/>
              </a:rPr>
              <a:t>Top 10 điểm tiềm năng vẫn còn trong Top 200 tuần kế tiếp</a:t>
            </a:r>
          </a:p>
        </p:txBody>
      </p:sp>
      <p:sp>
        <p:nvSpPr>
          <p:cNvPr name="TextBox 18" id="18"/>
          <p:cNvSpPr txBox="true"/>
          <p:nvPr/>
        </p:nvSpPr>
        <p:spPr>
          <a:xfrm rot="0">
            <a:off x="5984412" y="4826271"/>
            <a:ext cx="2359622" cy="704708"/>
          </a:xfrm>
          <a:prstGeom prst="rect">
            <a:avLst/>
          </a:prstGeom>
        </p:spPr>
        <p:txBody>
          <a:bodyPr anchor="t" rtlCol="false" tIns="0" lIns="0" bIns="0" rIns="0">
            <a:spAutoFit/>
          </a:bodyPr>
          <a:lstStyle/>
          <a:p>
            <a:pPr algn="l">
              <a:lnSpc>
                <a:spcPts val="5785"/>
              </a:lnSpc>
            </a:pPr>
            <a:r>
              <a:rPr lang="en-US" sz="3883" spc="295">
                <a:solidFill>
                  <a:srgbClr val="88958F"/>
                </a:solidFill>
                <a:latin typeface="ABeeZee Bold"/>
                <a:ea typeface="ABeeZee Bold"/>
                <a:cs typeface="ABeeZee Bold"/>
                <a:sym typeface="ABeeZee Bold"/>
              </a:rPr>
              <a:t>34,55%</a:t>
            </a:r>
          </a:p>
        </p:txBody>
      </p:sp>
      <p:sp>
        <p:nvSpPr>
          <p:cNvPr name="TextBox 19" id="19"/>
          <p:cNvSpPr txBox="true"/>
          <p:nvPr/>
        </p:nvSpPr>
        <p:spPr>
          <a:xfrm rot="0">
            <a:off x="5564225" y="5712637"/>
            <a:ext cx="2977234" cy="2160618"/>
          </a:xfrm>
          <a:prstGeom prst="rect">
            <a:avLst/>
          </a:prstGeom>
        </p:spPr>
        <p:txBody>
          <a:bodyPr anchor="t" rtlCol="false" tIns="0" lIns="0" bIns="0" rIns="0">
            <a:spAutoFit/>
          </a:bodyPr>
          <a:lstStyle/>
          <a:p>
            <a:pPr algn="just">
              <a:lnSpc>
                <a:spcPts val="4301"/>
              </a:lnSpc>
            </a:pPr>
            <a:r>
              <a:rPr lang="en-US" sz="2887" spc="219">
                <a:solidFill>
                  <a:srgbClr val="EFEFDA"/>
                </a:solidFill>
                <a:latin typeface="ABeeZee"/>
                <a:ea typeface="ABeeZee"/>
                <a:cs typeface="ABeeZee"/>
                <a:sym typeface="ABeeZee"/>
              </a:rPr>
              <a:t>Top 10 điểm tiềm năng có lượt nghe ở tuần kế tiếp</a:t>
            </a:r>
          </a:p>
        </p:txBody>
      </p:sp>
      <p:grpSp>
        <p:nvGrpSpPr>
          <p:cNvPr name="Group 20" id="20"/>
          <p:cNvGrpSpPr/>
          <p:nvPr/>
        </p:nvGrpSpPr>
        <p:grpSpPr>
          <a:xfrm rot="0">
            <a:off x="10086524" y="2000549"/>
            <a:ext cx="6999284" cy="6664748"/>
            <a:chOff x="0" y="0"/>
            <a:chExt cx="1843433" cy="1755325"/>
          </a:xfrm>
        </p:grpSpPr>
        <p:sp>
          <p:nvSpPr>
            <p:cNvPr name="Freeform 21" id="21"/>
            <p:cNvSpPr/>
            <p:nvPr/>
          </p:nvSpPr>
          <p:spPr>
            <a:xfrm flipH="false" flipV="false" rot="0">
              <a:off x="0" y="0"/>
              <a:ext cx="1843433" cy="1755325"/>
            </a:xfrm>
            <a:custGeom>
              <a:avLst/>
              <a:gdLst/>
              <a:ahLst/>
              <a:cxnLst/>
              <a:rect r="r" b="b" t="t" l="l"/>
              <a:pathLst>
                <a:path h="1755325" w="1843433">
                  <a:moveTo>
                    <a:pt x="110610" y="0"/>
                  </a:moveTo>
                  <a:lnTo>
                    <a:pt x="1732823" y="0"/>
                  </a:lnTo>
                  <a:cubicBezTo>
                    <a:pt x="1793911" y="0"/>
                    <a:pt x="1843433" y="49522"/>
                    <a:pt x="1843433" y="110610"/>
                  </a:cubicBezTo>
                  <a:lnTo>
                    <a:pt x="1843433" y="1644715"/>
                  </a:lnTo>
                  <a:cubicBezTo>
                    <a:pt x="1843433" y="1705803"/>
                    <a:pt x="1793911" y="1755325"/>
                    <a:pt x="1732823" y="1755325"/>
                  </a:cubicBezTo>
                  <a:lnTo>
                    <a:pt x="110610" y="1755325"/>
                  </a:lnTo>
                  <a:cubicBezTo>
                    <a:pt x="49522" y="1755325"/>
                    <a:pt x="0" y="1705803"/>
                    <a:pt x="0" y="1644715"/>
                  </a:cubicBezTo>
                  <a:lnTo>
                    <a:pt x="0" y="110610"/>
                  </a:lnTo>
                  <a:cubicBezTo>
                    <a:pt x="0" y="49522"/>
                    <a:pt x="49522" y="0"/>
                    <a:pt x="110610" y="0"/>
                  </a:cubicBezTo>
                  <a:close/>
                </a:path>
              </a:pathLst>
            </a:custGeom>
            <a:solidFill>
              <a:srgbClr val="2F5972"/>
            </a:solidFill>
          </p:spPr>
        </p:sp>
        <p:sp>
          <p:nvSpPr>
            <p:cNvPr name="TextBox 22" id="22"/>
            <p:cNvSpPr txBox="true"/>
            <p:nvPr/>
          </p:nvSpPr>
          <p:spPr>
            <a:xfrm>
              <a:off x="0" y="-38100"/>
              <a:ext cx="1843433" cy="1793425"/>
            </a:xfrm>
            <a:prstGeom prst="rect">
              <a:avLst/>
            </a:prstGeom>
          </p:spPr>
          <p:txBody>
            <a:bodyPr anchor="ctr" rtlCol="false" tIns="50800" lIns="50800" bIns="50800" rIns="50800"/>
            <a:lstStyle/>
            <a:p>
              <a:pPr algn="ctr">
                <a:lnSpc>
                  <a:spcPts val="2659"/>
                </a:lnSpc>
              </a:pPr>
            </a:p>
          </p:txBody>
        </p:sp>
      </p:grpSp>
      <p:sp>
        <p:nvSpPr>
          <p:cNvPr name="TextBox 23" id="23"/>
          <p:cNvSpPr txBox="true"/>
          <p:nvPr/>
        </p:nvSpPr>
        <p:spPr>
          <a:xfrm rot="0">
            <a:off x="11956566" y="2084485"/>
            <a:ext cx="3639423" cy="547337"/>
          </a:xfrm>
          <a:prstGeom prst="rect">
            <a:avLst/>
          </a:prstGeom>
        </p:spPr>
        <p:txBody>
          <a:bodyPr anchor="t" rtlCol="false" tIns="0" lIns="0" bIns="0" rIns="0">
            <a:spAutoFit/>
          </a:bodyPr>
          <a:lstStyle/>
          <a:p>
            <a:pPr algn="l">
              <a:lnSpc>
                <a:spcPts val="4445"/>
              </a:lnSpc>
            </a:pPr>
            <a:r>
              <a:rPr lang="en-US" sz="2983" spc="226">
                <a:solidFill>
                  <a:srgbClr val="EFEFDA"/>
                </a:solidFill>
                <a:latin typeface="ABeeZee Bold"/>
                <a:ea typeface="ABeeZee Bold"/>
                <a:cs typeface="ABeeZee Bold"/>
                <a:sym typeface="ABeeZee Bold"/>
              </a:rPr>
              <a:t>CẦN ĐÁNH GIÁ</a:t>
            </a:r>
          </a:p>
        </p:txBody>
      </p:sp>
      <p:sp>
        <p:nvSpPr>
          <p:cNvPr name="AutoShape 24" id="24"/>
          <p:cNvSpPr/>
          <p:nvPr/>
        </p:nvSpPr>
        <p:spPr>
          <a:xfrm>
            <a:off x="11431606" y="2755648"/>
            <a:ext cx="4379644" cy="0"/>
          </a:xfrm>
          <a:prstGeom prst="line">
            <a:avLst/>
          </a:prstGeom>
          <a:ln cap="rnd" w="95250">
            <a:solidFill>
              <a:srgbClr val="EFEFDA"/>
            </a:solidFill>
            <a:prstDash val="solid"/>
            <a:headEnd type="none" len="sm" w="sm"/>
            <a:tailEnd type="none" len="sm" w="sm"/>
          </a:ln>
        </p:spPr>
      </p:sp>
      <p:sp>
        <p:nvSpPr>
          <p:cNvPr name="TextBox 25" id="25"/>
          <p:cNvSpPr txBox="true"/>
          <p:nvPr/>
        </p:nvSpPr>
        <p:spPr>
          <a:xfrm rot="0">
            <a:off x="10485206" y="2813023"/>
            <a:ext cx="2942720" cy="547210"/>
          </a:xfrm>
          <a:prstGeom prst="rect">
            <a:avLst/>
          </a:prstGeom>
        </p:spPr>
        <p:txBody>
          <a:bodyPr anchor="t" rtlCol="false" tIns="0" lIns="0" bIns="0" rIns="0">
            <a:spAutoFit/>
          </a:bodyPr>
          <a:lstStyle/>
          <a:p>
            <a:pPr algn="l" marL="644917" indent="-322458" lvl="1">
              <a:lnSpc>
                <a:spcPts val="4450"/>
              </a:lnSpc>
              <a:buFont typeface="Arial"/>
              <a:buChar char="•"/>
            </a:pPr>
            <a:r>
              <a:rPr lang="en-US" sz="2987" spc="227">
                <a:solidFill>
                  <a:srgbClr val="88958F"/>
                </a:solidFill>
                <a:latin typeface="ABeeZee Bold"/>
                <a:ea typeface="ABeeZee Bold"/>
                <a:cs typeface="ABeeZee Bold"/>
                <a:sym typeface="ABeeZee Bold"/>
              </a:rPr>
              <a:t>Đ</a:t>
            </a:r>
            <a:r>
              <a:rPr lang="en-US" sz="2987" spc="227">
                <a:solidFill>
                  <a:srgbClr val="88958F"/>
                </a:solidFill>
                <a:latin typeface="ABeeZee Bold"/>
                <a:ea typeface="ABeeZee Bold"/>
                <a:cs typeface="ABeeZee Bold"/>
                <a:sym typeface="ABeeZee Bold"/>
              </a:rPr>
              <a:t>ối tượng:</a:t>
            </a:r>
          </a:p>
        </p:txBody>
      </p:sp>
      <p:sp>
        <p:nvSpPr>
          <p:cNvPr name="TextBox 26" id="26"/>
          <p:cNvSpPr txBox="true"/>
          <p:nvPr/>
        </p:nvSpPr>
        <p:spPr>
          <a:xfrm rot="0">
            <a:off x="10639063" y="3350708"/>
            <a:ext cx="5964731" cy="1554701"/>
          </a:xfrm>
          <a:prstGeom prst="rect">
            <a:avLst/>
          </a:prstGeom>
        </p:spPr>
        <p:txBody>
          <a:bodyPr anchor="t" rtlCol="false" tIns="0" lIns="0" bIns="0" rIns="0">
            <a:spAutoFit/>
          </a:bodyPr>
          <a:lstStyle/>
          <a:p>
            <a:pPr algn="just">
              <a:lnSpc>
                <a:spcPts val="4152"/>
              </a:lnSpc>
            </a:pPr>
            <a:r>
              <a:rPr lang="en-US" sz="2787" spc="211">
                <a:solidFill>
                  <a:srgbClr val="EFEFDA"/>
                </a:solidFill>
                <a:latin typeface="ABeeZee"/>
                <a:ea typeface="ABeeZee"/>
                <a:cs typeface="ABeeZee"/>
                <a:sym typeface="ABeeZee"/>
              </a:rPr>
              <a:t>Top 10 bài hát có điểm tiềm năng cao ở mỗi tuần kiểm chứng.</a:t>
            </a:r>
          </a:p>
        </p:txBody>
      </p:sp>
      <p:sp>
        <p:nvSpPr>
          <p:cNvPr name="TextBox 27" id="27"/>
          <p:cNvSpPr txBox="true"/>
          <p:nvPr/>
        </p:nvSpPr>
        <p:spPr>
          <a:xfrm rot="0">
            <a:off x="10485206" y="5053697"/>
            <a:ext cx="4839316" cy="547210"/>
          </a:xfrm>
          <a:prstGeom prst="rect">
            <a:avLst/>
          </a:prstGeom>
        </p:spPr>
        <p:txBody>
          <a:bodyPr anchor="t" rtlCol="false" tIns="0" lIns="0" bIns="0" rIns="0">
            <a:spAutoFit/>
          </a:bodyPr>
          <a:lstStyle/>
          <a:p>
            <a:pPr algn="l" marL="644917" indent="-322458" lvl="1">
              <a:lnSpc>
                <a:spcPts val="4450"/>
              </a:lnSpc>
              <a:buFont typeface="Arial"/>
              <a:buChar char="•"/>
            </a:pPr>
            <a:r>
              <a:rPr lang="en-US" sz="2987" spc="227">
                <a:solidFill>
                  <a:srgbClr val="88958F"/>
                </a:solidFill>
                <a:latin typeface="ABeeZee Bold"/>
                <a:ea typeface="ABeeZee Bold"/>
                <a:cs typeface="ABeeZee Bold"/>
                <a:sym typeface="ABeeZee Bold"/>
              </a:rPr>
              <a:t>Thời gian so sánh:</a:t>
            </a:r>
          </a:p>
        </p:txBody>
      </p:sp>
      <p:sp>
        <p:nvSpPr>
          <p:cNvPr name="TextBox 28" id="28"/>
          <p:cNvSpPr txBox="true"/>
          <p:nvPr/>
        </p:nvSpPr>
        <p:spPr>
          <a:xfrm rot="0">
            <a:off x="10642584" y="5705682"/>
            <a:ext cx="5067160" cy="506951"/>
          </a:xfrm>
          <a:prstGeom prst="rect">
            <a:avLst/>
          </a:prstGeom>
        </p:spPr>
        <p:txBody>
          <a:bodyPr anchor="t" rtlCol="false" tIns="0" lIns="0" bIns="0" rIns="0">
            <a:spAutoFit/>
          </a:bodyPr>
          <a:lstStyle/>
          <a:p>
            <a:pPr algn="just">
              <a:lnSpc>
                <a:spcPts val="4152"/>
              </a:lnSpc>
            </a:pPr>
            <a:r>
              <a:rPr lang="en-US" sz="2787" spc="211">
                <a:solidFill>
                  <a:srgbClr val="EFEFDA"/>
                </a:solidFill>
                <a:latin typeface="ABeeZee"/>
                <a:ea typeface="ABeeZee"/>
                <a:cs typeface="ABeeZee"/>
                <a:sym typeface="ABeeZee"/>
              </a:rPr>
              <a:t>So sánh với tuần liền sau</a:t>
            </a:r>
          </a:p>
        </p:txBody>
      </p:sp>
      <p:sp>
        <p:nvSpPr>
          <p:cNvPr name="TextBox 29" id="29"/>
          <p:cNvSpPr txBox="true"/>
          <p:nvPr/>
        </p:nvSpPr>
        <p:spPr>
          <a:xfrm rot="0">
            <a:off x="10485206" y="6376327"/>
            <a:ext cx="4797877" cy="547210"/>
          </a:xfrm>
          <a:prstGeom prst="rect">
            <a:avLst/>
          </a:prstGeom>
        </p:spPr>
        <p:txBody>
          <a:bodyPr anchor="t" rtlCol="false" tIns="0" lIns="0" bIns="0" rIns="0">
            <a:spAutoFit/>
          </a:bodyPr>
          <a:lstStyle/>
          <a:p>
            <a:pPr algn="l" marL="644917" indent="-322458" lvl="1">
              <a:lnSpc>
                <a:spcPts val="4450"/>
              </a:lnSpc>
              <a:buFont typeface="Arial"/>
              <a:buChar char="•"/>
            </a:pPr>
            <a:r>
              <a:rPr lang="en-US" sz="2987" spc="227">
                <a:solidFill>
                  <a:srgbClr val="88958F"/>
                </a:solidFill>
                <a:latin typeface="ABeeZee Bold"/>
                <a:ea typeface="ABeeZee Bold"/>
                <a:cs typeface="ABeeZee Bold"/>
                <a:sym typeface="ABeeZee Bold"/>
              </a:rPr>
              <a:t>Tiêu chí đánh giá</a:t>
            </a:r>
          </a:p>
        </p:txBody>
      </p:sp>
      <p:sp>
        <p:nvSpPr>
          <p:cNvPr name="TextBox 30" id="30"/>
          <p:cNvSpPr txBox="true"/>
          <p:nvPr/>
        </p:nvSpPr>
        <p:spPr>
          <a:xfrm rot="0">
            <a:off x="10662460" y="7026308"/>
            <a:ext cx="5733822" cy="1030826"/>
          </a:xfrm>
          <a:prstGeom prst="rect">
            <a:avLst/>
          </a:prstGeom>
        </p:spPr>
        <p:txBody>
          <a:bodyPr anchor="t" rtlCol="false" tIns="0" lIns="0" bIns="0" rIns="0">
            <a:spAutoFit/>
          </a:bodyPr>
          <a:lstStyle/>
          <a:p>
            <a:pPr algn="just">
              <a:lnSpc>
                <a:spcPts val="4152"/>
              </a:lnSpc>
            </a:pPr>
            <a:r>
              <a:rPr lang="en-US" sz="2787" spc="211">
                <a:solidFill>
                  <a:srgbClr val="EFEFDA"/>
                </a:solidFill>
                <a:latin typeface="ABeeZee"/>
                <a:ea typeface="ABeeZee"/>
                <a:cs typeface="ABeeZee"/>
                <a:sym typeface="ABeeZee"/>
              </a:rPr>
              <a:t>Còn trong Top 200 tuần sau</a:t>
            </a:r>
          </a:p>
          <a:p>
            <a:pPr algn="just">
              <a:lnSpc>
                <a:spcPts val="4152"/>
              </a:lnSpc>
            </a:pPr>
            <a:r>
              <a:rPr lang="en-US" sz="2787" spc="211">
                <a:solidFill>
                  <a:srgbClr val="EFEFDA"/>
                </a:solidFill>
                <a:latin typeface="ABeeZee"/>
                <a:ea typeface="ABeeZee"/>
                <a:cs typeface="ABeeZee"/>
                <a:sym typeface="ABeeZee"/>
              </a:rPr>
              <a:t>Có tăng lượt nghe ở tuần sau</a:t>
            </a:r>
          </a:p>
        </p:txBody>
      </p:sp>
      <p:sp>
        <p:nvSpPr>
          <p:cNvPr name="TextBox 31" id="31"/>
          <p:cNvSpPr txBox="true"/>
          <p:nvPr/>
        </p:nvSpPr>
        <p:spPr>
          <a:xfrm rot="0">
            <a:off x="1028700" y="8965890"/>
            <a:ext cx="4289076" cy="531843"/>
          </a:xfrm>
          <a:prstGeom prst="rect">
            <a:avLst/>
          </a:prstGeom>
        </p:spPr>
        <p:txBody>
          <a:bodyPr anchor="t" rtlCol="false" tIns="0" lIns="0" bIns="0" rIns="0">
            <a:spAutoFit/>
          </a:bodyPr>
          <a:lstStyle/>
          <a:p>
            <a:pPr algn="l" marL="623327" indent="-311664" lvl="1">
              <a:lnSpc>
                <a:spcPts val="4301"/>
              </a:lnSpc>
              <a:buFont typeface="Arial"/>
              <a:buChar char="•"/>
            </a:pPr>
            <a:r>
              <a:rPr lang="en-US" sz="2887" spc="219">
                <a:solidFill>
                  <a:srgbClr val="88958F"/>
                </a:solidFill>
                <a:latin typeface="ABeeZee Bold"/>
                <a:ea typeface="ABeeZee Bold"/>
                <a:cs typeface="ABeeZee Bold"/>
                <a:sym typeface="ABeeZee Bold"/>
              </a:rPr>
              <a:t>Kết luận:</a:t>
            </a:r>
          </a:p>
        </p:txBody>
      </p:sp>
      <p:sp>
        <p:nvSpPr>
          <p:cNvPr name="TextBox 32" id="32"/>
          <p:cNvSpPr txBox="true"/>
          <p:nvPr/>
        </p:nvSpPr>
        <p:spPr>
          <a:xfrm rot="0">
            <a:off x="4019402" y="8975415"/>
            <a:ext cx="11164085" cy="1030826"/>
          </a:xfrm>
          <a:prstGeom prst="rect">
            <a:avLst/>
          </a:prstGeom>
        </p:spPr>
        <p:txBody>
          <a:bodyPr anchor="t" rtlCol="false" tIns="0" lIns="0" bIns="0" rIns="0">
            <a:spAutoFit/>
          </a:bodyPr>
          <a:lstStyle/>
          <a:p>
            <a:pPr algn="l">
              <a:lnSpc>
                <a:spcPts val="4152"/>
              </a:lnSpc>
            </a:pPr>
            <a:r>
              <a:rPr lang="en-US" sz="2787" spc="211">
                <a:solidFill>
                  <a:srgbClr val="EFEFDA"/>
                </a:solidFill>
                <a:latin typeface="ABeeZee"/>
                <a:ea typeface="ABeeZee"/>
                <a:cs typeface="ABeeZee"/>
                <a:sym typeface="ABeeZee"/>
              </a:rPr>
              <a:t>Điểm tiềm năng hữu ích trong sàng lọc khả năng duy trì Top 200, nhưng chưa đủ để dự đoán tăng lượt nghe.</a:t>
            </a:r>
          </a:p>
        </p:txBody>
      </p:sp>
      <p:sp>
        <p:nvSpPr>
          <p:cNvPr name="Freeform 33" id="33"/>
          <p:cNvSpPr/>
          <p:nvPr/>
        </p:nvSpPr>
        <p:spPr>
          <a:xfrm flipH="false" flipV="false" rot="0">
            <a:off x="15564488" y="8036073"/>
            <a:ext cx="2570650" cy="2444454"/>
          </a:xfrm>
          <a:custGeom>
            <a:avLst/>
            <a:gdLst/>
            <a:ahLst/>
            <a:cxnLst/>
            <a:rect r="r" b="b" t="t" l="l"/>
            <a:pathLst>
              <a:path h="2444454" w="2570650">
                <a:moveTo>
                  <a:pt x="0" y="0"/>
                </a:moveTo>
                <a:lnTo>
                  <a:pt x="2570650" y="0"/>
                </a:lnTo>
                <a:lnTo>
                  <a:pt x="2570650" y="2444454"/>
                </a:lnTo>
                <a:lnTo>
                  <a:pt x="0" y="24444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1E3653"/>
        </a:solidFill>
      </p:bgPr>
    </p:bg>
    <p:spTree>
      <p:nvGrpSpPr>
        <p:cNvPr id="1" name=""/>
        <p:cNvGrpSpPr/>
        <p:nvPr/>
      </p:nvGrpSpPr>
      <p:grpSpPr>
        <a:xfrm>
          <a:off x="0" y="0"/>
          <a:ext cx="0" cy="0"/>
          <a:chOff x="0" y="0"/>
          <a:chExt cx="0" cy="0"/>
        </a:xfrm>
      </p:grpSpPr>
      <p:sp>
        <p:nvSpPr>
          <p:cNvPr name="Freeform 2" id="2"/>
          <p:cNvSpPr/>
          <p:nvPr/>
        </p:nvSpPr>
        <p:spPr>
          <a:xfrm flipH="false" flipV="false" rot="7601827">
            <a:off x="4279107" y="-7834113"/>
            <a:ext cx="33976466" cy="12107977"/>
          </a:xfrm>
          <a:custGeom>
            <a:avLst/>
            <a:gdLst/>
            <a:ahLst/>
            <a:cxnLst/>
            <a:rect r="r" b="b" t="t" l="l"/>
            <a:pathLst>
              <a:path h="12107977" w="33976466">
                <a:moveTo>
                  <a:pt x="0" y="0"/>
                </a:moveTo>
                <a:lnTo>
                  <a:pt x="33976466" y="0"/>
                </a:lnTo>
                <a:lnTo>
                  <a:pt x="33976466" y="12107977"/>
                </a:lnTo>
                <a:lnTo>
                  <a:pt x="0" y="121079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a:off x="1028700" y="2198560"/>
            <a:ext cx="9541825" cy="0"/>
          </a:xfrm>
          <a:prstGeom prst="line">
            <a:avLst/>
          </a:prstGeom>
          <a:ln cap="rnd" w="95250">
            <a:solidFill>
              <a:srgbClr val="EFEFDA"/>
            </a:solidFill>
            <a:prstDash val="solid"/>
            <a:headEnd type="none" len="sm" w="sm"/>
            <a:tailEnd type="none" len="sm" w="sm"/>
          </a:ln>
        </p:spPr>
      </p:sp>
      <p:sp>
        <p:nvSpPr>
          <p:cNvPr name="Freeform 4" id="4"/>
          <p:cNvSpPr/>
          <p:nvPr/>
        </p:nvSpPr>
        <p:spPr>
          <a:xfrm flipH="true" flipV="false" rot="0">
            <a:off x="15567457" y="406745"/>
            <a:ext cx="1917743" cy="2024489"/>
          </a:xfrm>
          <a:custGeom>
            <a:avLst/>
            <a:gdLst/>
            <a:ahLst/>
            <a:cxnLst/>
            <a:rect r="r" b="b" t="t" l="l"/>
            <a:pathLst>
              <a:path h="2024489" w="1917743">
                <a:moveTo>
                  <a:pt x="1917743" y="0"/>
                </a:moveTo>
                <a:lnTo>
                  <a:pt x="0" y="0"/>
                </a:lnTo>
                <a:lnTo>
                  <a:pt x="0" y="2024489"/>
                </a:lnTo>
                <a:lnTo>
                  <a:pt x="1917743" y="2024489"/>
                </a:lnTo>
                <a:lnTo>
                  <a:pt x="1917743"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12710954" y="5667415"/>
            <a:ext cx="5713006" cy="826949"/>
          </a:xfrm>
          <a:prstGeom prst="rect">
            <a:avLst/>
          </a:prstGeom>
        </p:spPr>
        <p:txBody>
          <a:bodyPr anchor="t" rtlCol="false" tIns="0" lIns="0" bIns="0" rIns="0">
            <a:spAutoFit/>
          </a:bodyPr>
          <a:lstStyle/>
          <a:p>
            <a:pPr algn="l">
              <a:lnSpc>
                <a:spcPts val="6931"/>
              </a:lnSpc>
            </a:pPr>
            <a:r>
              <a:rPr lang="en-US" sz="4077" spc="309">
                <a:solidFill>
                  <a:srgbClr val="323B60"/>
                </a:solidFill>
                <a:latin typeface="ABeeZee Bold"/>
                <a:ea typeface="ABeeZee Bold"/>
                <a:cs typeface="ABeeZee Bold"/>
                <a:sym typeface="ABeeZee Bold"/>
              </a:rPr>
              <a:t>Time Split</a:t>
            </a:r>
          </a:p>
        </p:txBody>
      </p:sp>
      <p:sp>
        <p:nvSpPr>
          <p:cNvPr name="TextBox 6" id="6"/>
          <p:cNvSpPr txBox="true"/>
          <p:nvPr/>
        </p:nvSpPr>
        <p:spPr>
          <a:xfrm rot="0">
            <a:off x="10391269" y="7339308"/>
            <a:ext cx="5713006" cy="826949"/>
          </a:xfrm>
          <a:prstGeom prst="rect">
            <a:avLst/>
          </a:prstGeom>
        </p:spPr>
        <p:txBody>
          <a:bodyPr anchor="t" rtlCol="false" tIns="0" lIns="0" bIns="0" rIns="0">
            <a:spAutoFit/>
          </a:bodyPr>
          <a:lstStyle/>
          <a:p>
            <a:pPr algn="l">
              <a:lnSpc>
                <a:spcPts val="6931"/>
              </a:lnSpc>
            </a:pPr>
            <a:r>
              <a:rPr lang="en-US" sz="4077" spc="309">
                <a:solidFill>
                  <a:srgbClr val="323B60"/>
                </a:solidFill>
                <a:latin typeface="ABeeZee Bold"/>
                <a:ea typeface="ABeeZee Bold"/>
                <a:cs typeface="ABeeZee Bold"/>
                <a:sym typeface="ABeeZee Bold"/>
              </a:rPr>
              <a:t>3 Models</a:t>
            </a:r>
          </a:p>
        </p:txBody>
      </p:sp>
      <p:sp>
        <p:nvSpPr>
          <p:cNvPr name="Freeform 7" id="7"/>
          <p:cNvSpPr/>
          <p:nvPr/>
        </p:nvSpPr>
        <p:spPr>
          <a:xfrm flipH="true" flipV="false" rot="0">
            <a:off x="12132619" y="2064156"/>
            <a:ext cx="446192" cy="1394350"/>
          </a:xfrm>
          <a:custGeom>
            <a:avLst/>
            <a:gdLst/>
            <a:ahLst/>
            <a:cxnLst/>
            <a:rect r="r" b="b" t="t" l="l"/>
            <a:pathLst>
              <a:path h="1394350" w="446192">
                <a:moveTo>
                  <a:pt x="446193" y="0"/>
                </a:moveTo>
                <a:lnTo>
                  <a:pt x="0" y="0"/>
                </a:lnTo>
                <a:lnTo>
                  <a:pt x="0" y="1394350"/>
                </a:lnTo>
                <a:lnTo>
                  <a:pt x="446193" y="1394350"/>
                </a:lnTo>
                <a:lnTo>
                  <a:pt x="446193"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028700" y="1186366"/>
            <a:ext cx="9890143" cy="877791"/>
          </a:xfrm>
          <a:prstGeom prst="rect">
            <a:avLst/>
          </a:prstGeom>
        </p:spPr>
        <p:txBody>
          <a:bodyPr anchor="t" rtlCol="false" tIns="0" lIns="0" bIns="0" rIns="0">
            <a:spAutoFit/>
          </a:bodyPr>
          <a:lstStyle/>
          <a:p>
            <a:pPr algn="l">
              <a:lnSpc>
                <a:spcPts val="6865"/>
              </a:lnSpc>
            </a:pPr>
            <a:r>
              <a:rPr lang="en-US" sz="5918" b="true">
                <a:solidFill>
                  <a:srgbClr val="EFEFDA"/>
                </a:solidFill>
                <a:latin typeface="Glacial Indifference Bold"/>
                <a:ea typeface="Glacial Indifference Bold"/>
                <a:cs typeface="Glacial Indifference Bold"/>
                <a:sym typeface="Glacial Indifference Bold"/>
              </a:rPr>
              <a:t>Xây dựng mô hình dự</a:t>
            </a:r>
            <a:r>
              <a:rPr lang="en-US" sz="5918" b="true">
                <a:solidFill>
                  <a:srgbClr val="EFEFDA"/>
                </a:solidFill>
                <a:latin typeface="Glacial Indifference Bold"/>
                <a:ea typeface="Glacial Indifference Bold"/>
                <a:cs typeface="Glacial Indifference Bold"/>
                <a:sym typeface="Glacial Indifference Bold"/>
              </a:rPr>
              <a:t> đoán</a:t>
            </a:r>
          </a:p>
        </p:txBody>
      </p:sp>
      <p:grpSp>
        <p:nvGrpSpPr>
          <p:cNvPr name="Group 9" id="9"/>
          <p:cNvGrpSpPr/>
          <p:nvPr/>
        </p:nvGrpSpPr>
        <p:grpSpPr>
          <a:xfrm rot="0">
            <a:off x="1439952" y="2431234"/>
            <a:ext cx="7313017" cy="7439992"/>
            <a:chOff x="0" y="0"/>
            <a:chExt cx="9750690" cy="9919989"/>
          </a:xfrm>
        </p:grpSpPr>
        <p:sp>
          <p:nvSpPr>
            <p:cNvPr name="TextBox 10" id="10"/>
            <p:cNvSpPr txBox="true"/>
            <p:nvPr/>
          </p:nvSpPr>
          <p:spPr>
            <a:xfrm rot="0">
              <a:off x="0" y="-85725"/>
              <a:ext cx="9750690" cy="10005714"/>
            </a:xfrm>
            <a:prstGeom prst="rect">
              <a:avLst/>
            </a:prstGeom>
          </p:spPr>
          <p:txBody>
            <a:bodyPr anchor="t" rtlCol="false" tIns="0" lIns="0" bIns="0" rIns="0">
              <a:spAutoFit/>
            </a:bodyPr>
            <a:lstStyle/>
            <a:p>
              <a:pPr algn="l">
                <a:lnSpc>
                  <a:spcPts val="4585"/>
                </a:lnSpc>
              </a:pPr>
              <a:r>
                <a:rPr lang="en-US" sz="3077" i="true" spc="233">
                  <a:solidFill>
                    <a:srgbClr val="EFEFDA"/>
                  </a:solidFill>
                  <a:latin typeface="ABeeZee Bold Italics"/>
                  <a:ea typeface="ABeeZee Bold Italics"/>
                  <a:cs typeface="ABeeZee Bold Italics"/>
                  <a:sym typeface="ABeeZee Bold Italics"/>
                </a:rPr>
                <a:t>Dữ</a:t>
              </a:r>
              <a:r>
                <a:rPr lang="en-US" sz="3077" i="true" spc="233">
                  <a:solidFill>
                    <a:srgbClr val="EFEFDA"/>
                  </a:solidFill>
                  <a:latin typeface="ABeeZee Bold Italics"/>
                  <a:ea typeface="ABeeZee Bold Italics"/>
                  <a:cs typeface="ABeeZee Bold Italics"/>
                  <a:sym typeface="ABeeZee Bold Italics"/>
                </a:rPr>
                <a:t> liệu dùng cho mô hình</a:t>
              </a:r>
            </a:p>
            <a:p>
              <a:pPr algn="l" marL="664369" indent="-332184" lvl="1">
                <a:lnSpc>
                  <a:spcPts val="4585"/>
                </a:lnSpc>
                <a:buFont typeface="Arial"/>
                <a:buChar char="•"/>
              </a:pPr>
              <a:r>
                <a:rPr lang="en-US" sz="3077" spc="233">
                  <a:solidFill>
                    <a:srgbClr val="EFEFDA"/>
                  </a:solidFill>
                  <a:latin typeface="ABeeZee"/>
                  <a:ea typeface="ABeeZee"/>
                  <a:cs typeface="ABeeZee"/>
                  <a:sym typeface="ABeeZee"/>
                </a:rPr>
                <a:t>1.975 cặp tuần liên tiếp</a:t>
              </a:r>
            </a:p>
            <a:p>
              <a:pPr algn="l" marL="664369" indent="-332184" lvl="1">
                <a:lnSpc>
                  <a:spcPts val="4585"/>
                </a:lnSpc>
                <a:buFont typeface="Arial"/>
                <a:buChar char="•"/>
              </a:pPr>
              <a:r>
                <a:rPr lang="en-US" sz="3077" spc="233">
                  <a:solidFill>
                    <a:srgbClr val="EFEFDA"/>
                  </a:solidFill>
                  <a:latin typeface="ABeeZee"/>
                  <a:ea typeface="ABeeZee"/>
                  <a:cs typeface="ABeeZee"/>
                  <a:sym typeface="ABeeZee"/>
                </a:rPr>
                <a:t>Train: 1.632 quan sát</a:t>
              </a:r>
            </a:p>
            <a:p>
              <a:pPr algn="l" marL="664369" indent="-332184" lvl="1">
                <a:lnSpc>
                  <a:spcPts val="4585"/>
                </a:lnSpc>
                <a:buFont typeface="Arial"/>
                <a:buChar char="•"/>
              </a:pPr>
              <a:r>
                <a:rPr lang="en-US" sz="3077" spc="233">
                  <a:solidFill>
                    <a:srgbClr val="EFEFDA"/>
                  </a:solidFill>
                  <a:latin typeface="ABeeZee"/>
                  <a:ea typeface="ABeeZee"/>
                  <a:cs typeface="ABeeZee"/>
                  <a:sym typeface="ABeeZee"/>
                </a:rPr>
                <a:t>Test: 343 quan sát</a:t>
              </a:r>
            </a:p>
            <a:p>
              <a:pPr algn="l" marL="664369" indent="-332184" lvl="1">
                <a:lnSpc>
                  <a:spcPts val="4585"/>
                </a:lnSpc>
                <a:buFont typeface="Arial"/>
                <a:buChar char="•"/>
              </a:pPr>
              <a:r>
                <a:rPr lang="en-US" sz="3077" spc="233">
                  <a:solidFill>
                    <a:srgbClr val="EFEFDA"/>
                  </a:solidFill>
                  <a:latin typeface="ABeeZee"/>
                  <a:ea typeface="ABeeZee"/>
                  <a:cs typeface="ABeeZee"/>
                  <a:sym typeface="ABeeZee"/>
                </a:rPr>
                <a:t>Chia theo thời gian, không chia ngẫu nhiên. </a:t>
              </a:r>
            </a:p>
            <a:p>
              <a:pPr algn="l">
                <a:lnSpc>
                  <a:spcPts val="4585"/>
                </a:lnSpc>
              </a:pPr>
              <a:r>
                <a:rPr lang="en-US" sz="3077" i="true" spc="233">
                  <a:solidFill>
                    <a:srgbClr val="EFEFDA"/>
                  </a:solidFill>
                  <a:latin typeface="ABeeZee Bold Italics"/>
                  <a:ea typeface="ABeeZee Bold Italics"/>
                  <a:cs typeface="ABeeZee Bold Italics"/>
                  <a:sym typeface="ABeeZee Bold Italics"/>
                </a:rPr>
                <a:t>Ba mô hình so sánh</a:t>
              </a:r>
            </a:p>
            <a:p>
              <a:pPr algn="l" marL="664369" indent="-332184" lvl="1">
                <a:lnSpc>
                  <a:spcPts val="4585"/>
                </a:lnSpc>
                <a:buAutoNum type="arabicPeriod" startAt="1"/>
              </a:pPr>
              <a:r>
                <a:rPr lang="en-US" sz="3077" spc="233">
                  <a:solidFill>
                    <a:srgbClr val="EFEFDA"/>
                  </a:solidFill>
                  <a:latin typeface="ABeeZee"/>
                  <a:ea typeface="ABeeZee"/>
                  <a:cs typeface="ABeeZee"/>
                  <a:sym typeface="ABeeZee"/>
                </a:rPr>
                <a:t>Baseline</a:t>
              </a:r>
            </a:p>
            <a:p>
              <a:pPr algn="l" marL="664369" indent="-332184" lvl="1">
                <a:lnSpc>
                  <a:spcPts val="4585"/>
                </a:lnSpc>
                <a:buAutoNum type="arabicPeriod" startAt="1"/>
              </a:pPr>
              <a:r>
                <a:rPr lang="en-US" sz="3077" spc="233">
                  <a:solidFill>
                    <a:srgbClr val="EFEFDA"/>
                  </a:solidFill>
                  <a:latin typeface="ABeeZee"/>
                  <a:ea typeface="ABeeZee"/>
                  <a:cs typeface="ABeeZee"/>
                  <a:sym typeface="ABeeZee"/>
                </a:rPr>
                <a:t>Linear Regression</a:t>
              </a:r>
            </a:p>
            <a:p>
              <a:pPr algn="l" marL="664369" indent="-332184" lvl="1">
                <a:lnSpc>
                  <a:spcPts val="4585"/>
                </a:lnSpc>
                <a:buAutoNum type="arabicPeriod" startAt="1"/>
              </a:pPr>
              <a:r>
                <a:rPr lang="en-US" sz="3077" spc="233">
                  <a:solidFill>
                    <a:srgbClr val="EFEFDA"/>
                  </a:solidFill>
                  <a:latin typeface="ABeeZee"/>
                  <a:ea typeface="ABeeZee"/>
                  <a:cs typeface="ABeeZee"/>
                  <a:sym typeface="ABeeZee"/>
                </a:rPr>
                <a:t>Random Forest Regressor</a:t>
              </a:r>
            </a:p>
            <a:p>
              <a:pPr algn="l">
                <a:lnSpc>
                  <a:spcPts val="4585"/>
                </a:lnSpc>
              </a:pPr>
              <a:r>
                <a:rPr lang="en-US" sz="3077" i="true" spc="233">
                  <a:solidFill>
                    <a:srgbClr val="EFEFDA"/>
                  </a:solidFill>
                  <a:latin typeface="ABeeZee Bold Italics"/>
                  <a:ea typeface="ABeeZee Bold Italics"/>
                  <a:cs typeface="ABeeZee Bold Italics"/>
                  <a:sym typeface="ABeeZee Bold Italics"/>
                </a:rPr>
                <a:t>Các chỉ số đánh giá</a:t>
              </a:r>
            </a:p>
            <a:p>
              <a:pPr algn="l" marL="664369" indent="-332184" lvl="1">
                <a:lnSpc>
                  <a:spcPts val="4585"/>
                </a:lnSpc>
                <a:buFont typeface="Arial"/>
                <a:buChar char="•"/>
              </a:pPr>
              <a:r>
                <a:rPr lang="en-US" sz="3077" spc="233">
                  <a:solidFill>
                    <a:srgbClr val="EFEFDA"/>
                  </a:solidFill>
                  <a:latin typeface="ABeeZee"/>
                  <a:ea typeface="ABeeZee"/>
                  <a:cs typeface="ABeeZee"/>
                  <a:sym typeface="ABeeZee"/>
                </a:rPr>
                <a:t>MAE</a:t>
              </a:r>
            </a:p>
            <a:p>
              <a:pPr algn="l" marL="664369" indent="-332184" lvl="1">
                <a:lnSpc>
                  <a:spcPts val="4585"/>
                </a:lnSpc>
                <a:buFont typeface="Arial"/>
                <a:buChar char="•"/>
              </a:pPr>
              <a:r>
                <a:rPr lang="en-US" sz="3077" spc="233">
                  <a:solidFill>
                    <a:srgbClr val="EFEFDA"/>
                  </a:solidFill>
                  <a:latin typeface="ABeeZee"/>
                  <a:ea typeface="ABeeZee"/>
                  <a:cs typeface="ABeeZee"/>
                  <a:sym typeface="ABeeZee"/>
                </a:rPr>
                <a:t>RMSE</a:t>
              </a:r>
            </a:p>
          </p:txBody>
        </p:sp>
        <p:sp>
          <p:nvSpPr>
            <p:cNvPr name="TextBox 11" id="11"/>
            <p:cNvSpPr txBox="true"/>
            <p:nvPr/>
          </p:nvSpPr>
          <p:spPr>
            <a:xfrm rot="0">
              <a:off x="3359503" y="8421829"/>
              <a:ext cx="2220413" cy="709314"/>
            </a:xfrm>
            <a:prstGeom prst="rect">
              <a:avLst/>
            </a:prstGeom>
          </p:spPr>
          <p:txBody>
            <a:bodyPr anchor="t" rtlCol="false" tIns="0" lIns="0" bIns="0" rIns="0">
              <a:spAutoFit/>
            </a:bodyPr>
            <a:lstStyle/>
            <a:p>
              <a:pPr algn="l" marL="664369" indent="-332184" lvl="1">
                <a:lnSpc>
                  <a:spcPts val="4585"/>
                </a:lnSpc>
                <a:buFont typeface="Arial"/>
                <a:buChar char="•"/>
              </a:pPr>
              <a:r>
                <a:rPr lang="en-US" sz="3077" spc="233">
                  <a:solidFill>
                    <a:srgbClr val="EFEFDA"/>
                  </a:solidFill>
                  <a:latin typeface="ABeeZee"/>
                  <a:ea typeface="ABeeZee"/>
                  <a:cs typeface="ABeeZee"/>
                  <a:sym typeface="ABeeZee"/>
                </a:rPr>
                <a:t>R²</a:t>
              </a:r>
            </a:p>
          </p:txBody>
        </p:sp>
      </p:grpSp>
      <p:sp>
        <p:nvSpPr>
          <p:cNvPr name="TextBox 12" id="12"/>
          <p:cNvSpPr txBox="true"/>
          <p:nvPr/>
        </p:nvSpPr>
        <p:spPr>
          <a:xfrm rot="0">
            <a:off x="12407730" y="1371611"/>
            <a:ext cx="1680083" cy="826949"/>
          </a:xfrm>
          <a:prstGeom prst="rect">
            <a:avLst/>
          </a:prstGeom>
        </p:spPr>
        <p:txBody>
          <a:bodyPr anchor="t" rtlCol="false" tIns="0" lIns="0" bIns="0" rIns="0">
            <a:spAutoFit/>
          </a:bodyPr>
          <a:lstStyle/>
          <a:p>
            <a:pPr algn="l">
              <a:lnSpc>
                <a:spcPts val="6931"/>
              </a:lnSpc>
            </a:pPr>
            <a:r>
              <a:rPr lang="en-US" sz="4077" spc="309">
                <a:solidFill>
                  <a:srgbClr val="323B60"/>
                </a:solidFill>
                <a:latin typeface="ABeeZee Bold"/>
                <a:ea typeface="ABeeZee Bold"/>
                <a:cs typeface="ABeeZee Bold"/>
                <a:sym typeface="ABeeZee Bold"/>
              </a:rPr>
              <a:t>D</a:t>
            </a:r>
            <a:r>
              <a:rPr lang="en-US" sz="4077" spc="309">
                <a:solidFill>
                  <a:srgbClr val="323B60"/>
                </a:solidFill>
                <a:latin typeface="ABeeZee Bold"/>
                <a:ea typeface="ABeeZee Bold"/>
                <a:cs typeface="ABeeZee Bold"/>
                <a:sym typeface="ABeeZee Bold"/>
              </a:rPr>
              <a:t>ata</a:t>
            </a:r>
          </a:p>
        </p:txBody>
      </p:sp>
      <p:sp>
        <p:nvSpPr>
          <p:cNvPr name="TextBox 13" id="13"/>
          <p:cNvSpPr txBox="true"/>
          <p:nvPr/>
        </p:nvSpPr>
        <p:spPr>
          <a:xfrm rot="0">
            <a:off x="10570525" y="3521487"/>
            <a:ext cx="5713006" cy="826949"/>
          </a:xfrm>
          <a:prstGeom prst="rect">
            <a:avLst/>
          </a:prstGeom>
        </p:spPr>
        <p:txBody>
          <a:bodyPr anchor="t" rtlCol="false" tIns="0" lIns="0" bIns="0" rIns="0">
            <a:spAutoFit/>
          </a:bodyPr>
          <a:lstStyle/>
          <a:p>
            <a:pPr algn="l">
              <a:lnSpc>
                <a:spcPts val="6931"/>
              </a:lnSpc>
            </a:pPr>
            <a:r>
              <a:rPr lang="en-US" sz="4077" spc="309">
                <a:solidFill>
                  <a:srgbClr val="323B60"/>
                </a:solidFill>
                <a:latin typeface="ABeeZee Bold"/>
                <a:ea typeface="ABeeZee Bold"/>
                <a:cs typeface="ABeeZee Bold"/>
                <a:sym typeface="ABeeZee Bold"/>
              </a:rPr>
              <a:t>Feature Engineering</a:t>
            </a:r>
          </a:p>
        </p:txBody>
      </p:sp>
      <p:sp>
        <p:nvSpPr>
          <p:cNvPr name="TextBox 14" id="14"/>
          <p:cNvSpPr txBox="true"/>
          <p:nvPr/>
        </p:nvSpPr>
        <p:spPr>
          <a:xfrm rot="0">
            <a:off x="13247772" y="8708379"/>
            <a:ext cx="5713006" cy="826949"/>
          </a:xfrm>
          <a:prstGeom prst="rect">
            <a:avLst/>
          </a:prstGeom>
        </p:spPr>
        <p:txBody>
          <a:bodyPr anchor="t" rtlCol="false" tIns="0" lIns="0" bIns="0" rIns="0">
            <a:spAutoFit/>
          </a:bodyPr>
          <a:lstStyle/>
          <a:p>
            <a:pPr algn="l">
              <a:lnSpc>
                <a:spcPts val="6931"/>
              </a:lnSpc>
            </a:pPr>
            <a:r>
              <a:rPr lang="en-US" sz="4077" spc="309">
                <a:solidFill>
                  <a:srgbClr val="323B60"/>
                </a:solidFill>
                <a:latin typeface="ABeeZee Bold"/>
                <a:ea typeface="ABeeZee Bold"/>
                <a:cs typeface="ABeeZee Bold"/>
                <a:sym typeface="ABeeZee Bold"/>
              </a:rPr>
              <a:t>Evaluation</a:t>
            </a:r>
          </a:p>
        </p:txBody>
      </p:sp>
      <p:sp>
        <p:nvSpPr>
          <p:cNvPr name="Freeform 15" id="15"/>
          <p:cNvSpPr/>
          <p:nvPr/>
        </p:nvSpPr>
        <p:spPr>
          <a:xfrm flipH="false" flipV="false" rot="0">
            <a:off x="14403874" y="4348436"/>
            <a:ext cx="446192" cy="1394350"/>
          </a:xfrm>
          <a:custGeom>
            <a:avLst/>
            <a:gdLst/>
            <a:ahLst/>
            <a:cxnLst/>
            <a:rect r="r" b="b" t="t" l="l"/>
            <a:pathLst>
              <a:path h="1394350" w="446192">
                <a:moveTo>
                  <a:pt x="0" y="0"/>
                </a:moveTo>
                <a:lnTo>
                  <a:pt x="446192" y="0"/>
                </a:lnTo>
                <a:lnTo>
                  <a:pt x="446192" y="1394350"/>
                </a:lnTo>
                <a:lnTo>
                  <a:pt x="0" y="139435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6" id="16"/>
          <p:cNvSpPr/>
          <p:nvPr/>
        </p:nvSpPr>
        <p:spPr>
          <a:xfrm flipH="false" flipV="false" rot="1027830">
            <a:off x="13429774" y="6529147"/>
            <a:ext cx="446192" cy="1394350"/>
          </a:xfrm>
          <a:custGeom>
            <a:avLst/>
            <a:gdLst/>
            <a:ahLst/>
            <a:cxnLst/>
            <a:rect r="r" b="b" t="t" l="l"/>
            <a:pathLst>
              <a:path h="1394350" w="446192">
                <a:moveTo>
                  <a:pt x="0" y="0"/>
                </a:moveTo>
                <a:lnTo>
                  <a:pt x="446192" y="0"/>
                </a:lnTo>
                <a:lnTo>
                  <a:pt x="446192" y="1394351"/>
                </a:lnTo>
                <a:lnTo>
                  <a:pt x="0" y="13943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7" id="17"/>
          <p:cNvSpPr/>
          <p:nvPr/>
        </p:nvSpPr>
        <p:spPr>
          <a:xfrm flipH="true" flipV="false" rot="-2166549">
            <a:off x="12355716" y="8025435"/>
            <a:ext cx="446192" cy="1394350"/>
          </a:xfrm>
          <a:custGeom>
            <a:avLst/>
            <a:gdLst/>
            <a:ahLst/>
            <a:cxnLst/>
            <a:rect r="r" b="b" t="t" l="l"/>
            <a:pathLst>
              <a:path h="1394350" w="446192">
                <a:moveTo>
                  <a:pt x="446192" y="0"/>
                </a:moveTo>
                <a:lnTo>
                  <a:pt x="0" y="0"/>
                </a:lnTo>
                <a:lnTo>
                  <a:pt x="0" y="1394350"/>
                </a:lnTo>
                <a:lnTo>
                  <a:pt x="446192" y="1394350"/>
                </a:lnTo>
                <a:lnTo>
                  <a:pt x="446192"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1E3653"/>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3953665" y="9038319"/>
            <a:ext cx="7007903" cy="2497362"/>
          </a:xfrm>
          <a:custGeom>
            <a:avLst/>
            <a:gdLst/>
            <a:ahLst/>
            <a:cxnLst/>
            <a:rect r="r" b="b" t="t" l="l"/>
            <a:pathLst>
              <a:path h="2497362" w="7007903">
                <a:moveTo>
                  <a:pt x="0" y="0"/>
                </a:moveTo>
                <a:lnTo>
                  <a:pt x="7007903" y="0"/>
                </a:lnTo>
                <a:lnTo>
                  <a:pt x="7007903" y="2497362"/>
                </a:lnTo>
                <a:lnTo>
                  <a:pt x="0" y="24973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5485902" y="-1248681"/>
            <a:ext cx="7007903" cy="2497362"/>
          </a:xfrm>
          <a:custGeom>
            <a:avLst/>
            <a:gdLst/>
            <a:ahLst/>
            <a:cxnLst/>
            <a:rect r="r" b="b" t="t" l="l"/>
            <a:pathLst>
              <a:path h="2497362" w="7007903">
                <a:moveTo>
                  <a:pt x="0" y="0"/>
                </a:moveTo>
                <a:lnTo>
                  <a:pt x="7007903" y="0"/>
                </a:lnTo>
                <a:lnTo>
                  <a:pt x="7007903" y="2497362"/>
                </a:lnTo>
                <a:lnTo>
                  <a:pt x="0" y="24973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4" id="4"/>
          <p:cNvSpPr/>
          <p:nvPr/>
        </p:nvSpPr>
        <p:spPr>
          <a:xfrm>
            <a:off x="1028700" y="2150935"/>
            <a:ext cx="8458285" cy="0"/>
          </a:xfrm>
          <a:prstGeom prst="line">
            <a:avLst/>
          </a:prstGeom>
          <a:ln cap="rnd" w="95250">
            <a:solidFill>
              <a:srgbClr val="EFEFDA"/>
            </a:solidFill>
            <a:prstDash val="solid"/>
            <a:headEnd type="none" len="sm" w="sm"/>
            <a:tailEnd type="none" len="sm" w="sm"/>
          </a:ln>
        </p:spPr>
      </p:sp>
      <p:sp>
        <p:nvSpPr>
          <p:cNvPr name="Freeform 5" id="5"/>
          <p:cNvSpPr/>
          <p:nvPr/>
        </p:nvSpPr>
        <p:spPr>
          <a:xfrm flipH="false" flipV="false" rot="0">
            <a:off x="2089641" y="2742916"/>
            <a:ext cx="14108717" cy="3946812"/>
          </a:xfrm>
          <a:custGeom>
            <a:avLst/>
            <a:gdLst/>
            <a:ahLst/>
            <a:cxnLst/>
            <a:rect r="r" b="b" t="t" l="l"/>
            <a:pathLst>
              <a:path h="3946812" w="14108717">
                <a:moveTo>
                  <a:pt x="0" y="0"/>
                </a:moveTo>
                <a:lnTo>
                  <a:pt x="14108718" y="0"/>
                </a:lnTo>
                <a:lnTo>
                  <a:pt x="14108718" y="3946811"/>
                </a:lnTo>
                <a:lnTo>
                  <a:pt x="0" y="3946811"/>
                </a:lnTo>
                <a:lnTo>
                  <a:pt x="0" y="0"/>
                </a:lnTo>
                <a:close/>
              </a:path>
            </a:pathLst>
          </a:custGeom>
          <a:blipFill>
            <a:blip r:embed="rId4"/>
            <a:stretch>
              <a:fillRect l="0" t="0" r="0" b="0"/>
            </a:stretch>
          </a:blipFill>
        </p:spPr>
      </p:sp>
      <p:sp>
        <p:nvSpPr>
          <p:cNvPr name="TextBox 6" id="6"/>
          <p:cNvSpPr txBox="true"/>
          <p:nvPr/>
        </p:nvSpPr>
        <p:spPr>
          <a:xfrm rot="0">
            <a:off x="1028700" y="1186366"/>
            <a:ext cx="11203080" cy="877791"/>
          </a:xfrm>
          <a:prstGeom prst="rect">
            <a:avLst/>
          </a:prstGeom>
        </p:spPr>
        <p:txBody>
          <a:bodyPr anchor="t" rtlCol="false" tIns="0" lIns="0" bIns="0" rIns="0">
            <a:spAutoFit/>
          </a:bodyPr>
          <a:lstStyle/>
          <a:p>
            <a:pPr algn="l">
              <a:lnSpc>
                <a:spcPts val="6865"/>
              </a:lnSpc>
            </a:pPr>
            <a:r>
              <a:rPr lang="en-US" sz="5918" b="true">
                <a:solidFill>
                  <a:srgbClr val="EFEFDA"/>
                </a:solidFill>
                <a:latin typeface="Glacial Indifference Bold"/>
                <a:ea typeface="Glacial Indifference Bold"/>
                <a:cs typeface="Glacial Indifference Bold"/>
                <a:sym typeface="Glacial Indifference Bold"/>
              </a:rPr>
              <a:t>So sánh kết quả mô hình</a:t>
            </a:r>
          </a:p>
        </p:txBody>
      </p:sp>
      <p:sp>
        <p:nvSpPr>
          <p:cNvPr name="TextBox 7" id="7"/>
          <p:cNvSpPr txBox="true"/>
          <p:nvPr/>
        </p:nvSpPr>
        <p:spPr>
          <a:xfrm rot="0">
            <a:off x="2730998" y="7148359"/>
            <a:ext cx="12826004" cy="1134077"/>
          </a:xfrm>
          <a:prstGeom prst="rect">
            <a:avLst/>
          </a:prstGeom>
        </p:spPr>
        <p:txBody>
          <a:bodyPr anchor="t" rtlCol="false" tIns="0" lIns="0" bIns="0" rIns="0">
            <a:spAutoFit/>
          </a:bodyPr>
          <a:lstStyle/>
          <a:p>
            <a:pPr algn="l">
              <a:lnSpc>
                <a:spcPts val="4599"/>
              </a:lnSpc>
            </a:pPr>
            <a:r>
              <a:rPr lang="en-US" sz="3087" spc="234">
                <a:solidFill>
                  <a:srgbClr val="EFEFDA"/>
                </a:solidFill>
                <a:latin typeface="ABeeZee"/>
                <a:ea typeface="ABeeZee"/>
                <a:cs typeface="ABeeZee"/>
                <a:sym typeface="ABeeZee"/>
              </a:rPr>
              <a:t>Linear Regression được lựa chọn vì có MAE và RMSE thấp nhất, đồng thời R² cao nhất.</a:t>
            </a:r>
          </a:p>
        </p:txBody>
      </p:sp>
      <p:sp>
        <p:nvSpPr>
          <p:cNvPr name="AutoShape 8" id="8"/>
          <p:cNvSpPr/>
          <p:nvPr/>
        </p:nvSpPr>
        <p:spPr>
          <a:xfrm flipV="true">
            <a:off x="5414975" y="5500566"/>
            <a:ext cx="2911295" cy="0"/>
          </a:xfrm>
          <a:prstGeom prst="line">
            <a:avLst/>
          </a:prstGeom>
          <a:ln cap="rnd" w="95250">
            <a:solidFill>
              <a:srgbClr val="FA3A2F"/>
            </a:solidFill>
            <a:prstDash val="solid"/>
            <a:headEnd type="none" len="sm" w="sm"/>
            <a:tailEnd type="none" len="sm" w="sm"/>
          </a:ln>
        </p:spPr>
      </p:sp>
      <p:sp>
        <p:nvSpPr>
          <p:cNvPr name="AutoShape 9" id="9"/>
          <p:cNvSpPr/>
          <p:nvPr/>
        </p:nvSpPr>
        <p:spPr>
          <a:xfrm flipV="true">
            <a:off x="9144000" y="5500566"/>
            <a:ext cx="3087780" cy="0"/>
          </a:xfrm>
          <a:prstGeom prst="line">
            <a:avLst/>
          </a:prstGeom>
          <a:ln cap="rnd" w="95250">
            <a:solidFill>
              <a:srgbClr val="FA3A2F"/>
            </a:solidFill>
            <a:prstDash val="solid"/>
            <a:headEnd type="none" len="sm" w="sm"/>
            <a:tailEnd type="none" len="sm" w="sm"/>
          </a:ln>
        </p:spPr>
      </p:sp>
      <p:sp>
        <p:nvSpPr>
          <p:cNvPr name="AutoShape 10" id="10"/>
          <p:cNvSpPr/>
          <p:nvPr/>
        </p:nvSpPr>
        <p:spPr>
          <a:xfrm flipV="true">
            <a:off x="12847310" y="5500566"/>
            <a:ext cx="3087780" cy="0"/>
          </a:xfrm>
          <a:prstGeom prst="line">
            <a:avLst/>
          </a:prstGeom>
          <a:ln cap="rnd" w="95250">
            <a:solidFill>
              <a:srgbClr val="FA3A2F"/>
            </a:solidFill>
            <a:prstDash val="solid"/>
            <a:headEnd type="none" len="sm" w="sm"/>
            <a:tailEnd type="none" len="sm" w="sm"/>
          </a:ln>
        </p:spPr>
      </p:sp>
      <p:sp>
        <p:nvSpPr>
          <p:cNvPr name="Freeform 11" id="11"/>
          <p:cNvSpPr/>
          <p:nvPr/>
        </p:nvSpPr>
        <p:spPr>
          <a:xfrm flipH="false" flipV="false" rot="0">
            <a:off x="14811879" y="7234084"/>
            <a:ext cx="3476121" cy="3305475"/>
          </a:xfrm>
          <a:custGeom>
            <a:avLst/>
            <a:gdLst/>
            <a:ahLst/>
            <a:cxnLst/>
            <a:rect r="r" b="b" t="t" l="l"/>
            <a:pathLst>
              <a:path h="3305475" w="3476121">
                <a:moveTo>
                  <a:pt x="0" y="0"/>
                </a:moveTo>
                <a:lnTo>
                  <a:pt x="3476121" y="0"/>
                </a:lnTo>
                <a:lnTo>
                  <a:pt x="3476121" y="3305475"/>
                </a:lnTo>
                <a:lnTo>
                  <a:pt x="0" y="33054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1E3653"/>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3953665" y="9038319"/>
            <a:ext cx="7007903" cy="2497362"/>
          </a:xfrm>
          <a:custGeom>
            <a:avLst/>
            <a:gdLst/>
            <a:ahLst/>
            <a:cxnLst/>
            <a:rect r="r" b="b" t="t" l="l"/>
            <a:pathLst>
              <a:path h="2497362" w="7007903">
                <a:moveTo>
                  <a:pt x="0" y="0"/>
                </a:moveTo>
                <a:lnTo>
                  <a:pt x="7007903" y="0"/>
                </a:lnTo>
                <a:lnTo>
                  <a:pt x="7007903" y="2497362"/>
                </a:lnTo>
                <a:lnTo>
                  <a:pt x="0" y="24973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5485902" y="-1248681"/>
            <a:ext cx="7007903" cy="2497362"/>
          </a:xfrm>
          <a:custGeom>
            <a:avLst/>
            <a:gdLst/>
            <a:ahLst/>
            <a:cxnLst/>
            <a:rect r="r" b="b" t="t" l="l"/>
            <a:pathLst>
              <a:path h="2497362" w="7007903">
                <a:moveTo>
                  <a:pt x="0" y="0"/>
                </a:moveTo>
                <a:lnTo>
                  <a:pt x="7007903" y="0"/>
                </a:lnTo>
                <a:lnTo>
                  <a:pt x="7007903" y="2497362"/>
                </a:lnTo>
                <a:lnTo>
                  <a:pt x="0" y="24973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4" id="4"/>
          <p:cNvSpPr/>
          <p:nvPr/>
        </p:nvSpPr>
        <p:spPr>
          <a:xfrm>
            <a:off x="1028700" y="1663361"/>
            <a:ext cx="12746594" cy="0"/>
          </a:xfrm>
          <a:prstGeom prst="line">
            <a:avLst/>
          </a:prstGeom>
          <a:ln cap="rnd" w="95250">
            <a:solidFill>
              <a:srgbClr val="EFEFDA"/>
            </a:solidFill>
            <a:prstDash val="solid"/>
            <a:headEnd type="none" len="sm" w="sm"/>
            <a:tailEnd type="none" len="sm" w="sm"/>
          </a:ln>
        </p:spPr>
      </p:sp>
      <p:sp>
        <p:nvSpPr>
          <p:cNvPr name="Freeform 5" id="5"/>
          <p:cNvSpPr/>
          <p:nvPr/>
        </p:nvSpPr>
        <p:spPr>
          <a:xfrm flipH="false" flipV="false" rot="0">
            <a:off x="9486985" y="2062874"/>
            <a:ext cx="8363099" cy="3645596"/>
          </a:xfrm>
          <a:custGeom>
            <a:avLst/>
            <a:gdLst/>
            <a:ahLst/>
            <a:cxnLst/>
            <a:rect r="r" b="b" t="t" l="l"/>
            <a:pathLst>
              <a:path h="3645596" w="8363099">
                <a:moveTo>
                  <a:pt x="0" y="0"/>
                </a:moveTo>
                <a:lnTo>
                  <a:pt x="8363099" y="0"/>
                </a:lnTo>
                <a:lnTo>
                  <a:pt x="8363099" y="3645596"/>
                </a:lnTo>
                <a:lnTo>
                  <a:pt x="0" y="3645596"/>
                </a:lnTo>
                <a:lnTo>
                  <a:pt x="0" y="0"/>
                </a:lnTo>
                <a:close/>
              </a:path>
            </a:pathLst>
          </a:custGeom>
          <a:blipFill>
            <a:blip r:embed="rId4"/>
            <a:stretch>
              <a:fillRect l="-9662" t="-5907" r="-1425" b="-12936"/>
            </a:stretch>
          </a:blipFill>
        </p:spPr>
      </p:sp>
      <p:sp>
        <p:nvSpPr>
          <p:cNvPr name="Freeform 6" id="6"/>
          <p:cNvSpPr/>
          <p:nvPr/>
        </p:nvSpPr>
        <p:spPr>
          <a:xfrm flipH="false" flipV="false" rot="0">
            <a:off x="4931558" y="6222833"/>
            <a:ext cx="8424884" cy="3645596"/>
          </a:xfrm>
          <a:custGeom>
            <a:avLst/>
            <a:gdLst/>
            <a:ahLst/>
            <a:cxnLst/>
            <a:rect r="r" b="b" t="t" l="l"/>
            <a:pathLst>
              <a:path h="3645596" w="8424884">
                <a:moveTo>
                  <a:pt x="0" y="0"/>
                </a:moveTo>
                <a:lnTo>
                  <a:pt x="8424884" y="0"/>
                </a:lnTo>
                <a:lnTo>
                  <a:pt x="8424884" y="3645596"/>
                </a:lnTo>
                <a:lnTo>
                  <a:pt x="0" y="3645596"/>
                </a:lnTo>
                <a:lnTo>
                  <a:pt x="0" y="0"/>
                </a:lnTo>
                <a:close/>
              </a:path>
            </a:pathLst>
          </a:custGeom>
          <a:blipFill>
            <a:blip r:embed="rId5"/>
            <a:stretch>
              <a:fillRect l="-9064" t="-6227" r="-1209" b="-12617"/>
            </a:stretch>
          </a:blipFill>
        </p:spPr>
      </p:sp>
      <p:sp>
        <p:nvSpPr>
          <p:cNvPr name="Freeform 7" id="7"/>
          <p:cNvSpPr/>
          <p:nvPr/>
        </p:nvSpPr>
        <p:spPr>
          <a:xfrm flipH="false" flipV="false" rot="0">
            <a:off x="377897" y="2062874"/>
            <a:ext cx="8469342" cy="3712284"/>
          </a:xfrm>
          <a:custGeom>
            <a:avLst/>
            <a:gdLst/>
            <a:ahLst/>
            <a:cxnLst/>
            <a:rect r="r" b="b" t="t" l="l"/>
            <a:pathLst>
              <a:path h="3712284" w="8469342">
                <a:moveTo>
                  <a:pt x="0" y="0"/>
                </a:moveTo>
                <a:lnTo>
                  <a:pt x="8469342" y="0"/>
                </a:lnTo>
                <a:lnTo>
                  <a:pt x="8469342" y="3712284"/>
                </a:lnTo>
                <a:lnTo>
                  <a:pt x="0" y="3712284"/>
                </a:lnTo>
                <a:lnTo>
                  <a:pt x="0" y="0"/>
                </a:lnTo>
                <a:close/>
              </a:path>
            </a:pathLst>
          </a:custGeom>
          <a:blipFill>
            <a:blip r:embed="rId6"/>
            <a:stretch>
              <a:fillRect l="-9592" t="-5801" r="-991" b="-11853"/>
            </a:stretch>
          </a:blipFill>
        </p:spPr>
      </p:sp>
      <p:sp>
        <p:nvSpPr>
          <p:cNvPr name="TextBox 8" id="8"/>
          <p:cNvSpPr txBox="true"/>
          <p:nvPr/>
        </p:nvSpPr>
        <p:spPr>
          <a:xfrm rot="0">
            <a:off x="1284278" y="766729"/>
            <a:ext cx="12935329" cy="2553683"/>
          </a:xfrm>
          <a:prstGeom prst="rect">
            <a:avLst/>
          </a:prstGeom>
        </p:spPr>
        <p:txBody>
          <a:bodyPr anchor="t" rtlCol="false" tIns="0" lIns="0" bIns="0" rIns="0">
            <a:spAutoFit/>
          </a:bodyPr>
          <a:lstStyle/>
          <a:p>
            <a:pPr algn="l">
              <a:lnSpc>
                <a:spcPts val="6749"/>
              </a:lnSpc>
            </a:pPr>
            <a:r>
              <a:rPr lang="en-US" sz="5818" b="true">
                <a:solidFill>
                  <a:srgbClr val="EFEFDA"/>
                </a:solidFill>
                <a:latin typeface="Glacial Indifference Bold"/>
                <a:ea typeface="Glacial Indifference Bold"/>
                <a:cs typeface="Glacial Indifference Bold"/>
                <a:sym typeface="Glacial Indifference Bold"/>
              </a:rPr>
              <a:t>So sánh dự đoán với giá trị thực tế</a:t>
            </a:r>
          </a:p>
          <a:p>
            <a:pPr algn="l">
              <a:lnSpc>
                <a:spcPts val="6749"/>
              </a:lnSpc>
            </a:pPr>
          </a:p>
          <a:p>
            <a:pPr algn="l">
              <a:lnSpc>
                <a:spcPts val="6749"/>
              </a:lnSpc>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1E3653"/>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3953665" y="9038319"/>
            <a:ext cx="7007903" cy="2497362"/>
          </a:xfrm>
          <a:custGeom>
            <a:avLst/>
            <a:gdLst/>
            <a:ahLst/>
            <a:cxnLst/>
            <a:rect r="r" b="b" t="t" l="l"/>
            <a:pathLst>
              <a:path h="2497362" w="7007903">
                <a:moveTo>
                  <a:pt x="0" y="0"/>
                </a:moveTo>
                <a:lnTo>
                  <a:pt x="7007903" y="0"/>
                </a:lnTo>
                <a:lnTo>
                  <a:pt x="7007903" y="2497362"/>
                </a:lnTo>
                <a:lnTo>
                  <a:pt x="0" y="24973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5485902" y="-1248681"/>
            <a:ext cx="7007903" cy="2497362"/>
          </a:xfrm>
          <a:custGeom>
            <a:avLst/>
            <a:gdLst/>
            <a:ahLst/>
            <a:cxnLst/>
            <a:rect r="r" b="b" t="t" l="l"/>
            <a:pathLst>
              <a:path h="2497362" w="7007903">
                <a:moveTo>
                  <a:pt x="0" y="0"/>
                </a:moveTo>
                <a:lnTo>
                  <a:pt x="7007903" y="0"/>
                </a:lnTo>
                <a:lnTo>
                  <a:pt x="7007903" y="2497362"/>
                </a:lnTo>
                <a:lnTo>
                  <a:pt x="0" y="24973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4" id="4"/>
          <p:cNvSpPr/>
          <p:nvPr/>
        </p:nvSpPr>
        <p:spPr>
          <a:xfrm>
            <a:off x="1028700" y="1663361"/>
            <a:ext cx="6042440" cy="0"/>
          </a:xfrm>
          <a:prstGeom prst="line">
            <a:avLst/>
          </a:prstGeom>
          <a:ln cap="rnd" w="95250">
            <a:solidFill>
              <a:srgbClr val="EFEFDA"/>
            </a:solidFill>
            <a:prstDash val="solid"/>
            <a:headEnd type="none" len="sm" w="sm"/>
            <a:tailEnd type="none" len="sm" w="sm"/>
          </a:ln>
        </p:spPr>
      </p:sp>
      <p:graphicFrame>
        <p:nvGraphicFramePr>
          <p:cNvPr name="Object 5" id="5"/>
          <p:cNvGraphicFramePr/>
          <p:nvPr/>
        </p:nvGraphicFramePr>
        <p:xfrm>
          <a:off x="2398790" y="1940473"/>
          <a:ext cx="11315700" cy="6915150"/>
        </p:xfrm>
        <a:graphic>
          <a:graphicData uri="http://schemas.openxmlformats.org/presentationml/2006/ole">
            <p:oleObj imgW="13576300" imgH="91821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sp>
        <p:nvSpPr>
          <p:cNvPr name="TextBox 6" id="6"/>
          <p:cNvSpPr txBox="true"/>
          <p:nvPr/>
        </p:nvSpPr>
        <p:spPr>
          <a:xfrm rot="0">
            <a:off x="1028700" y="737945"/>
            <a:ext cx="8343047" cy="860591"/>
          </a:xfrm>
          <a:prstGeom prst="rect">
            <a:avLst/>
          </a:prstGeom>
        </p:spPr>
        <p:txBody>
          <a:bodyPr anchor="t" rtlCol="false" tIns="0" lIns="0" bIns="0" rIns="0">
            <a:spAutoFit/>
          </a:bodyPr>
          <a:lstStyle/>
          <a:p>
            <a:pPr algn="l">
              <a:lnSpc>
                <a:spcPts val="6733"/>
              </a:lnSpc>
            </a:pPr>
            <a:r>
              <a:rPr lang="en-US" sz="5804" b="true">
                <a:solidFill>
                  <a:srgbClr val="EFEFDA"/>
                </a:solidFill>
                <a:latin typeface="Glacial Indifference Bold"/>
                <a:ea typeface="Glacial Indifference Bold"/>
                <a:cs typeface="Glacial Indifference Bold"/>
                <a:sym typeface="Glacial Indifference Bold"/>
              </a:rPr>
              <a:t>Dự báo tuần 02/07</a:t>
            </a:r>
          </a:p>
        </p:txBody>
      </p:sp>
      <p:sp>
        <p:nvSpPr>
          <p:cNvPr name="TextBox 7" id="7"/>
          <p:cNvSpPr txBox="true"/>
          <p:nvPr/>
        </p:nvSpPr>
        <p:spPr>
          <a:xfrm rot="0">
            <a:off x="2713928" y="8410957"/>
            <a:ext cx="12826004" cy="1134077"/>
          </a:xfrm>
          <a:prstGeom prst="rect">
            <a:avLst/>
          </a:prstGeom>
        </p:spPr>
        <p:txBody>
          <a:bodyPr anchor="t" rtlCol="false" tIns="0" lIns="0" bIns="0" rIns="0">
            <a:spAutoFit/>
          </a:bodyPr>
          <a:lstStyle/>
          <a:p>
            <a:pPr algn="l">
              <a:lnSpc>
                <a:spcPts val="4599"/>
              </a:lnSpc>
            </a:pPr>
            <a:r>
              <a:rPr lang="en-US" sz="3087" spc="234">
                <a:solidFill>
                  <a:srgbClr val="EFEFDA"/>
                </a:solidFill>
                <a:latin typeface="ABeeZee"/>
                <a:ea typeface="ABeeZee"/>
                <a:cs typeface="ABeeZee"/>
                <a:sym typeface="ABeeZee"/>
              </a:rPr>
              <a:t>Tăng hạng hiện tại không đồng nghĩa lượt nghe chắc chắn tiếp tục tăng ở tuần sau.</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1E3653"/>
        </a:solidFill>
      </p:bgPr>
    </p:bg>
    <p:spTree>
      <p:nvGrpSpPr>
        <p:cNvPr id="1" name=""/>
        <p:cNvGrpSpPr/>
        <p:nvPr/>
      </p:nvGrpSpPr>
      <p:grpSpPr>
        <a:xfrm>
          <a:off x="0" y="0"/>
          <a:ext cx="0" cy="0"/>
          <a:chOff x="0" y="0"/>
          <a:chExt cx="0" cy="0"/>
        </a:xfrm>
      </p:grpSpPr>
      <p:grpSp>
        <p:nvGrpSpPr>
          <p:cNvPr name="Group 2" id="2"/>
          <p:cNvGrpSpPr/>
          <p:nvPr/>
        </p:nvGrpSpPr>
        <p:grpSpPr>
          <a:xfrm rot="2525811">
            <a:off x="-5660721" y="-2098065"/>
            <a:ext cx="16297074" cy="13115899"/>
            <a:chOff x="0" y="0"/>
            <a:chExt cx="4292234" cy="3454393"/>
          </a:xfrm>
        </p:grpSpPr>
        <p:sp>
          <p:nvSpPr>
            <p:cNvPr name="Freeform 3" id="3"/>
            <p:cNvSpPr/>
            <p:nvPr/>
          </p:nvSpPr>
          <p:spPr>
            <a:xfrm flipH="false" flipV="false" rot="0">
              <a:off x="0" y="0"/>
              <a:ext cx="4292234" cy="3454393"/>
            </a:xfrm>
            <a:custGeom>
              <a:avLst/>
              <a:gdLst/>
              <a:ahLst/>
              <a:cxnLst/>
              <a:rect r="r" b="b" t="t" l="l"/>
              <a:pathLst>
                <a:path h="3454393" w="4292234">
                  <a:moveTo>
                    <a:pt x="47505" y="0"/>
                  </a:moveTo>
                  <a:lnTo>
                    <a:pt x="4244729" y="0"/>
                  </a:lnTo>
                  <a:cubicBezTo>
                    <a:pt x="4270965" y="0"/>
                    <a:pt x="4292234" y="21269"/>
                    <a:pt x="4292234" y="47505"/>
                  </a:cubicBezTo>
                  <a:lnTo>
                    <a:pt x="4292234" y="3406889"/>
                  </a:lnTo>
                  <a:cubicBezTo>
                    <a:pt x="4292234" y="3433125"/>
                    <a:pt x="4270965" y="3454393"/>
                    <a:pt x="4244729" y="3454393"/>
                  </a:cubicBezTo>
                  <a:lnTo>
                    <a:pt x="47505" y="3454393"/>
                  </a:lnTo>
                  <a:cubicBezTo>
                    <a:pt x="21269" y="3454393"/>
                    <a:pt x="0" y="3433125"/>
                    <a:pt x="0" y="3406889"/>
                  </a:cubicBezTo>
                  <a:lnTo>
                    <a:pt x="0" y="47505"/>
                  </a:lnTo>
                  <a:cubicBezTo>
                    <a:pt x="0" y="21269"/>
                    <a:pt x="21269" y="0"/>
                    <a:pt x="47505" y="0"/>
                  </a:cubicBezTo>
                  <a:close/>
                </a:path>
              </a:pathLst>
            </a:custGeom>
            <a:solidFill>
              <a:srgbClr val="EFEFDA"/>
            </a:solidFill>
          </p:spPr>
        </p:sp>
        <p:sp>
          <p:nvSpPr>
            <p:cNvPr name="TextBox 4" id="4"/>
            <p:cNvSpPr txBox="true"/>
            <p:nvPr/>
          </p:nvSpPr>
          <p:spPr>
            <a:xfrm>
              <a:off x="0" y="-38100"/>
              <a:ext cx="4292234" cy="3492493"/>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0845988" y="1779553"/>
            <a:ext cx="7075222" cy="6727893"/>
          </a:xfrm>
          <a:custGeom>
            <a:avLst/>
            <a:gdLst/>
            <a:ahLst/>
            <a:cxnLst/>
            <a:rect r="r" b="b" t="t" l="l"/>
            <a:pathLst>
              <a:path h="6727893" w="7075222">
                <a:moveTo>
                  <a:pt x="0" y="0"/>
                </a:moveTo>
                <a:lnTo>
                  <a:pt x="7075222" y="0"/>
                </a:lnTo>
                <a:lnTo>
                  <a:pt x="7075222" y="6727894"/>
                </a:lnTo>
                <a:lnTo>
                  <a:pt x="0" y="67278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462060" y="1687385"/>
            <a:ext cx="8845357" cy="877791"/>
          </a:xfrm>
          <a:prstGeom prst="rect">
            <a:avLst/>
          </a:prstGeom>
        </p:spPr>
        <p:txBody>
          <a:bodyPr anchor="t" rtlCol="false" tIns="0" lIns="0" bIns="0" rIns="0">
            <a:spAutoFit/>
          </a:bodyPr>
          <a:lstStyle/>
          <a:p>
            <a:pPr algn="l">
              <a:lnSpc>
                <a:spcPts val="6865"/>
              </a:lnSpc>
            </a:pPr>
            <a:r>
              <a:rPr lang="en-US" sz="5918" b="true">
                <a:solidFill>
                  <a:srgbClr val="000B26"/>
                </a:solidFill>
                <a:latin typeface="Glacial Indifference Bold"/>
                <a:ea typeface="Glacial Indifference Bold"/>
                <a:cs typeface="Glacial Indifference Bold"/>
                <a:sym typeface="Glacial Indifference Bold"/>
              </a:rPr>
              <a:t>K</a:t>
            </a:r>
            <a:r>
              <a:rPr lang="en-US" sz="5918" b="true">
                <a:solidFill>
                  <a:srgbClr val="000B26"/>
                </a:solidFill>
                <a:latin typeface="Glacial Indifference Bold"/>
                <a:ea typeface="Glacial Indifference Bold"/>
                <a:cs typeface="Glacial Indifference Bold"/>
                <a:sym typeface="Glacial Indifference Bold"/>
              </a:rPr>
              <a:t>ết luận</a:t>
            </a:r>
          </a:p>
        </p:txBody>
      </p:sp>
      <p:sp>
        <p:nvSpPr>
          <p:cNvPr name="AutoShape 7" id="7"/>
          <p:cNvSpPr/>
          <p:nvPr/>
        </p:nvSpPr>
        <p:spPr>
          <a:xfrm>
            <a:off x="1462060" y="2651955"/>
            <a:ext cx="2836589" cy="0"/>
          </a:xfrm>
          <a:prstGeom prst="line">
            <a:avLst/>
          </a:prstGeom>
          <a:ln cap="rnd" w="95250">
            <a:solidFill>
              <a:srgbClr val="000B26"/>
            </a:solidFill>
            <a:prstDash val="solid"/>
            <a:headEnd type="none" len="sm" w="sm"/>
            <a:tailEnd type="none" len="sm" w="sm"/>
          </a:ln>
        </p:spPr>
      </p:sp>
      <p:sp>
        <p:nvSpPr>
          <p:cNvPr name="TextBox 8" id="8"/>
          <p:cNvSpPr txBox="true"/>
          <p:nvPr/>
        </p:nvSpPr>
        <p:spPr>
          <a:xfrm rot="0">
            <a:off x="1462060" y="3636277"/>
            <a:ext cx="8564533" cy="4086113"/>
          </a:xfrm>
          <a:prstGeom prst="rect">
            <a:avLst/>
          </a:prstGeom>
        </p:spPr>
        <p:txBody>
          <a:bodyPr anchor="t" rtlCol="false" tIns="0" lIns="0" bIns="0" rIns="0">
            <a:spAutoFit/>
          </a:bodyPr>
          <a:lstStyle/>
          <a:p>
            <a:pPr algn="l" marL="729137" indent="-364568" lvl="1">
              <a:lnSpc>
                <a:spcPts val="5403"/>
              </a:lnSpc>
              <a:buFont typeface="Arial"/>
              <a:buChar char="•"/>
            </a:pPr>
            <a:r>
              <a:rPr lang="en-US" sz="3377" spc="256">
                <a:solidFill>
                  <a:srgbClr val="000B26"/>
                </a:solidFill>
                <a:latin typeface="ABeeZee"/>
                <a:ea typeface="ABeeZee"/>
                <a:cs typeface="ABeeZee"/>
                <a:sym typeface="ABeeZee"/>
              </a:rPr>
              <a:t>Linear Regression cho kết quả tốt nhất trong ba mô hình.</a:t>
            </a:r>
          </a:p>
          <a:p>
            <a:pPr algn="l" marL="729137" indent="-364568" lvl="1">
              <a:lnSpc>
                <a:spcPts val="5403"/>
              </a:lnSpc>
              <a:buFont typeface="Arial"/>
              <a:buChar char="•"/>
            </a:pPr>
            <a:r>
              <a:rPr lang="en-US" sz="3377" spc="256">
                <a:solidFill>
                  <a:srgbClr val="000B26"/>
                </a:solidFill>
                <a:latin typeface="ABeeZee"/>
                <a:ea typeface="ABeeZee"/>
                <a:cs typeface="ABeeZee"/>
                <a:sym typeface="ABeeZee"/>
              </a:rPr>
              <a:t>Điểm tiềm năng phù hợp để sàng lọc bài đáng chú ý.</a:t>
            </a:r>
          </a:p>
          <a:p>
            <a:pPr algn="l" marL="729137" indent="-364568" lvl="1">
              <a:lnSpc>
                <a:spcPts val="5403"/>
              </a:lnSpc>
              <a:buFont typeface="Arial"/>
              <a:buChar char="•"/>
            </a:pPr>
            <a:r>
              <a:rPr lang="en-US" sz="3377" spc="256">
                <a:solidFill>
                  <a:srgbClr val="000B26"/>
                </a:solidFill>
                <a:latin typeface="ABeeZee"/>
                <a:ea typeface="ABeeZee"/>
                <a:cs typeface="ABeeZee"/>
                <a:sym typeface="ABeeZee"/>
              </a:rPr>
              <a:t>Mô hình dự báo và điểm tiềm năng nên được sử dụng kết hợp.</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1E3653"/>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4198435" y="7769386"/>
            <a:ext cx="12479089" cy="4447094"/>
          </a:xfrm>
          <a:custGeom>
            <a:avLst/>
            <a:gdLst/>
            <a:ahLst/>
            <a:cxnLst/>
            <a:rect r="r" b="b" t="t" l="l"/>
            <a:pathLst>
              <a:path h="4447094" w="12479089">
                <a:moveTo>
                  <a:pt x="0" y="0"/>
                </a:moveTo>
                <a:lnTo>
                  <a:pt x="12479089" y="0"/>
                </a:lnTo>
                <a:lnTo>
                  <a:pt x="12479089" y="4447093"/>
                </a:lnTo>
                <a:lnTo>
                  <a:pt x="0" y="444709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997837" y="3535045"/>
            <a:ext cx="9027043" cy="3216910"/>
          </a:xfrm>
          <a:custGeom>
            <a:avLst/>
            <a:gdLst/>
            <a:ahLst/>
            <a:cxnLst/>
            <a:rect r="r" b="b" t="t" l="l"/>
            <a:pathLst>
              <a:path h="3216910" w="9027043">
                <a:moveTo>
                  <a:pt x="0" y="0"/>
                </a:moveTo>
                <a:lnTo>
                  <a:pt x="9027043" y="0"/>
                </a:lnTo>
                <a:lnTo>
                  <a:pt x="9027043" y="3216910"/>
                </a:lnTo>
                <a:lnTo>
                  <a:pt x="0" y="32169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688695" y="1154090"/>
            <a:ext cx="7151923" cy="7978819"/>
          </a:xfrm>
          <a:custGeom>
            <a:avLst/>
            <a:gdLst/>
            <a:ahLst/>
            <a:cxnLst/>
            <a:rect r="r" b="b" t="t" l="l"/>
            <a:pathLst>
              <a:path h="7978819" w="7151923">
                <a:moveTo>
                  <a:pt x="0" y="0"/>
                </a:moveTo>
                <a:lnTo>
                  <a:pt x="7151923" y="0"/>
                </a:lnTo>
                <a:lnTo>
                  <a:pt x="7151923" y="7978820"/>
                </a:lnTo>
                <a:lnTo>
                  <a:pt x="0" y="79788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12361318" y="1173140"/>
            <a:ext cx="4603852" cy="877791"/>
          </a:xfrm>
          <a:prstGeom prst="rect">
            <a:avLst/>
          </a:prstGeom>
        </p:spPr>
        <p:txBody>
          <a:bodyPr anchor="t" rtlCol="false" tIns="0" lIns="0" bIns="0" rIns="0">
            <a:spAutoFit/>
          </a:bodyPr>
          <a:lstStyle/>
          <a:p>
            <a:pPr algn="r">
              <a:lnSpc>
                <a:spcPts val="6865"/>
              </a:lnSpc>
            </a:pPr>
            <a:r>
              <a:rPr lang="en-US" sz="5918" b="true">
                <a:solidFill>
                  <a:srgbClr val="EFEFDA"/>
                </a:solidFill>
                <a:latin typeface="Glacial Indifference Bold"/>
                <a:ea typeface="Glacial Indifference Bold"/>
                <a:cs typeface="Glacial Indifference Bold"/>
                <a:sym typeface="Glacial Indifference Bold"/>
              </a:rPr>
              <a:t>Ứ</a:t>
            </a:r>
            <a:r>
              <a:rPr lang="en-US" b="true" sz="5918">
                <a:solidFill>
                  <a:srgbClr val="EFEFDA"/>
                </a:solidFill>
                <a:latin typeface="Glacial Indifference Bold"/>
                <a:ea typeface="Glacial Indifference Bold"/>
                <a:cs typeface="Glacial Indifference Bold"/>
                <a:sym typeface="Glacial Indifference Bold"/>
              </a:rPr>
              <a:t>ng dụng</a:t>
            </a:r>
          </a:p>
        </p:txBody>
      </p:sp>
      <p:sp>
        <p:nvSpPr>
          <p:cNvPr name="AutoShape 6" id="6"/>
          <p:cNvSpPr/>
          <p:nvPr/>
        </p:nvSpPr>
        <p:spPr>
          <a:xfrm flipV="true">
            <a:off x="13466496" y="2098556"/>
            <a:ext cx="3498674" cy="0"/>
          </a:xfrm>
          <a:prstGeom prst="line">
            <a:avLst/>
          </a:prstGeom>
          <a:ln cap="rnd" w="95250">
            <a:solidFill>
              <a:srgbClr val="EFEFDA"/>
            </a:solidFill>
            <a:prstDash val="solid"/>
            <a:headEnd type="none" len="sm" w="sm"/>
            <a:tailEnd type="none" len="sm" w="sm"/>
          </a:ln>
        </p:spPr>
      </p:sp>
      <p:sp>
        <p:nvSpPr>
          <p:cNvPr name="TextBox 7" id="7"/>
          <p:cNvSpPr txBox="true"/>
          <p:nvPr/>
        </p:nvSpPr>
        <p:spPr>
          <a:xfrm rot="0">
            <a:off x="8507344" y="2319319"/>
            <a:ext cx="8977856" cy="2877517"/>
          </a:xfrm>
          <a:prstGeom prst="rect">
            <a:avLst/>
          </a:prstGeom>
        </p:spPr>
        <p:txBody>
          <a:bodyPr anchor="t" rtlCol="false" tIns="0" lIns="0" bIns="0" rIns="0">
            <a:spAutoFit/>
          </a:bodyPr>
          <a:lstStyle/>
          <a:p>
            <a:pPr algn="just" marL="664369" indent="-332184" lvl="1">
              <a:lnSpc>
                <a:spcPts val="4585"/>
              </a:lnSpc>
              <a:buFont typeface="Arial"/>
              <a:buChar char="•"/>
            </a:pPr>
            <a:r>
              <a:rPr lang="en-US" sz="3077" spc="233">
                <a:solidFill>
                  <a:srgbClr val="EFEFDA"/>
                </a:solidFill>
                <a:latin typeface="ABeeZee"/>
                <a:ea typeface="ABeeZee"/>
                <a:cs typeface="ABeeZee"/>
                <a:sym typeface="ABeeZee"/>
              </a:rPr>
              <a:t>Hỗ</a:t>
            </a:r>
            <a:r>
              <a:rPr lang="en-US" sz="3077" spc="233">
                <a:solidFill>
                  <a:srgbClr val="EFEFDA"/>
                </a:solidFill>
                <a:latin typeface="ABeeZee"/>
                <a:ea typeface="ABeeZee"/>
                <a:cs typeface="ABeeZee"/>
                <a:sym typeface="ABeeZee"/>
              </a:rPr>
              <a:t> trợ nghệ sĩ, hãng nhạc hoặc nhãn hàng:</a:t>
            </a:r>
          </a:p>
          <a:p>
            <a:pPr algn="just" marL="664369" indent="-332184" lvl="1">
              <a:lnSpc>
                <a:spcPts val="4585"/>
              </a:lnSpc>
              <a:buFont typeface="Arial"/>
              <a:buChar char="•"/>
            </a:pPr>
            <a:r>
              <a:rPr lang="en-US" sz="3077" spc="233">
                <a:solidFill>
                  <a:srgbClr val="EFEFDA"/>
                </a:solidFill>
                <a:latin typeface="ABeeZee"/>
                <a:ea typeface="ABeeZee"/>
                <a:cs typeface="ABeeZee"/>
                <a:sym typeface="ABeeZee"/>
              </a:rPr>
              <a:t>Theo dõi bài hát tiềm năng.</a:t>
            </a:r>
          </a:p>
          <a:p>
            <a:pPr algn="just" marL="664369" indent="-332184" lvl="1">
              <a:lnSpc>
                <a:spcPts val="4585"/>
              </a:lnSpc>
              <a:buFont typeface="Arial"/>
              <a:buChar char="•"/>
            </a:pPr>
            <a:r>
              <a:rPr lang="en-US" sz="3077" spc="233">
                <a:solidFill>
                  <a:srgbClr val="EFEFDA"/>
                </a:solidFill>
                <a:latin typeface="ABeeZee"/>
                <a:ea typeface="ABeeZee"/>
                <a:cs typeface="ABeeZee"/>
                <a:sym typeface="ABeeZee"/>
              </a:rPr>
              <a:t>Đánh giá xu hướng.</a:t>
            </a:r>
          </a:p>
          <a:p>
            <a:pPr algn="just" marL="664369" indent="-332184" lvl="1">
              <a:lnSpc>
                <a:spcPts val="4585"/>
              </a:lnSpc>
              <a:buFont typeface="Arial"/>
              <a:buChar char="•"/>
            </a:pPr>
            <a:r>
              <a:rPr lang="en-US" sz="3077" spc="233">
                <a:solidFill>
                  <a:srgbClr val="EFEFDA"/>
                </a:solidFill>
                <a:latin typeface="ABeeZee"/>
                <a:ea typeface="ABeeZee"/>
                <a:cs typeface="ABeeZee"/>
                <a:sym typeface="ABeeZee"/>
              </a:rPr>
              <a:t>Hỗ trợ phân bổ nguồn lực marketing.</a:t>
            </a:r>
          </a:p>
        </p:txBody>
      </p:sp>
      <p:sp>
        <p:nvSpPr>
          <p:cNvPr name="TextBox 8" id="8"/>
          <p:cNvSpPr txBox="true"/>
          <p:nvPr/>
        </p:nvSpPr>
        <p:spPr>
          <a:xfrm rot="0">
            <a:off x="6846955" y="5767308"/>
            <a:ext cx="4603852" cy="877791"/>
          </a:xfrm>
          <a:prstGeom prst="rect">
            <a:avLst/>
          </a:prstGeom>
        </p:spPr>
        <p:txBody>
          <a:bodyPr anchor="t" rtlCol="false" tIns="0" lIns="0" bIns="0" rIns="0">
            <a:spAutoFit/>
          </a:bodyPr>
          <a:lstStyle/>
          <a:p>
            <a:pPr algn="r">
              <a:lnSpc>
                <a:spcPts val="6865"/>
              </a:lnSpc>
            </a:pPr>
            <a:r>
              <a:rPr lang="en-US" sz="5918" b="true">
                <a:solidFill>
                  <a:srgbClr val="EFEFDA"/>
                </a:solidFill>
                <a:latin typeface="Glacial Indifference Bold"/>
                <a:ea typeface="Glacial Indifference Bold"/>
                <a:cs typeface="Glacial Indifference Bold"/>
                <a:sym typeface="Glacial Indifference Bold"/>
              </a:rPr>
              <a:t>Hạn chế</a:t>
            </a:r>
          </a:p>
        </p:txBody>
      </p:sp>
      <p:sp>
        <p:nvSpPr>
          <p:cNvPr name="TextBox 9" id="9"/>
          <p:cNvSpPr txBox="true"/>
          <p:nvPr/>
        </p:nvSpPr>
        <p:spPr>
          <a:xfrm rot="0">
            <a:off x="8757988" y="7159449"/>
            <a:ext cx="8727211" cy="2296492"/>
          </a:xfrm>
          <a:prstGeom prst="rect">
            <a:avLst/>
          </a:prstGeom>
        </p:spPr>
        <p:txBody>
          <a:bodyPr anchor="t" rtlCol="false" tIns="0" lIns="0" bIns="0" rIns="0">
            <a:spAutoFit/>
          </a:bodyPr>
          <a:lstStyle/>
          <a:p>
            <a:pPr algn="just">
              <a:lnSpc>
                <a:spcPts val="4585"/>
              </a:lnSpc>
            </a:pPr>
            <a:r>
              <a:rPr lang="en-US" sz="3077" spc="233">
                <a:solidFill>
                  <a:srgbClr val="EFEFDA"/>
                </a:solidFill>
                <a:latin typeface="ABeeZee"/>
                <a:ea typeface="ABeeZee"/>
                <a:cs typeface="ABeeZee"/>
                <a:sym typeface="ABeeZee"/>
              </a:rPr>
              <a:t>Dữ liệu chỉ gồm 12 tuần và giới hạn trong Spotify Top 200.</a:t>
            </a:r>
          </a:p>
          <a:p>
            <a:pPr algn="just">
              <a:lnSpc>
                <a:spcPts val="4585"/>
              </a:lnSpc>
            </a:pPr>
            <a:r>
              <a:rPr lang="en-US" sz="3077" spc="233">
                <a:solidFill>
                  <a:srgbClr val="EFEFDA"/>
                </a:solidFill>
                <a:latin typeface="ABeeZee"/>
                <a:ea typeface="ABeeZee"/>
                <a:cs typeface="ABeeZee"/>
                <a:sym typeface="ABeeZee"/>
              </a:rPr>
              <a:t>Chưa có các yếu tố mạng xã hội, quảng cáo, playlist, sự kiện âm nhạc...</a:t>
            </a:r>
          </a:p>
        </p:txBody>
      </p:sp>
      <p:sp>
        <p:nvSpPr>
          <p:cNvPr name="AutoShape 10" id="10"/>
          <p:cNvSpPr/>
          <p:nvPr/>
        </p:nvSpPr>
        <p:spPr>
          <a:xfrm>
            <a:off x="8507344" y="6692724"/>
            <a:ext cx="2943463" cy="0"/>
          </a:xfrm>
          <a:prstGeom prst="line">
            <a:avLst/>
          </a:prstGeom>
          <a:ln cap="rnd" w="95250">
            <a:solidFill>
              <a:srgbClr val="EFEFDA"/>
            </a:solidFill>
            <a:prstDash val="solid"/>
            <a:headEnd type="none" len="sm" w="sm"/>
            <a:tailEnd type="none" len="sm" w="sm"/>
          </a:ln>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1E3653"/>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3704602" y="-1235761"/>
            <a:ext cx="4605156" cy="1641110"/>
          </a:xfrm>
          <a:custGeom>
            <a:avLst/>
            <a:gdLst/>
            <a:ahLst/>
            <a:cxnLst/>
            <a:rect r="r" b="b" t="t" l="l"/>
            <a:pathLst>
              <a:path h="1641110" w="4605156">
                <a:moveTo>
                  <a:pt x="0" y="0"/>
                </a:moveTo>
                <a:lnTo>
                  <a:pt x="4605156" y="0"/>
                </a:lnTo>
                <a:lnTo>
                  <a:pt x="4605156" y="1641110"/>
                </a:lnTo>
                <a:lnTo>
                  <a:pt x="0" y="16411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4683840" y="5712540"/>
            <a:ext cx="14554305" cy="5186625"/>
          </a:xfrm>
          <a:custGeom>
            <a:avLst/>
            <a:gdLst/>
            <a:ahLst/>
            <a:cxnLst/>
            <a:rect r="r" b="b" t="t" l="l"/>
            <a:pathLst>
              <a:path h="5186625" w="14554305">
                <a:moveTo>
                  <a:pt x="0" y="0"/>
                </a:moveTo>
                <a:lnTo>
                  <a:pt x="14554305" y="0"/>
                </a:lnTo>
                <a:lnTo>
                  <a:pt x="14554305" y="5186625"/>
                </a:lnTo>
                <a:lnTo>
                  <a:pt x="0" y="51866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2828134" y="9947562"/>
            <a:ext cx="8309635" cy="2961252"/>
          </a:xfrm>
          <a:custGeom>
            <a:avLst/>
            <a:gdLst/>
            <a:ahLst/>
            <a:cxnLst/>
            <a:rect r="r" b="b" t="t" l="l"/>
            <a:pathLst>
              <a:path h="2961252" w="8309635">
                <a:moveTo>
                  <a:pt x="0" y="0"/>
                </a:moveTo>
                <a:lnTo>
                  <a:pt x="8309635" y="0"/>
                </a:lnTo>
                <a:lnTo>
                  <a:pt x="8309635" y="2961252"/>
                </a:lnTo>
                <a:lnTo>
                  <a:pt x="0" y="29612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6461622" y="6221216"/>
            <a:ext cx="10607035" cy="154284"/>
          </a:xfrm>
          <a:custGeom>
            <a:avLst/>
            <a:gdLst/>
            <a:ahLst/>
            <a:cxnLst/>
            <a:rect r="r" b="b" t="t" l="l"/>
            <a:pathLst>
              <a:path h="154284" w="10607035">
                <a:moveTo>
                  <a:pt x="0" y="0"/>
                </a:moveTo>
                <a:lnTo>
                  <a:pt x="10607035" y="0"/>
                </a:lnTo>
                <a:lnTo>
                  <a:pt x="10607035" y="154284"/>
                </a:lnTo>
                <a:lnTo>
                  <a:pt x="0" y="15428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6007180" y="3482096"/>
            <a:ext cx="11061476" cy="2534489"/>
          </a:xfrm>
          <a:prstGeom prst="rect">
            <a:avLst/>
          </a:prstGeom>
        </p:spPr>
        <p:txBody>
          <a:bodyPr anchor="t" rtlCol="false" tIns="0" lIns="0" bIns="0" rIns="0">
            <a:spAutoFit/>
          </a:bodyPr>
          <a:lstStyle/>
          <a:p>
            <a:pPr algn="ctr">
              <a:lnSpc>
                <a:spcPts val="19766"/>
              </a:lnSpc>
            </a:pPr>
            <a:r>
              <a:rPr lang="en-US" sz="17040" b="true">
                <a:solidFill>
                  <a:srgbClr val="EFEFDA"/>
                </a:solidFill>
                <a:latin typeface="Glacial Indifference Bold"/>
                <a:ea typeface="Glacial Indifference Bold"/>
                <a:cs typeface="Glacial Indifference Bold"/>
                <a:sym typeface="Glacial Indifference Bold"/>
              </a:rPr>
              <a:t>Cảm ơn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DAHMDoW0xSg</dc:identifier>
  <dcterms:modified xsi:type="dcterms:W3CDTF">2011-08-01T06:04:30Z</dcterms:modified>
  <cp:revision>1</cp:revision>
  <dc:title>Slide_Phan_tich_Spotify</dc:title>
</cp:coreProperties>
</file>