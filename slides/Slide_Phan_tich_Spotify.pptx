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lacial Indifference Bold" charset="1" panose="00000800000000000000"/>
      <p:regular r:id="rId17"/>
    </p:embeddedFont>
    <p:embeddedFont>
      <p:font typeface="ABeeZee Bold" charset="1" panose="02000000000000000000"/>
      <p:regular r:id="rId18"/>
    </p:embeddedFont>
    <p:embeddedFont>
      <p:font typeface="ABeeZee"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704602" y="-1235761"/>
            <a:ext cx="4605156" cy="1641110"/>
          </a:xfrm>
          <a:custGeom>
            <a:avLst/>
            <a:gdLst/>
            <a:ahLst/>
            <a:cxnLst/>
            <a:rect r="r" b="b" t="t" l="l"/>
            <a:pathLst>
              <a:path h="1641110" w="4605156">
                <a:moveTo>
                  <a:pt x="0" y="0"/>
                </a:moveTo>
                <a:lnTo>
                  <a:pt x="4605156" y="0"/>
                </a:lnTo>
                <a:lnTo>
                  <a:pt x="4605156" y="1641110"/>
                </a:lnTo>
                <a:lnTo>
                  <a:pt x="0" y="164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796885" y="5712540"/>
            <a:ext cx="14554305" cy="5186625"/>
          </a:xfrm>
          <a:custGeom>
            <a:avLst/>
            <a:gdLst/>
            <a:ahLst/>
            <a:cxnLst/>
            <a:rect r="r" b="b" t="t" l="l"/>
            <a:pathLst>
              <a:path h="5186625" w="14554305">
                <a:moveTo>
                  <a:pt x="0" y="0"/>
                </a:moveTo>
                <a:lnTo>
                  <a:pt x="14554305" y="0"/>
                </a:lnTo>
                <a:lnTo>
                  <a:pt x="14554305" y="5186625"/>
                </a:lnTo>
                <a:lnTo>
                  <a:pt x="0" y="518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828134" y="9947562"/>
            <a:ext cx="8309635" cy="2961252"/>
          </a:xfrm>
          <a:custGeom>
            <a:avLst/>
            <a:gdLst/>
            <a:ahLst/>
            <a:cxnLst/>
            <a:rect r="r" b="b" t="t" l="l"/>
            <a:pathLst>
              <a:path h="2961252" w="8309635">
                <a:moveTo>
                  <a:pt x="0" y="0"/>
                </a:moveTo>
                <a:lnTo>
                  <a:pt x="8309635" y="0"/>
                </a:lnTo>
                <a:lnTo>
                  <a:pt x="8309635" y="2961252"/>
                </a:lnTo>
                <a:lnTo>
                  <a:pt x="0" y="2961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028700" y="1325597"/>
            <a:ext cx="6283289" cy="8999503"/>
          </a:xfrm>
          <a:custGeom>
            <a:avLst/>
            <a:gdLst/>
            <a:ahLst/>
            <a:cxnLst/>
            <a:rect r="r" b="b" t="t" l="l"/>
            <a:pathLst>
              <a:path h="8999503" w="6283289">
                <a:moveTo>
                  <a:pt x="6283289" y="0"/>
                </a:moveTo>
                <a:lnTo>
                  <a:pt x="0" y="0"/>
                </a:lnTo>
                <a:lnTo>
                  <a:pt x="0" y="8999503"/>
                </a:lnTo>
                <a:lnTo>
                  <a:pt x="6283289" y="8999503"/>
                </a:lnTo>
                <a:lnTo>
                  <a:pt x="628328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032161" y="5337377"/>
            <a:ext cx="8857906" cy="128842"/>
          </a:xfrm>
          <a:custGeom>
            <a:avLst/>
            <a:gdLst/>
            <a:ahLst/>
            <a:cxnLst/>
            <a:rect r="r" b="b" t="t" l="l"/>
            <a:pathLst>
              <a:path h="128842" w="8857906">
                <a:moveTo>
                  <a:pt x="0" y="0"/>
                </a:moveTo>
                <a:lnTo>
                  <a:pt x="8857906" y="0"/>
                </a:lnTo>
                <a:lnTo>
                  <a:pt x="8857906" y="128843"/>
                </a:lnTo>
                <a:lnTo>
                  <a:pt x="0" y="1288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823547" y="6774178"/>
            <a:ext cx="5066520" cy="1043703"/>
          </a:xfrm>
          <a:custGeom>
            <a:avLst/>
            <a:gdLst/>
            <a:ahLst/>
            <a:cxnLst/>
            <a:rect r="r" b="b" t="t" l="l"/>
            <a:pathLst>
              <a:path h="1043703" w="5066520">
                <a:moveTo>
                  <a:pt x="0" y="0"/>
                </a:moveTo>
                <a:lnTo>
                  <a:pt x="5066520" y="0"/>
                </a:lnTo>
                <a:lnTo>
                  <a:pt x="5066520" y="1043704"/>
                </a:lnTo>
                <a:lnTo>
                  <a:pt x="0" y="10437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7789964" y="1906422"/>
            <a:ext cx="9100103" cy="2824734"/>
          </a:xfrm>
          <a:prstGeom prst="rect">
            <a:avLst/>
          </a:prstGeom>
        </p:spPr>
        <p:txBody>
          <a:bodyPr anchor="t" rtlCol="false" tIns="0" lIns="0" bIns="0" rIns="0">
            <a:spAutoFit/>
          </a:bodyPr>
          <a:lstStyle/>
          <a:p>
            <a:pPr algn="just">
              <a:lnSpc>
                <a:spcPts val="5567"/>
              </a:lnSpc>
            </a:pPr>
            <a:r>
              <a:rPr lang="en-US" sz="4800" b="true">
                <a:solidFill>
                  <a:srgbClr val="EFEFDA"/>
                </a:solidFill>
                <a:latin typeface="Glacial Indifference Bold"/>
                <a:ea typeface="Glacial Indifference Bold"/>
                <a:cs typeface="Glacial Indifference Bold"/>
                <a:sym typeface="Glacial Indifference Bold"/>
              </a:rPr>
              <a:t>Phân </a:t>
            </a:r>
            <a:r>
              <a:rPr lang="en-US" b="true" sz="4800">
                <a:solidFill>
                  <a:srgbClr val="EFEFDA"/>
                </a:solidFill>
                <a:latin typeface="Glacial Indifference Bold"/>
                <a:ea typeface="Glacial Indifference Bold"/>
                <a:cs typeface="Glacial Indifference Bold"/>
                <a:sym typeface="Glacial Indifference Bold"/>
              </a:rPr>
              <a:t>tích dữ liệu bảng xếp hạng Spotify Việt Nam nhằm dự đoán lượt nghe và nhận diện bài hát tiềm năng</a:t>
            </a:r>
          </a:p>
        </p:txBody>
      </p:sp>
      <p:sp>
        <p:nvSpPr>
          <p:cNvPr name="TextBox 9" id="9"/>
          <p:cNvSpPr txBox="true"/>
          <p:nvPr/>
        </p:nvSpPr>
        <p:spPr>
          <a:xfrm rot="0">
            <a:off x="8032161" y="5652053"/>
            <a:ext cx="8857906" cy="623298"/>
          </a:xfrm>
          <a:prstGeom prst="rect">
            <a:avLst/>
          </a:prstGeom>
        </p:spPr>
        <p:txBody>
          <a:bodyPr anchor="t" rtlCol="false" tIns="0" lIns="0" bIns="0" rIns="0">
            <a:spAutoFit/>
          </a:bodyPr>
          <a:lstStyle/>
          <a:p>
            <a:pPr algn="r">
              <a:lnSpc>
                <a:spcPts val="5020"/>
              </a:lnSpc>
            </a:pPr>
            <a:r>
              <a:rPr lang="en-US" sz="3585">
                <a:solidFill>
                  <a:srgbClr val="EFEFDA"/>
                </a:solidFill>
                <a:latin typeface="ABeeZee Bold"/>
                <a:ea typeface="ABeeZee Bold"/>
                <a:cs typeface="ABeeZee Bold"/>
                <a:sym typeface="ABeeZee Bold"/>
              </a:rPr>
              <a:t>Understanding Trends and Opportunities</a:t>
            </a:r>
          </a:p>
        </p:txBody>
      </p:sp>
      <p:sp>
        <p:nvSpPr>
          <p:cNvPr name="TextBox 10" id="10"/>
          <p:cNvSpPr txBox="true"/>
          <p:nvPr/>
        </p:nvSpPr>
        <p:spPr>
          <a:xfrm rot="0">
            <a:off x="12142968" y="6966374"/>
            <a:ext cx="4427678" cy="547319"/>
          </a:xfrm>
          <a:prstGeom prst="rect">
            <a:avLst/>
          </a:prstGeom>
        </p:spPr>
        <p:txBody>
          <a:bodyPr anchor="t" rtlCol="false" tIns="0" lIns="0" bIns="0" rIns="0">
            <a:spAutoFit/>
          </a:bodyPr>
          <a:lstStyle/>
          <a:p>
            <a:pPr algn="ctr">
              <a:lnSpc>
                <a:spcPts val="4482"/>
              </a:lnSpc>
            </a:pPr>
            <a:r>
              <a:rPr lang="en-US" sz="3202" spc="243">
                <a:solidFill>
                  <a:srgbClr val="EFEFDA"/>
                </a:solidFill>
                <a:latin typeface="ABeeZee Bold"/>
                <a:ea typeface="ABeeZee Bold"/>
                <a:cs typeface="ABeeZee Bold"/>
                <a:sym typeface="ABeeZee Bold"/>
              </a:rPr>
              <a:t>by Northline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1157375" y="3129428"/>
            <a:ext cx="15973249" cy="6128872"/>
            <a:chOff x="0" y="0"/>
            <a:chExt cx="4206946" cy="1614188"/>
          </a:xfrm>
        </p:grpSpPr>
        <p:sp>
          <p:nvSpPr>
            <p:cNvPr name="Freeform 3" id="3"/>
            <p:cNvSpPr/>
            <p:nvPr/>
          </p:nvSpPr>
          <p:spPr>
            <a:xfrm flipH="false" flipV="false" rot="0">
              <a:off x="0" y="0"/>
              <a:ext cx="4206946" cy="1614188"/>
            </a:xfrm>
            <a:custGeom>
              <a:avLst/>
              <a:gdLst/>
              <a:ahLst/>
              <a:cxnLst/>
              <a:rect r="r" b="b" t="t" l="l"/>
              <a:pathLst>
                <a:path h="1614188" w="4206946">
                  <a:moveTo>
                    <a:pt x="24719" y="0"/>
                  </a:moveTo>
                  <a:lnTo>
                    <a:pt x="4182228" y="0"/>
                  </a:lnTo>
                  <a:cubicBezTo>
                    <a:pt x="4195880" y="0"/>
                    <a:pt x="4206946" y="11067"/>
                    <a:pt x="4206946" y="24719"/>
                  </a:cubicBezTo>
                  <a:lnTo>
                    <a:pt x="4206946" y="1589470"/>
                  </a:lnTo>
                  <a:cubicBezTo>
                    <a:pt x="4206946" y="1603121"/>
                    <a:pt x="4195880" y="1614188"/>
                    <a:pt x="4182228" y="1614188"/>
                  </a:cubicBezTo>
                  <a:lnTo>
                    <a:pt x="24719" y="1614188"/>
                  </a:lnTo>
                  <a:cubicBezTo>
                    <a:pt x="11067" y="1614188"/>
                    <a:pt x="0" y="1603121"/>
                    <a:pt x="0" y="1589470"/>
                  </a:cubicBezTo>
                  <a:lnTo>
                    <a:pt x="0" y="24719"/>
                  </a:lnTo>
                  <a:cubicBezTo>
                    <a:pt x="0" y="11067"/>
                    <a:pt x="11067" y="0"/>
                    <a:pt x="24719" y="0"/>
                  </a:cubicBezTo>
                  <a:close/>
                </a:path>
              </a:pathLst>
            </a:custGeom>
            <a:solidFill>
              <a:srgbClr val="2F5972"/>
            </a:solidFill>
            <a:ln w="95250" cap="rnd">
              <a:solidFill>
                <a:srgbClr val="EFEFDA"/>
              </a:solidFill>
              <a:prstDash val="solid"/>
              <a:round/>
            </a:ln>
          </p:spPr>
        </p:sp>
        <p:sp>
          <p:nvSpPr>
            <p:cNvPr name="TextBox 4" id="4"/>
            <p:cNvSpPr txBox="true"/>
            <p:nvPr/>
          </p:nvSpPr>
          <p:spPr>
            <a:xfrm>
              <a:off x="0" y="-38100"/>
              <a:ext cx="4206946" cy="16522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247277" y="1372279"/>
            <a:ext cx="9793447" cy="1825663"/>
            <a:chOff x="0" y="0"/>
            <a:chExt cx="2579344" cy="480833"/>
          </a:xfrm>
        </p:grpSpPr>
        <p:sp>
          <p:nvSpPr>
            <p:cNvPr name="Freeform 6" id="6"/>
            <p:cNvSpPr/>
            <p:nvPr/>
          </p:nvSpPr>
          <p:spPr>
            <a:xfrm flipH="false" flipV="false" rot="0">
              <a:off x="0" y="0"/>
              <a:ext cx="2579344" cy="480833"/>
            </a:xfrm>
            <a:custGeom>
              <a:avLst/>
              <a:gdLst/>
              <a:ahLst/>
              <a:cxnLst/>
              <a:rect r="r" b="b" t="t" l="l"/>
              <a:pathLst>
                <a:path h="480833" w="2579344">
                  <a:moveTo>
                    <a:pt x="79052" y="0"/>
                  </a:moveTo>
                  <a:lnTo>
                    <a:pt x="2500292" y="0"/>
                  </a:lnTo>
                  <a:cubicBezTo>
                    <a:pt x="2543951" y="0"/>
                    <a:pt x="2579344" y="35393"/>
                    <a:pt x="2579344" y="79052"/>
                  </a:cubicBezTo>
                  <a:lnTo>
                    <a:pt x="2579344" y="401781"/>
                  </a:lnTo>
                  <a:cubicBezTo>
                    <a:pt x="2579344" y="445440"/>
                    <a:pt x="2543951" y="480833"/>
                    <a:pt x="2500292" y="480833"/>
                  </a:cubicBezTo>
                  <a:lnTo>
                    <a:pt x="79052" y="480833"/>
                  </a:lnTo>
                  <a:cubicBezTo>
                    <a:pt x="35393" y="480833"/>
                    <a:pt x="0" y="445440"/>
                    <a:pt x="0" y="401781"/>
                  </a:cubicBezTo>
                  <a:lnTo>
                    <a:pt x="0" y="79052"/>
                  </a:lnTo>
                  <a:cubicBezTo>
                    <a:pt x="0" y="35393"/>
                    <a:pt x="35393" y="0"/>
                    <a:pt x="79052" y="0"/>
                  </a:cubicBezTo>
                  <a:close/>
                </a:path>
              </a:pathLst>
            </a:custGeom>
            <a:solidFill>
              <a:srgbClr val="EFEFDA"/>
            </a:solidFill>
          </p:spPr>
        </p:sp>
        <p:sp>
          <p:nvSpPr>
            <p:cNvPr name="TextBox 7" id="7"/>
            <p:cNvSpPr txBox="true"/>
            <p:nvPr/>
          </p:nvSpPr>
          <p:spPr>
            <a:xfrm>
              <a:off x="0" y="-38100"/>
              <a:ext cx="2579344" cy="5189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721322" y="4519091"/>
            <a:ext cx="2701964" cy="270196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6130" y="0"/>
                  </a:moveTo>
                  <a:lnTo>
                    <a:pt x="666670" y="0"/>
                  </a:lnTo>
                  <a:cubicBezTo>
                    <a:pt x="705426" y="0"/>
                    <a:pt x="742595" y="15396"/>
                    <a:pt x="770000" y="42800"/>
                  </a:cubicBezTo>
                  <a:cubicBezTo>
                    <a:pt x="797404" y="70205"/>
                    <a:pt x="812800" y="107374"/>
                    <a:pt x="812800" y="146130"/>
                  </a:cubicBezTo>
                  <a:lnTo>
                    <a:pt x="812800" y="666670"/>
                  </a:lnTo>
                  <a:cubicBezTo>
                    <a:pt x="812800" y="705426"/>
                    <a:pt x="797404" y="742595"/>
                    <a:pt x="770000" y="770000"/>
                  </a:cubicBezTo>
                  <a:cubicBezTo>
                    <a:pt x="742595" y="797404"/>
                    <a:pt x="705426" y="812800"/>
                    <a:pt x="666670" y="812800"/>
                  </a:cubicBezTo>
                  <a:lnTo>
                    <a:pt x="146130" y="812800"/>
                  </a:lnTo>
                  <a:cubicBezTo>
                    <a:pt x="107374" y="812800"/>
                    <a:pt x="70205" y="797404"/>
                    <a:pt x="42800" y="770000"/>
                  </a:cubicBezTo>
                  <a:cubicBezTo>
                    <a:pt x="15396" y="742595"/>
                    <a:pt x="0" y="705426"/>
                    <a:pt x="0" y="666670"/>
                  </a:cubicBezTo>
                  <a:lnTo>
                    <a:pt x="0" y="146130"/>
                  </a:lnTo>
                  <a:cubicBezTo>
                    <a:pt x="0" y="107374"/>
                    <a:pt x="15396" y="70205"/>
                    <a:pt x="42800" y="42800"/>
                  </a:cubicBezTo>
                  <a:cubicBezTo>
                    <a:pt x="70205" y="15396"/>
                    <a:pt x="107374" y="0"/>
                    <a:pt x="146130" y="0"/>
                  </a:cubicBezTo>
                  <a:close/>
                </a:path>
              </a:pathLst>
            </a:custGeom>
            <a:blipFill>
              <a:blip r:embed="rId2"/>
              <a:stretch>
                <a:fillRect l="-6782" t="0" r="-6782" b="0"/>
              </a:stretch>
            </a:blipFill>
            <a:ln w="66675" cap="rnd">
              <a:solidFill>
                <a:srgbClr val="EFEFDA"/>
              </a:solidFill>
              <a:prstDash val="solid"/>
              <a:round/>
            </a:ln>
          </p:spPr>
        </p:sp>
      </p:grpSp>
      <p:sp>
        <p:nvSpPr>
          <p:cNvPr name="AutoShape 10" id="10"/>
          <p:cNvSpPr/>
          <p:nvPr/>
        </p:nvSpPr>
        <p:spPr>
          <a:xfrm>
            <a:off x="4378878" y="7718628"/>
            <a:ext cx="3386850" cy="0"/>
          </a:xfrm>
          <a:prstGeom prst="line">
            <a:avLst/>
          </a:prstGeom>
          <a:ln cap="rnd" w="76200">
            <a:solidFill>
              <a:srgbClr val="EFEFDA"/>
            </a:solidFill>
            <a:prstDash val="solid"/>
            <a:headEnd type="none" len="sm" w="sm"/>
            <a:tailEnd type="none" len="sm" w="sm"/>
          </a:ln>
        </p:spPr>
      </p:sp>
      <p:grpSp>
        <p:nvGrpSpPr>
          <p:cNvPr name="Group 11" id="11"/>
          <p:cNvGrpSpPr/>
          <p:nvPr/>
        </p:nvGrpSpPr>
        <p:grpSpPr>
          <a:xfrm rot="0">
            <a:off x="10864715" y="4519091"/>
            <a:ext cx="2701964" cy="270196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6130" y="0"/>
                  </a:moveTo>
                  <a:lnTo>
                    <a:pt x="666670" y="0"/>
                  </a:lnTo>
                  <a:cubicBezTo>
                    <a:pt x="705426" y="0"/>
                    <a:pt x="742595" y="15396"/>
                    <a:pt x="770000" y="42800"/>
                  </a:cubicBezTo>
                  <a:cubicBezTo>
                    <a:pt x="797404" y="70205"/>
                    <a:pt x="812800" y="107374"/>
                    <a:pt x="812800" y="146130"/>
                  </a:cubicBezTo>
                  <a:lnTo>
                    <a:pt x="812800" y="666670"/>
                  </a:lnTo>
                  <a:cubicBezTo>
                    <a:pt x="812800" y="705426"/>
                    <a:pt x="797404" y="742595"/>
                    <a:pt x="770000" y="770000"/>
                  </a:cubicBezTo>
                  <a:cubicBezTo>
                    <a:pt x="742595" y="797404"/>
                    <a:pt x="705426" y="812800"/>
                    <a:pt x="666670" y="812800"/>
                  </a:cubicBezTo>
                  <a:lnTo>
                    <a:pt x="146130" y="812800"/>
                  </a:lnTo>
                  <a:cubicBezTo>
                    <a:pt x="107374" y="812800"/>
                    <a:pt x="70205" y="797404"/>
                    <a:pt x="42800" y="770000"/>
                  </a:cubicBezTo>
                  <a:cubicBezTo>
                    <a:pt x="15396" y="742595"/>
                    <a:pt x="0" y="705426"/>
                    <a:pt x="0" y="666670"/>
                  </a:cubicBezTo>
                  <a:lnTo>
                    <a:pt x="0" y="146130"/>
                  </a:lnTo>
                  <a:cubicBezTo>
                    <a:pt x="0" y="107374"/>
                    <a:pt x="15396" y="70205"/>
                    <a:pt x="42800" y="42800"/>
                  </a:cubicBezTo>
                  <a:cubicBezTo>
                    <a:pt x="70205" y="15396"/>
                    <a:pt x="107374" y="0"/>
                    <a:pt x="146130" y="0"/>
                  </a:cubicBezTo>
                  <a:close/>
                </a:path>
              </a:pathLst>
            </a:custGeom>
            <a:blipFill>
              <a:blip r:embed="rId3"/>
              <a:stretch>
                <a:fillRect l="-78303" t="0" r="-78303" b="0"/>
              </a:stretch>
            </a:blipFill>
            <a:ln w="66675" cap="rnd">
              <a:solidFill>
                <a:srgbClr val="EFEFDA"/>
              </a:solidFill>
              <a:prstDash val="solid"/>
              <a:round/>
            </a:ln>
          </p:spPr>
        </p:sp>
      </p:grpSp>
      <p:sp>
        <p:nvSpPr>
          <p:cNvPr name="AutoShape 13" id="13"/>
          <p:cNvSpPr/>
          <p:nvPr/>
        </p:nvSpPr>
        <p:spPr>
          <a:xfrm>
            <a:off x="10522272" y="7756728"/>
            <a:ext cx="3386850" cy="0"/>
          </a:xfrm>
          <a:prstGeom prst="line">
            <a:avLst/>
          </a:prstGeom>
          <a:ln cap="rnd" w="76200">
            <a:solidFill>
              <a:srgbClr val="EFEFDA"/>
            </a:solidFill>
            <a:prstDash val="solid"/>
            <a:headEnd type="none" len="sm" w="sm"/>
            <a:tailEnd type="none" len="sm" w="sm"/>
          </a:ln>
        </p:spPr>
      </p:sp>
      <p:sp>
        <p:nvSpPr>
          <p:cNvPr name="Freeform 14" id="14"/>
          <p:cNvSpPr/>
          <p:nvPr/>
        </p:nvSpPr>
        <p:spPr>
          <a:xfrm flipH="false" flipV="false" rot="0">
            <a:off x="-136381" y="7802464"/>
            <a:ext cx="3061987" cy="2911671"/>
          </a:xfrm>
          <a:custGeom>
            <a:avLst/>
            <a:gdLst/>
            <a:ahLst/>
            <a:cxnLst/>
            <a:rect r="r" b="b" t="t" l="l"/>
            <a:pathLst>
              <a:path h="2911671" w="3061987">
                <a:moveTo>
                  <a:pt x="0" y="0"/>
                </a:moveTo>
                <a:lnTo>
                  <a:pt x="3061987" y="0"/>
                </a:lnTo>
                <a:lnTo>
                  <a:pt x="3061987" y="2911672"/>
                </a:lnTo>
                <a:lnTo>
                  <a:pt x="0" y="2911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false" rot="0">
            <a:off x="15362394" y="7802464"/>
            <a:ext cx="3061987" cy="2911671"/>
          </a:xfrm>
          <a:custGeom>
            <a:avLst/>
            <a:gdLst/>
            <a:ahLst/>
            <a:cxnLst/>
            <a:rect r="r" b="b" t="t" l="l"/>
            <a:pathLst>
              <a:path h="2911671" w="3061987">
                <a:moveTo>
                  <a:pt x="3061987" y="0"/>
                </a:moveTo>
                <a:lnTo>
                  <a:pt x="0" y="0"/>
                </a:lnTo>
                <a:lnTo>
                  <a:pt x="0" y="2911672"/>
                </a:lnTo>
                <a:lnTo>
                  <a:pt x="3061987" y="2911672"/>
                </a:lnTo>
                <a:lnTo>
                  <a:pt x="306198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3617936" y="7192473"/>
            <a:ext cx="4967390" cy="490439"/>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DƯƠNG LÊ KIM PHỤNG</a:t>
            </a:r>
          </a:p>
        </p:txBody>
      </p:sp>
      <p:sp>
        <p:nvSpPr>
          <p:cNvPr name="TextBox 17" id="17"/>
          <p:cNvSpPr txBox="true"/>
          <p:nvPr/>
        </p:nvSpPr>
        <p:spPr>
          <a:xfrm rot="0">
            <a:off x="4721322" y="1855740"/>
            <a:ext cx="8845357" cy="877791"/>
          </a:xfrm>
          <a:prstGeom prst="rect">
            <a:avLst/>
          </a:prstGeom>
        </p:spPr>
        <p:txBody>
          <a:bodyPr anchor="t" rtlCol="false" tIns="0" lIns="0" bIns="0" rIns="0">
            <a:spAutoFit/>
          </a:bodyPr>
          <a:lstStyle/>
          <a:p>
            <a:pPr algn="ctr">
              <a:lnSpc>
                <a:spcPts val="6865"/>
              </a:lnSpc>
            </a:pPr>
            <a:r>
              <a:rPr lang="en-US" sz="5918" b="true">
                <a:solidFill>
                  <a:srgbClr val="2F5972"/>
                </a:solidFill>
                <a:latin typeface="Glacial Indifference Bold"/>
                <a:ea typeface="Glacial Indifference Bold"/>
                <a:cs typeface="Glacial Indifference Bold"/>
                <a:sym typeface="Glacial Indifference Bold"/>
              </a:rPr>
              <a:t>Thành viên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7535101">
            <a:off x="12908415" y="5364213"/>
            <a:ext cx="8309635" cy="2961252"/>
          </a:xfrm>
          <a:custGeom>
            <a:avLst/>
            <a:gdLst/>
            <a:ahLst/>
            <a:cxnLst/>
            <a:rect r="r" b="b" t="t" l="l"/>
            <a:pathLst>
              <a:path h="2961252" w="8309635">
                <a:moveTo>
                  <a:pt x="0" y="0"/>
                </a:moveTo>
                <a:lnTo>
                  <a:pt x="8309634" y="0"/>
                </a:lnTo>
                <a:lnTo>
                  <a:pt x="8309634" y="2961251"/>
                </a:lnTo>
                <a:lnTo>
                  <a:pt x="0" y="2961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35101">
            <a:off x="9325455" y="3695285"/>
            <a:ext cx="5732907" cy="2043000"/>
          </a:xfrm>
          <a:custGeom>
            <a:avLst/>
            <a:gdLst/>
            <a:ahLst/>
            <a:cxnLst/>
            <a:rect r="r" b="b" t="t" l="l"/>
            <a:pathLst>
              <a:path h="2043000" w="5732907">
                <a:moveTo>
                  <a:pt x="0" y="0"/>
                </a:moveTo>
                <a:lnTo>
                  <a:pt x="5732907" y="0"/>
                </a:lnTo>
                <a:lnTo>
                  <a:pt x="5732907" y="2043000"/>
                </a:lnTo>
                <a:lnTo>
                  <a:pt x="0" y="2043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535101">
            <a:off x="11003538" y="9926360"/>
            <a:ext cx="8309635" cy="2961252"/>
          </a:xfrm>
          <a:custGeom>
            <a:avLst/>
            <a:gdLst/>
            <a:ahLst/>
            <a:cxnLst/>
            <a:rect r="r" b="b" t="t" l="l"/>
            <a:pathLst>
              <a:path h="2961252" w="8309635">
                <a:moveTo>
                  <a:pt x="0" y="0"/>
                </a:moveTo>
                <a:lnTo>
                  <a:pt x="8309635" y="0"/>
                </a:lnTo>
                <a:lnTo>
                  <a:pt x="8309635" y="2961251"/>
                </a:lnTo>
                <a:lnTo>
                  <a:pt x="0" y="2961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921262" y="2565176"/>
            <a:ext cx="9186513" cy="7499535"/>
          </a:xfrm>
          <a:custGeom>
            <a:avLst/>
            <a:gdLst/>
            <a:ahLst/>
            <a:cxnLst/>
            <a:rect r="r" b="b" t="t" l="l"/>
            <a:pathLst>
              <a:path h="7499535" w="9186513">
                <a:moveTo>
                  <a:pt x="0" y="0"/>
                </a:moveTo>
                <a:lnTo>
                  <a:pt x="9186513" y="0"/>
                </a:lnTo>
                <a:lnTo>
                  <a:pt x="9186513" y="7499535"/>
                </a:lnTo>
                <a:lnTo>
                  <a:pt x="0" y="74995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535101">
            <a:off x="11357356" y="-1841144"/>
            <a:ext cx="7931569" cy="2826523"/>
          </a:xfrm>
          <a:custGeom>
            <a:avLst/>
            <a:gdLst/>
            <a:ahLst/>
            <a:cxnLst/>
            <a:rect r="r" b="b" t="t" l="l"/>
            <a:pathLst>
              <a:path h="2826523" w="7931569">
                <a:moveTo>
                  <a:pt x="0" y="0"/>
                </a:moveTo>
                <a:lnTo>
                  <a:pt x="7931569" y="0"/>
                </a:lnTo>
                <a:lnTo>
                  <a:pt x="7931569" y="2826523"/>
                </a:lnTo>
                <a:lnTo>
                  <a:pt x="0" y="2826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462060" y="1687385"/>
            <a:ext cx="6211159"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Project Overview</a:t>
            </a:r>
          </a:p>
        </p:txBody>
      </p:sp>
      <p:sp>
        <p:nvSpPr>
          <p:cNvPr name="AutoShape 8" id="8"/>
          <p:cNvSpPr/>
          <p:nvPr/>
        </p:nvSpPr>
        <p:spPr>
          <a:xfrm>
            <a:off x="1462060" y="2651955"/>
            <a:ext cx="6043533" cy="0"/>
          </a:xfrm>
          <a:prstGeom prst="line">
            <a:avLst/>
          </a:prstGeom>
          <a:ln cap="rnd" w="95250">
            <a:solidFill>
              <a:srgbClr val="EFEFDA"/>
            </a:solidFill>
            <a:prstDash val="solid"/>
            <a:headEnd type="none" len="sm" w="sm"/>
            <a:tailEnd type="none" len="sm" w="sm"/>
          </a:ln>
        </p:spPr>
      </p:sp>
      <p:sp>
        <p:nvSpPr>
          <p:cNvPr name="TextBox 9" id="9"/>
          <p:cNvSpPr txBox="true"/>
          <p:nvPr/>
        </p:nvSpPr>
        <p:spPr>
          <a:xfrm rot="0">
            <a:off x="1462060" y="3322324"/>
            <a:ext cx="7091169" cy="4185489"/>
          </a:xfrm>
          <a:prstGeom prst="rect">
            <a:avLst/>
          </a:prstGeom>
        </p:spPr>
        <p:txBody>
          <a:bodyPr anchor="t" rtlCol="false" tIns="0" lIns="0" bIns="0" rIns="0">
            <a:spAutoFit/>
          </a:bodyPr>
          <a:lstStyle/>
          <a:p>
            <a:pPr algn="l">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628654" y="7682134"/>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908751" y="107504"/>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503952" y="2579630"/>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4784048" y="5210008"/>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037946" y="2826732"/>
            <a:ext cx="6815884" cy="4633537"/>
            <a:chOff x="0" y="0"/>
            <a:chExt cx="1055959" cy="717856"/>
          </a:xfrm>
        </p:grpSpPr>
        <p:sp>
          <p:nvSpPr>
            <p:cNvPr name="Freeform 7" id="7"/>
            <p:cNvSpPr/>
            <p:nvPr/>
          </p:nvSpPr>
          <p:spPr>
            <a:xfrm flipH="false" flipV="false" rot="0">
              <a:off x="0" y="0"/>
              <a:ext cx="1055959" cy="717856"/>
            </a:xfrm>
            <a:custGeom>
              <a:avLst/>
              <a:gdLst/>
              <a:ahLst/>
              <a:cxnLst/>
              <a:rect r="r" b="b" t="t" l="l"/>
              <a:pathLst>
                <a:path h="717856" w="1055959">
                  <a:moveTo>
                    <a:pt x="26125" y="0"/>
                  </a:moveTo>
                  <a:lnTo>
                    <a:pt x="1029834" y="0"/>
                  </a:lnTo>
                  <a:cubicBezTo>
                    <a:pt x="1044262" y="0"/>
                    <a:pt x="1055959" y="11697"/>
                    <a:pt x="1055959" y="26125"/>
                  </a:cubicBezTo>
                  <a:lnTo>
                    <a:pt x="1055959" y="691731"/>
                  </a:lnTo>
                  <a:cubicBezTo>
                    <a:pt x="1055959" y="698660"/>
                    <a:pt x="1053206" y="705305"/>
                    <a:pt x="1048307" y="710204"/>
                  </a:cubicBezTo>
                  <a:cubicBezTo>
                    <a:pt x="1043408" y="715104"/>
                    <a:pt x="1036763" y="717856"/>
                    <a:pt x="1029834" y="717856"/>
                  </a:cubicBezTo>
                  <a:lnTo>
                    <a:pt x="26125" y="717856"/>
                  </a:lnTo>
                  <a:cubicBezTo>
                    <a:pt x="19196" y="717856"/>
                    <a:pt x="12551" y="715104"/>
                    <a:pt x="7652" y="710204"/>
                  </a:cubicBezTo>
                  <a:cubicBezTo>
                    <a:pt x="2752" y="705305"/>
                    <a:pt x="0" y="698660"/>
                    <a:pt x="0" y="691731"/>
                  </a:cubicBezTo>
                  <a:lnTo>
                    <a:pt x="0" y="26125"/>
                  </a:lnTo>
                  <a:cubicBezTo>
                    <a:pt x="0" y="19196"/>
                    <a:pt x="2752" y="12551"/>
                    <a:pt x="7652" y="7652"/>
                  </a:cubicBezTo>
                  <a:cubicBezTo>
                    <a:pt x="12551" y="2752"/>
                    <a:pt x="19196" y="0"/>
                    <a:pt x="26125" y="0"/>
                  </a:cubicBezTo>
                  <a:close/>
                </a:path>
              </a:pathLst>
            </a:custGeom>
            <a:blipFill>
              <a:blip r:embed="rId6"/>
              <a:stretch>
                <a:fillRect l="-939" t="0" r="-939" b="0"/>
              </a:stretch>
            </a:blipFill>
            <a:ln w="85725" cap="rnd">
              <a:solidFill>
                <a:srgbClr val="EFEFDA"/>
              </a:solidFill>
              <a:prstDash val="solid"/>
              <a:round/>
            </a:ln>
          </p:spPr>
        </p:sp>
      </p:grpSp>
      <p:sp>
        <p:nvSpPr>
          <p:cNvPr name="TextBox 8" id="8"/>
          <p:cNvSpPr txBox="true"/>
          <p:nvPr/>
        </p:nvSpPr>
        <p:spPr>
          <a:xfrm rot="0">
            <a:off x="1462060" y="1375235"/>
            <a:ext cx="5228916"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Project Goals</a:t>
            </a:r>
          </a:p>
        </p:txBody>
      </p:sp>
      <p:sp>
        <p:nvSpPr>
          <p:cNvPr name="AutoShape 9" id="9"/>
          <p:cNvSpPr/>
          <p:nvPr/>
        </p:nvSpPr>
        <p:spPr>
          <a:xfrm>
            <a:off x="1462060" y="2339804"/>
            <a:ext cx="4943540" cy="0"/>
          </a:xfrm>
          <a:prstGeom prst="line">
            <a:avLst/>
          </a:prstGeom>
          <a:ln cap="rnd" w="95250">
            <a:solidFill>
              <a:srgbClr val="EFEFDA"/>
            </a:solidFill>
            <a:prstDash val="solid"/>
            <a:headEnd type="none" len="sm" w="sm"/>
            <a:tailEnd type="none" len="sm" w="sm"/>
          </a:ln>
        </p:spPr>
      </p:sp>
      <p:sp>
        <p:nvSpPr>
          <p:cNvPr name="TextBox 10" id="10"/>
          <p:cNvSpPr txBox="true"/>
          <p:nvPr/>
        </p:nvSpPr>
        <p:spPr>
          <a:xfrm rot="0">
            <a:off x="1462060" y="2750532"/>
            <a:ext cx="8229678" cy="4185489"/>
          </a:xfrm>
          <a:prstGeom prst="rect">
            <a:avLst/>
          </a:prstGeom>
        </p:spPr>
        <p:txBody>
          <a:bodyPr anchor="t" rtlCol="false" tIns="0" lIns="0" bIns="0" rIns="0">
            <a:spAutoFit/>
          </a:bodyPr>
          <a:lstStyle/>
          <a:p>
            <a:pPr algn="l">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98435" y="7769386"/>
            <a:ext cx="12479089" cy="4447094"/>
          </a:xfrm>
          <a:custGeom>
            <a:avLst/>
            <a:gdLst/>
            <a:ahLst/>
            <a:cxnLst/>
            <a:rect r="r" b="b" t="t" l="l"/>
            <a:pathLst>
              <a:path h="4447094" w="12479089">
                <a:moveTo>
                  <a:pt x="0" y="0"/>
                </a:moveTo>
                <a:lnTo>
                  <a:pt x="12479089" y="0"/>
                </a:lnTo>
                <a:lnTo>
                  <a:pt x="12479089" y="4447093"/>
                </a:lnTo>
                <a:lnTo>
                  <a:pt x="0" y="4447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997837" y="3535045"/>
            <a:ext cx="9027043" cy="3216910"/>
          </a:xfrm>
          <a:custGeom>
            <a:avLst/>
            <a:gdLst/>
            <a:ahLst/>
            <a:cxnLst/>
            <a:rect r="r" b="b" t="t" l="l"/>
            <a:pathLst>
              <a:path h="3216910" w="9027043">
                <a:moveTo>
                  <a:pt x="0" y="0"/>
                </a:moveTo>
                <a:lnTo>
                  <a:pt x="9027043" y="0"/>
                </a:lnTo>
                <a:lnTo>
                  <a:pt x="9027043" y="3216910"/>
                </a:lnTo>
                <a:lnTo>
                  <a:pt x="0" y="3216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8695" y="1154090"/>
            <a:ext cx="7151923" cy="7978819"/>
          </a:xfrm>
          <a:custGeom>
            <a:avLst/>
            <a:gdLst/>
            <a:ahLst/>
            <a:cxnLst/>
            <a:rect r="r" b="b" t="t" l="l"/>
            <a:pathLst>
              <a:path h="7978819" w="7151923">
                <a:moveTo>
                  <a:pt x="0" y="0"/>
                </a:moveTo>
                <a:lnTo>
                  <a:pt x="7151923" y="0"/>
                </a:lnTo>
                <a:lnTo>
                  <a:pt x="7151923" y="7978820"/>
                </a:lnTo>
                <a:lnTo>
                  <a:pt x="0" y="797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119813" y="1419501"/>
            <a:ext cx="8845357" cy="877791"/>
          </a:xfrm>
          <a:prstGeom prst="rect">
            <a:avLst/>
          </a:prstGeom>
        </p:spPr>
        <p:txBody>
          <a:bodyPr anchor="t" rtlCol="false" tIns="0" lIns="0" bIns="0" rIns="0">
            <a:spAutoFit/>
          </a:bodyPr>
          <a:lstStyle/>
          <a:p>
            <a:pPr algn="r">
              <a:lnSpc>
                <a:spcPts val="6865"/>
              </a:lnSpc>
            </a:pPr>
            <a:r>
              <a:rPr lang="en-US" b="true" sz="5918">
                <a:solidFill>
                  <a:srgbClr val="EFEFDA"/>
                </a:solidFill>
                <a:latin typeface="Glacial Indifference Bold"/>
                <a:ea typeface="Glacial Indifference Bold"/>
                <a:cs typeface="Glacial Indifference Bold"/>
                <a:sym typeface="Glacial Indifference Bold"/>
              </a:rPr>
              <a:t>Research Approach</a:t>
            </a:r>
          </a:p>
        </p:txBody>
      </p:sp>
      <p:sp>
        <p:nvSpPr>
          <p:cNvPr name="AutoShape 6" id="6"/>
          <p:cNvSpPr/>
          <p:nvPr/>
        </p:nvSpPr>
        <p:spPr>
          <a:xfrm>
            <a:off x="9939524" y="2384070"/>
            <a:ext cx="7025646" cy="0"/>
          </a:xfrm>
          <a:prstGeom prst="line">
            <a:avLst/>
          </a:prstGeom>
          <a:ln cap="rnd" w="95250">
            <a:solidFill>
              <a:srgbClr val="EFEFDA"/>
            </a:solidFill>
            <a:prstDash val="solid"/>
            <a:headEnd type="none" len="sm" w="sm"/>
            <a:tailEnd type="none" len="sm" w="sm"/>
          </a:ln>
        </p:spPr>
      </p:sp>
      <p:sp>
        <p:nvSpPr>
          <p:cNvPr name="TextBox 7" id="7"/>
          <p:cNvSpPr txBox="true"/>
          <p:nvPr/>
        </p:nvSpPr>
        <p:spPr>
          <a:xfrm rot="0">
            <a:off x="8400637" y="3069501"/>
            <a:ext cx="8564533" cy="4652214"/>
          </a:xfrm>
          <a:prstGeom prst="rect">
            <a:avLst/>
          </a:prstGeom>
        </p:spPr>
        <p:txBody>
          <a:bodyPr anchor="t" rtlCol="false" tIns="0" lIns="0" bIns="0" rIns="0">
            <a:spAutoFit/>
          </a:bodyPr>
          <a:lstStyle/>
          <a:p>
            <a:pPr algn="r">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503952" y="3894819"/>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784048" y="3894819"/>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645491" y="9984532"/>
            <a:ext cx="4154770" cy="1480609"/>
          </a:xfrm>
          <a:custGeom>
            <a:avLst/>
            <a:gdLst/>
            <a:ahLst/>
            <a:cxnLst/>
            <a:rect r="r" b="b" t="t" l="l"/>
            <a:pathLst>
              <a:path h="1480609" w="4154770">
                <a:moveTo>
                  <a:pt x="0" y="0"/>
                </a:moveTo>
                <a:lnTo>
                  <a:pt x="4154770" y="0"/>
                </a:lnTo>
                <a:lnTo>
                  <a:pt x="4154770" y="1480609"/>
                </a:lnTo>
                <a:lnTo>
                  <a:pt x="0" y="1480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487739" y="9984532"/>
            <a:ext cx="4154770" cy="1480609"/>
          </a:xfrm>
          <a:custGeom>
            <a:avLst/>
            <a:gdLst/>
            <a:ahLst/>
            <a:cxnLst/>
            <a:rect r="r" b="b" t="t" l="l"/>
            <a:pathLst>
              <a:path h="1480609" w="4154770">
                <a:moveTo>
                  <a:pt x="0" y="0"/>
                </a:moveTo>
                <a:lnTo>
                  <a:pt x="4154770" y="0"/>
                </a:lnTo>
                <a:lnTo>
                  <a:pt x="4154770" y="1480609"/>
                </a:lnTo>
                <a:lnTo>
                  <a:pt x="0" y="1480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721322" y="1687385"/>
            <a:ext cx="8845357" cy="877791"/>
          </a:xfrm>
          <a:prstGeom prst="rect">
            <a:avLst/>
          </a:prstGeom>
        </p:spPr>
        <p:txBody>
          <a:bodyPr anchor="t" rtlCol="false" tIns="0" lIns="0" bIns="0" rIns="0">
            <a:spAutoFit/>
          </a:bodyPr>
          <a:lstStyle/>
          <a:p>
            <a:pPr algn="ctr">
              <a:lnSpc>
                <a:spcPts val="6865"/>
              </a:lnSpc>
            </a:pPr>
            <a:r>
              <a:rPr lang="en-US" b="true" sz="5918">
                <a:solidFill>
                  <a:srgbClr val="EFEFDA"/>
                </a:solidFill>
                <a:latin typeface="Glacial Indifference Bold"/>
                <a:ea typeface="Glacial Indifference Bold"/>
                <a:cs typeface="Glacial Indifference Bold"/>
                <a:sym typeface="Glacial Indifference Bold"/>
              </a:rPr>
              <a:t>Key Findings</a:t>
            </a:r>
          </a:p>
        </p:txBody>
      </p:sp>
      <p:sp>
        <p:nvSpPr>
          <p:cNvPr name="AutoShape 7" id="7"/>
          <p:cNvSpPr/>
          <p:nvPr/>
        </p:nvSpPr>
        <p:spPr>
          <a:xfrm>
            <a:off x="6799971" y="2651955"/>
            <a:ext cx="4688057" cy="0"/>
          </a:xfrm>
          <a:prstGeom prst="line">
            <a:avLst/>
          </a:prstGeom>
          <a:ln cap="rnd" w="95250">
            <a:solidFill>
              <a:srgbClr val="EFEFDA"/>
            </a:solidFill>
            <a:prstDash val="solid"/>
            <a:headEnd type="none" len="sm" w="sm"/>
            <a:tailEnd type="none" len="sm" w="sm"/>
          </a:ln>
        </p:spPr>
      </p:sp>
      <p:grpSp>
        <p:nvGrpSpPr>
          <p:cNvPr name="Group 8" id="8"/>
          <p:cNvGrpSpPr/>
          <p:nvPr/>
        </p:nvGrpSpPr>
        <p:grpSpPr>
          <a:xfrm rot="0">
            <a:off x="3571862" y="6036448"/>
            <a:ext cx="11144275" cy="3005699"/>
            <a:chOff x="0" y="0"/>
            <a:chExt cx="2935118" cy="791624"/>
          </a:xfrm>
        </p:grpSpPr>
        <p:sp>
          <p:nvSpPr>
            <p:cNvPr name="Freeform 9" id="9"/>
            <p:cNvSpPr/>
            <p:nvPr/>
          </p:nvSpPr>
          <p:spPr>
            <a:xfrm flipH="false" flipV="false" rot="0">
              <a:off x="0" y="0"/>
              <a:ext cx="2935118" cy="791624"/>
            </a:xfrm>
            <a:custGeom>
              <a:avLst/>
              <a:gdLst/>
              <a:ahLst/>
              <a:cxnLst/>
              <a:rect r="r" b="b" t="t" l="l"/>
              <a:pathLst>
                <a:path h="791624" w="2935118">
                  <a:moveTo>
                    <a:pt x="69470" y="0"/>
                  </a:moveTo>
                  <a:lnTo>
                    <a:pt x="2865648" y="0"/>
                  </a:lnTo>
                  <a:cubicBezTo>
                    <a:pt x="2904015" y="0"/>
                    <a:pt x="2935118" y="31103"/>
                    <a:pt x="2935118" y="69470"/>
                  </a:cubicBezTo>
                  <a:lnTo>
                    <a:pt x="2935118" y="722155"/>
                  </a:lnTo>
                  <a:cubicBezTo>
                    <a:pt x="2935118" y="760522"/>
                    <a:pt x="2904015" y="791624"/>
                    <a:pt x="2865648" y="791624"/>
                  </a:cubicBezTo>
                  <a:lnTo>
                    <a:pt x="69470" y="791624"/>
                  </a:lnTo>
                  <a:cubicBezTo>
                    <a:pt x="51045" y="791624"/>
                    <a:pt x="33375" y="784305"/>
                    <a:pt x="20347" y="771277"/>
                  </a:cubicBezTo>
                  <a:cubicBezTo>
                    <a:pt x="7319" y="758249"/>
                    <a:pt x="0" y="740579"/>
                    <a:pt x="0" y="722155"/>
                  </a:cubicBezTo>
                  <a:lnTo>
                    <a:pt x="0" y="69470"/>
                  </a:lnTo>
                  <a:cubicBezTo>
                    <a:pt x="0" y="31103"/>
                    <a:pt x="31103" y="0"/>
                    <a:pt x="69470" y="0"/>
                  </a:cubicBezTo>
                  <a:close/>
                </a:path>
              </a:pathLst>
            </a:custGeom>
            <a:solidFill>
              <a:srgbClr val="000B26"/>
            </a:solidFill>
          </p:spPr>
        </p:sp>
        <p:sp>
          <p:nvSpPr>
            <p:cNvPr name="TextBox 10" id="10"/>
            <p:cNvSpPr txBox="true"/>
            <p:nvPr/>
          </p:nvSpPr>
          <p:spPr>
            <a:xfrm>
              <a:off x="0" y="-38100"/>
              <a:ext cx="2935118" cy="82972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2238698" y="3170619"/>
            <a:ext cx="13810605" cy="2318589"/>
          </a:xfrm>
          <a:prstGeom prst="rect">
            <a:avLst/>
          </a:prstGeom>
        </p:spPr>
        <p:txBody>
          <a:bodyPr anchor="t" rtlCol="false" tIns="0" lIns="0" bIns="0" rIns="0">
            <a:spAutoFit/>
          </a:bodyPr>
          <a:lstStyle/>
          <a:p>
            <a:pPr algn="ctr">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2" id="12"/>
          <p:cNvSpPr txBox="true"/>
          <p:nvPr/>
        </p:nvSpPr>
        <p:spPr>
          <a:xfrm rot="0">
            <a:off x="4002271" y="6341903"/>
            <a:ext cx="10283459" cy="2318589"/>
          </a:xfrm>
          <a:prstGeom prst="rect">
            <a:avLst/>
          </a:prstGeom>
        </p:spPr>
        <p:txBody>
          <a:bodyPr anchor="t" rtlCol="false" tIns="0" lIns="0" bIns="0" rIns="0">
            <a:spAutoFit/>
          </a:bodyPr>
          <a:lstStyle/>
          <a:p>
            <a:pPr algn="just">
              <a:lnSpc>
                <a:spcPts val="3691"/>
              </a:lnSpc>
            </a:pPr>
            <a:r>
              <a:rPr lang="en-US" sz="2477" spc="188">
                <a:solidFill>
                  <a:srgbClr val="FFFFFF"/>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7601827">
            <a:off x="2741706" y="-7664688"/>
            <a:ext cx="33976466" cy="12107977"/>
          </a:xfrm>
          <a:custGeom>
            <a:avLst/>
            <a:gdLst/>
            <a:ahLst/>
            <a:cxnLst/>
            <a:rect r="r" b="b" t="t" l="l"/>
            <a:pathLst>
              <a:path h="12107977" w="33976466">
                <a:moveTo>
                  <a:pt x="0" y="0"/>
                </a:moveTo>
                <a:lnTo>
                  <a:pt x="33976466" y="0"/>
                </a:lnTo>
                <a:lnTo>
                  <a:pt x="33976466" y="12107977"/>
                </a:lnTo>
                <a:lnTo>
                  <a:pt x="0" y="12107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350442" y="2518012"/>
            <a:ext cx="4910865" cy="0"/>
          </a:xfrm>
          <a:prstGeom prst="line">
            <a:avLst/>
          </a:prstGeom>
          <a:ln cap="rnd" w="95250">
            <a:solidFill>
              <a:srgbClr val="EFEFDA"/>
            </a:solidFill>
            <a:prstDash val="solid"/>
            <a:headEnd type="none" len="sm" w="sm"/>
            <a:tailEnd type="none" len="sm" w="sm"/>
          </a:ln>
        </p:spPr>
      </p:sp>
      <p:pic>
        <p:nvPicPr>
          <p:cNvPr name="Picture 4" id="4"/>
          <p:cNvPicPr>
            <a:picLocks noChangeAspect="true"/>
          </p:cNvPicPr>
          <p:nvPr/>
        </p:nvPicPr>
        <p:blipFill>
          <a:blip r:embed="rId4"/>
          <a:stretch>
            <a:fillRect/>
          </a:stretch>
        </p:blipFill>
        <p:spPr>
          <a:xfrm rot="0">
            <a:off x="8387004" y="2125838"/>
            <a:ext cx="9083947" cy="7498816"/>
          </a:xfrm>
          <a:prstGeom prst="rect">
            <a:avLst/>
          </a:prstGeom>
        </p:spPr>
      </p:pic>
      <p:sp>
        <p:nvSpPr>
          <p:cNvPr name="Freeform 5" id="5"/>
          <p:cNvSpPr/>
          <p:nvPr/>
        </p:nvSpPr>
        <p:spPr>
          <a:xfrm flipH="false" flipV="false" rot="0">
            <a:off x="7414720" y="7807287"/>
            <a:ext cx="2008922" cy="2120743"/>
          </a:xfrm>
          <a:custGeom>
            <a:avLst/>
            <a:gdLst/>
            <a:ahLst/>
            <a:cxnLst/>
            <a:rect r="r" b="b" t="t" l="l"/>
            <a:pathLst>
              <a:path h="2120743" w="2008922">
                <a:moveTo>
                  <a:pt x="0" y="0"/>
                </a:moveTo>
                <a:lnTo>
                  <a:pt x="2008921" y="0"/>
                </a:lnTo>
                <a:lnTo>
                  <a:pt x="2008921" y="2120743"/>
                </a:lnTo>
                <a:lnTo>
                  <a:pt x="0" y="21207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350442" y="1553443"/>
            <a:ext cx="8845357"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Data Analysis</a:t>
            </a:r>
          </a:p>
        </p:txBody>
      </p:sp>
      <p:sp>
        <p:nvSpPr>
          <p:cNvPr name="TextBox 7" id="7"/>
          <p:cNvSpPr txBox="true"/>
          <p:nvPr/>
        </p:nvSpPr>
        <p:spPr>
          <a:xfrm rot="0">
            <a:off x="1350442" y="3277677"/>
            <a:ext cx="6064278" cy="5118939"/>
          </a:xfrm>
          <a:prstGeom prst="rect">
            <a:avLst/>
          </a:prstGeom>
        </p:spPr>
        <p:txBody>
          <a:bodyPr anchor="t" rtlCol="false" tIns="0" lIns="0" bIns="0" rIns="0">
            <a:spAutoFit/>
          </a:bodyPr>
          <a:lstStyle/>
          <a:p>
            <a:pPr algn="l">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Freeform 8" id="8"/>
          <p:cNvSpPr/>
          <p:nvPr/>
        </p:nvSpPr>
        <p:spPr>
          <a:xfrm flipH="true" flipV="false" rot="0">
            <a:off x="14796213" y="406745"/>
            <a:ext cx="3835486" cy="4048978"/>
          </a:xfrm>
          <a:custGeom>
            <a:avLst/>
            <a:gdLst/>
            <a:ahLst/>
            <a:cxnLst/>
            <a:rect r="r" b="b" t="t" l="l"/>
            <a:pathLst>
              <a:path h="4048978" w="3835486">
                <a:moveTo>
                  <a:pt x="3835486" y="0"/>
                </a:moveTo>
                <a:lnTo>
                  <a:pt x="0" y="0"/>
                </a:lnTo>
                <a:lnTo>
                  <a:pt x="0" y="4048978"/>
                </a:lnTo>
                <a:lnTo>
                  <a:pt x="3835486" y="4048978"/>
                </a:lnTo>
                <a:lnTo>
                  <a:pt x="383548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2525811">
            <a:off x="-5660721" y="-2098065"/>
            <a:ext cx="16297074" cy="13115899"/>
            <a:chOff x="0" y="0"/>
            <a:chExt cx="4292234" cy="3454393"/>
          </a:xfrm>
        </p:grpSpPr>
        <p:sp>
          <p:nvSpPr>
            <p:cNvPr name="Freeform 3" id="3"/>
            <p:cNvSpPr/>
            <p:nvPr/>
          </p:nvSpPr>
          <p:spPr>
            <a:xfrm flipH="false" flipV="false" rot="0">
              <a:off x="0" y="0"/>
              <a:ext cx="4292234" cy="3454393"/>
            </a:xfrm>
            <a:custGeom>
              <a:avLst/>
              <a:gdLst/>
              <a:ahLst/>
              <a:cxnLst/>
              <a:rect r="r" b="b" t="t" l="l"/>
              <a:pathLst>
                <a:path h="3454393" w="4292234">
                  <a:moveTo>
                    <a:pt x="47505" y="0"/>
                  </a:moveTo>
                  <a:lnTo>
                    <a:pt x="4244729" y="0"/>
                  </a:lnTo>
                  <a:cubicBezTo>
                    <a:pt x="4270965" y="0"/>
                    <a:pt x="4292234" y="21269"/>
                    <a:pt x="4292234" y="47505"/>
                  </a:cubicBezTo>
                  <a:lnTo>
                    <a:pt x="4292234" y="3406889"/>
                  </a:lnTo>
                  <a:cubicBezTo>
                    <a:pt x="4292234" y="3433125"/>
                    <a:pt x="4270965" y="3454393"/>
                    <a:pt x="4244729" y="3454393"/>
                  </a:cubicBezTo>
                  <a:lnTo>
                    <a:pt x="47505" y="3454393"/>
                  </a:lnTo>
                  <a:cubicBezTo>
                    <a:pt x="21269" y="3454393"/>
                    <a:pt x="0" y="3433125"/>
                    <a:pt x="0" y="3406889"/>
                  </a:cubicBezTo>
                  <a:lnTo>
                    <a:pt x="0" y="47505"/>
                  </a:lnTo>
                  <a:cubicBezTo>
                    <a:pt x="0" y="21269"/>
                    <a:pt x="21269" y="0"/>
                    <a:pt x="47505" y="0"/>
                  </a:cubicBezTo>
                  <a:close/>
                </a:path>
              </a:pathLst>
            </a:custGeom>
            <a:solidFill>
              <a:srgbClr val="EFEFDA"/>
            </a:solidFill>
          </p:spPr>
        </p:sp>
        <p:sp>
          <p:nvSpPr>
            <p:cNvPr name="TextBox 4" id="4"/>
            <p:cNvSpPr txBox="true"/>
            <p:nvPr/>
          </p:nvSpPr>
          <p:spPr>
            <a:xfrm>
              <a:off x="0" y="-38100"/>
              <a:ext cx="4292234" cy="349249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845988" y="1779553"/>
            <a:ext cx="7075222" cy="6727893"/>
          </a:xfrm>
          <a:custGeom>
            <a:avLst/>
            <a:gdLst/>
            <a:ahLst/>
            <a:cxnLst/>
            <a:rect r="r" b="b" t="t" l="l"/>
            <a:pathLst>
              <a:path h="6727893" w="7075222">
                <a:moveTo>
                  <a:pt x="0" y="0"/>
                </a:moveTo>
                <a:lnTo>
                  <a:pt x="7075222" y="0"/>
                </a:lnTo>
                <a:lnTo>
                  <a:pt x="7075222" y="6727894"/>
                </a:lnTo>
                <a:lnTo>
                  <a:pt x="0" y="67278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62060" y="1687385"/>
            <a:ext cx="8845357" cy="877791"/>
          </a:xfrm>
          <a:prstGeom prst="rect">
            <a:avLst/>
          </a:prstGeom>
        </p:spPr>
        <p:txBody>
          <a:bodyPr anchor="t" rtlCol="false" tIns="0" lIns="0" bIns="0" rIns="0">
            <a:spAutoFit/>
          </a:bodyPr>
          <a:lstStyle/>
          <a:p>
            <a:pPr algn="l">
              <a:lnSpc>
                <a:spcPts val="6865"/>
              </a:lnSpc>
            </a:pPr>
            <a:r>
              <a:rPr lang="en-US" sz="5918" b="true">
                <a:solidFill>
                  <a:srgbClr val="000B26"/>
                </a:solidFill>
                <a:latin typeface="Glacial Indifference Bold"/>
                <a:ea typeface="Glacial Indifference Bold"/>
                <a:cs typeface="Glacial Indifference Bold"/>
                <a:sym typeface="Glacial Indifference Bold"/>
              </a:rPr>
              <a:t>Discussion</a:t>
            </a:r>
          </a:p>
        </p:txBody>
      </p:sp>
      <p:sp>
        <p:nvSpPr>
          <p:cNvPr name="AutoShape 7" id="7"/>
          <p:cNvSpPr/>
          <p:nvPr/>
        </p:nvSpPr>
        <p:spPr>
          <a:xfrm>
            <a:off x="1462060" y="2651955"/>
            <a:ext cx="3927757" cy="0"/>
          </a:xfrm>
          <a:prstGeom prst="line">
            <a:avLst/>
          </a:prstGeom>
          <a:ln cap="rnd" w="95250">
            <a:solidFill>
              <a:srgbClr val="000B26"/>
            </a:solidFill>
            <a:prstDash val="solid"/>
            <a:headEnd type="none" len="sm" w="sm"/>
            <a:tailEnd type="none" len="sm" w="sm"/>
          </a:ln>
        </p:spPr>
      </p:sp>
      <p:sp>
        <p:nvSpPr>
          <p:cNvPr name="TextBox 8" id="8"/>
          <p:cNvSpPr txBox="true"/>
          <p:nvPr/>
        </p:nvSpPr>
        <p:spPr>
          <a:xfrm rot="0">
            <a:off x="1462060" y="3076763"/>
            <a:ext cx="8564533" cy="4652214"/>
          </a:xfrm>
          <a:prstGeom prst="rect">
            <a:avLst/>
          </a:prstGeom>
        </p:spPr>
        <p:txBody>
          <a:bodyPr anchor="t" rtlCol="false" tIns="0" lIns="0" bIns="0" rIns="0">
            <a:spAutoFit/>
          </a:bodyPr>
          <a:lstStyle/>
          <a:p>
            <a:pPr algn="l">
              <a:lnSpc>
                <a:spcPts val="3691"/>
              </a:lnSpc>
            </a:pPr>
            <a:r>
              <a:rPr lang="en-US" sz="2477" spc="188">
                <a:solidFill>
                  <a:srgbClr val="000B26"/>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3012790" y="-915559"/>
            <a:ext cx="16423359" cy="9055424"/>
            <a:chOff x="0" y="0"/>
            <a:chExt cx="4325494" cy="2384968"/>
          </a:xfrm>
        </p:grpSpPr>
        <p:sp>
          <p:nvSpPr>
            <p:cNvPr name="Freeform 3" id="3"/>
            <p:cNvSpPr/>
            <p:nvPr/>
          </p:nvSpPr>
          <p:spPr>
            <a:xfrm flipH="false" flipV="false" rot="0">
              <a:off x="0" y="0"/>
              <a:ext cx="4325494" cy="2384968"/>
            </a:xfrm>
            <a:custGeom>
              <a:avLst/>
              <a:gdLst/>
              <a:ahLst/>
              <a:cxnLst/>
              <a:rect r="r" b="b" t="t" l="l"/>
              <a:pathLst>
                <a:path h="2384968" w="4325494">
                  <a:moveTo>
                    <a:pt x="47140" y="0"/>
                  </a:moveTo>
                  <a:lnTo>
                    <a:pt x="4278354" y="0"/>
                  </a:lnTo>
                  <a:cubicBezTo>
                    <a:pt x="4304388" y="0"/>
                    <a:pt x="4325494" y="21105"/>
                    <a:pt x="4325494" y="47140"/>
                  </a:cubicBezTo>
                  <a:lnTo>
                    <a:pt x="4325494" y="2337828"/>
                  </a:lnTo>
                  <a:cubicBezTo>
                    <a:pt x="4325494" y="2363862"/>
                    <a:pt x="4304388" y="2384968"/>
                    <a:pt x="4278354" y="2384968"/>
                  </a:cubicBezTo>
                  <a:lnTo>
                    <a:pt x="47140" y="2384968"/>
                  </a:lnTo>
                  <a:cubicBezTo>
                    <a:pt x="21105" y="2384968"/>
                    <a:pt x="0" y="2363862"/>
                    <a:pt x="0" y="2337828"/>
                  </a:cubicBezTo>
                  <a:lnTo>
                    <a:pt x="0" y="47140"/>
                  </a:lnTo>
                  <a:cubicBezTo>
                    <a:pt x="0" y="21105"/>
                    <a:pt x="21105" y="0"/>
                    <a:pt x="47140" y="0"/>
                  </a:cubicBezTo>
                  <a:close/>
                </a:path>
              </a:pathLst>
            </a:custGeom>
            <a:solidFill>
              <a:srgbClr val="EFEFDA"/>
            </a:solidFill>
          </p:spPr>
        </p:sp>
        <p:sp>
          <p:nvSpPr>
            <p:cNvPr name="TextBox 4" id="4"/>
            <p:cNvSpPr txBox="true"/>
            <p:nvPr/>
          </p:nvSpPr>
          <p:spPr>
            <a:xfrm>
              <a:off x="0" y="-38100"/>
              <a:ext cx="4325494" cy="242306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18014" y="3817518"/>
            <a:ext cx="6432087" cy="6280056"/>
          </a:xfrm>
          <a:custGeom>
            <a:avLst/>
            <a:gdLst/>
            <a:ahLst/>
            <a:cxnLst/>
            <a:rect r="r" b="b" t="t" l="l"/>
            <a:pathLst>
              <a:path h="6280056" w="6432087">
                <a:moveTo>
                  <a:pt x="0" y="0"/>
                </a:moveTo>
                <a:lnTo>
                  <a:pt x="6432088" y="0"/>
                </a:lnTo>
                <a:lnTo>
                  <a:pt x="6432088" y="6280056"/>
                </a:lnTo>
                <a:lnTo>
                  <a:pt x="0" y="6280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989717" y="1330206"/>
            <a:ext cx="6947842" cy="877791"/>
          </a:xfrm>
          <a:prstGeom prst="rect">
            <a:avLst/>
          </a:prstGeom>
        </p:spPr>
        <p:txBody>
          <a:bodyPr anchor="t" rtlCol="false" tIns="0" lIns="0" bIns="0" rIns="0">
            <a:spAutoFit/>
          </a:bodyPr>
          <a:lstStyle/>
          <a:p>
            <a:pPr algn="r">
              <a:lnSpc>
                <a:spcPts val="6865"/>
              </a:lnSpc>
            </a:pPr>
            <a:r>
              <a:rPr lang="en-US" b="true" sz="5918">
                <a:solidFill>
                  <a:srgbClr val="000B26"/>
                </a:solidFill>
                <a:latin typeface="Glacial Indifference Bold"/>
                <a:ea typeface="Glacial Indifference Bold"/>
                <a:cs typeface="Glacial Indifference Bold"/>
                <a:sym typeface="Glacial Indifference Bold"/>
              </a:rPr>
              <a:t>Recommendations</a:t>
            </a:r>
          </a:p>
        </p:txBody>
      </p:sp>
      <p:sp>
        <p:nvSpPr>
          <p:cNvPr name="AutoShape 7" id="7"/>
          <p:cNvSpPr/>
          <p:nvPr/>
        </p:nvSpPr>
        <p:spPr>
          <a:xfrm>
            <a:off x="10458515" y="2294775"/>
            <a:ext cx="6479044" cy="0"/>
          </a:xfrm>
          <a:prstGeom prst="line">
            <a:avLst/>
          </a:prstGeom>
          <a:ln cap="rnd" w="95250">
            <a:solidFill>
              <a:srgbClr val="000B26"/>
            </a:solidFill>
            <a:prstDash val="solid"/>
            <a:headEnd type="none" len="sm" w="sm"/>
            <a:tailEnd type="none" len="sm" w="sm"/>
          </a:ln>
        </p:spPr>
      </p:sp>
      <p:grpSp>
        <p:nvGrpSpPr>
          <p:cNvPr name="Group 8" id="8"/>
          <p:cNvGrpSpPr/>
          <p:nvPr/>
        </p:nvGrpSpPr>
        <p:grpSpPr>
          <a:xfrm rot="0">
            <a:off x="6988075" y="4964910"/>
            <a:ext cx="9949483" cy="2804786"/>
            <a:chOff x="0" y="0"/>
            <a:chExt cx="2620440" cy="738709"/>
          </a:xfrm>
        </p:grpSpPr>
        <p:sp>
          <p:nvSpPr>
            <p:cNvPr name="Freeform 9" id="9"/>
            <p:cNvSpPr/>
            <p:nvPr/>
          </p:nvSpPr>
          <p:spPr>
            <a:xfrm flipH="false" flipV="false" rot="0">
              <a:off x="0" y="0"/>
              <a:ext cx="2620440" cy="738709"/>
            </a:xfrm>
            <a:custGeom>
              <a:avLst/>
              <a:gdLst/>
              <a:ahLst/>
              <a:cxnLst/>
              <a:rect r="r" b="b" t="t" l="l"/>
              <a:pathLst>
                <a:path h="738709" w="2620440">
                  <a:moveTo>
                    <a:pt x="77812" y="0"/>
                  </a:moveTo>
                  <a:lnTo>
                    <a:pt x="2542628" y="0"/>
                  </a:lnTo>
                  <a:cubicBezTo>
                    <a:pt x="2585602" y="0"/>
                    <a:pt x="2620440" y="34838"/>
                    <a:pt x="2620440" y="77812"/>
                  </a:cubicBezTo>
                  <a:lnTo>
                    <a:pt x="2620440" y="660897"/>
                  </a:lnTo>
                  <a:cubicBezTo>
                    <a:pt x="2620440" y="681534"/>
                    <a:pt x="2612242" y="701326"/>
                    <a:pt x="2597649" y="715918"/>
                  </a:cubicBezTo>
                  <a:cubicBezTo>
                    <a:pt x="2583057" y="730511"/>
                    <a:pt x="2563265" y="738709"/>
                    <a:pt x="2542628" y="738709"/>
                  </a:cubicBezTo>
                  <a:lnTo>
                    <a:pt x="77812" y="738709"/>
                  </a:lnTo>
                  <a:cubicBezTo>
                    <a:pt x="57175" y="738709"/>
                    <a:pt x="37383" y="730511"/>
                    <a:pt x="22791" y="715918"/>
                  </a:cubicBezTo>
                  <a:cubicBezTo>
                    <a:pt x="8198" y="701326"/>
                    <a:pt x="0" y="681534"/>
                    <a:pt x="0" y="660897"/>
                  </a:cubicBezTo>
                  <a:lnTo>
                    <a:pt x="0" y="77812"/>
                  </a:lnTo>
                  <a:cubicBezTo>
                    <a:pt x="0" y="57175"/>
                    <a:pt x="8198" y="37383"/>
                    <a:pt x="22791" y="22791"/>
                  </a:cubicBezTo>
                  <a:cubicBezTo>
                    <a:pt x="37383" y="8198"/>
                    <a:pt x="57175" y="0"/>
                    <a:pt x="77812" y="0"/>
                  </a:cubicBezTo>
                  <a:close/>
                </a:path>
              </a:pathLst>
            </a:custGeom>
            <a:solidFill>
              <a:srgbClr val="1E3653"/>
            </a:solidFill>
          </p:spPr>
        </p:sp>
        <p:sp>
          <p:nvSpPr>
            <p:cNvPr name="TextBox 10" id="10"/>
            <p:cNvSpPr txBox="true"/>
            <p:nvPr/>
          </p:nvSpPr>
          <p:spPr>
            <a:xfrm>
              <a:off x="0" y="-38100"/>
              <a:ext cx="2620440" cy="776809"/>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997578" y="2630289"/>
            <a:ext cx="12939980" cy="1851864"/>
          </a:xfrm>
          <a:prstGeom prst="rect">
            <a:avLst/>
          </a:prstGeom>
        </p:spPr>
        <p:txBody>
          <a:bodyPr anchor="t" rtlCol="false" tIns="0" lIns="0" bIns="0" rIns="0">
            <a:spAutoFit/>
          </a:bodyPr>
          <a:lstStyle/>
          <a:p>
            <a:pPr algn="r">
              <a:lnSpc>
                <a:spcPts val="3691"/>
              </a:lnSpc>
            </a:pPr>
            <a:r>
              <a:rPr lang="en-US" sz="2477" spc="188">
                <a:solidFill>
                  <a:srgbClr val="000B26"/>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a:t>
            </a:r>
          </a:p>
        </p:txBody>
      </p:sp>
      <p:sp>
        <p:nvSpPr>
          <p:cNvPr name="TextBox 12" id="12"/>
          <p:cNvSpPr txBox="true"/>
          <p:nvPr/>
        </p:nvSpPr>
        <p:spPr>
          <a:xfrm rot="0">
            <a:off x="7412665" y="5403271"/>
            <a:ext cx="9100302" cy="1851864"/>
          </a:xfrm>
          <a:prstGeom prst="rect">
            <a:avLst/>
          </a:prstGeom>
        </p:spPr>
        <p:txBody>
          <a:bodyPr anchor="t" rtlCol="false" tIns="0" lIns="0" bIns="0" rIns="0">
            <a:spAutoFit/>
          </a:bodyPr>
          <a:lstStyle/>
          <a:p>
            <a:pPr algn="just">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98435" y="7769386"/>
            <a:ext cx="12479089" cy="4447094"/>
          </a:xfrm>
          <a:custGeom>
            <a:avLst/>
            <a:gdLst/>
            <a:ahLst/>
            <a:cxnLst/>
            <a:rect r="r" b="b" t="t" l="l"/>
            <a:pathLst>
              <a:path h="4447094" w="12479089">
                <a:moveTo>
                  <a:pt x="0" y="0"/>
                </a:moveTo>
                <a:lnTo>
                  <a:pt x="12479089" y="0"/>
                </a:lnTo>
                <a:lnTo>
                  <a:pt x="12479089" y="4447093"/>
                </a:lnTo>
                <a:lnTo>
                  <a:pt x="0" y="4447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997837" y="3535045"/>
            <a:ext cx="9027043" cy="3216910"/>
          </a:xfrm>
          <a:custGeom>
            <a:avLst/>
            <a:gdLst/>
            <a:ahLst/>
            <a:cxnLst/>
            <a:rect r="r" b="b" t="t" l="l"/>
            <a:pathLst>
              <a:path h="3216910" w="9027043">
                <a:moveTo>
                  <a:pt x="0" y="0"/>
                </a:moveTo>
                <a:lnTo>
                  <a:pt x="9027043" y="0"/>
                </a:lnTo>
                <a:lnTo>
                  <a:pt x="9027043" y="3216910"/>
                </a:lnTo>
                <a:lnTo>
                  <a:pt x="0" y="3216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8695" y="1154090"/>
            <a:ext cx="7151923" cy="7978819"/>
          </a:xfrm>
          <a:custGeom>
            <a:avLst/>
            <a:gdLst/>
            <a:ahLst/>
            <a:cxnLst/>
            <a:rect r="r" b="b" t="t" l="l"/>
            <a:pathLst>
              <a:path h="7978819" w="7151923">
                <a:moveTo>
                  <a:pt x="0" y="0"/>
                </a:moveTo>
                <a:lnTo>
                  <a:pt x="7151923" y="0"/>
                </a:lnTo>
                <a:lnTo>
                  <a:pt x="7151923" y="7978820"/>
                </a:lnTo>
                <a:lnTo>
                  <a:pt x="0" y="797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2361318" y="1508796"/>
            <a:ext cx="4603852" cy="877791"/>
          </a:xfrm>
          <a:prstGeom prst="rect">
            <a:avLst/>
          </a:prstGeom>
        </p:spPr>
        <p:txBody>
          <a:bodyPr anchor="t" rtlCol="false" tIns="0" lIns="0" bIns="0" rIns="0">
            <a:spAutoFit/>
          </a:bodyPr>
          <a:lstStyle/>
          <a:p>
            <a:pPr algn="r">
              <a:lnSpc>
                <a:spcPts val="6865"/>
              </a:lnSpc>
            </a:pPr>
            <a:r>
              <a:rPr lang="en-US" b="true" sz="5918">
                <a:solidFill>
                  <a:srgbClr val="EFEFDA"/>
                </a:solidFill>
                <a:latin typeface="Glacial Indifference Bold"/>
                <a:ea typeface="Glacial Indifference Bold"/>
                <a:cs typeface="Glacial Indifference Bold"/>
                <a:sym typeface="Glacial Indifference Bold"/>
              </a:rPr>
              <a:t>Conclusion</a:t>
            </a:r>
          </a:p>
        </p:txBody>
      </p:sp>
      <p:sp>
        <p:nvSpPr>
          <p:cNvPr name="AutoShape 6" id="6"/>
          <p:cNvSpPr/>
          <p:nvPr/>
        </p:nvSpPr>
        <p:spPr>
          <a:xfrm flipV="true">
            <a:off x="12926985" y="2473365"/>
            <a:ext cx="4038185" cy="0"/>
          </a:xfrm>
          <a:prstGeom prst="line">
            <a:avLst/>
          </a:prstGeom>
          <a:ln cap="rnd" w="95250">
            <a:solidFill>
              <a:srgbClr val="EFEFDA"/>
            </a:solidFill>
            <a:prstDash val="solid"/>
            <a:headEnd type="none" len="sm" w="sm"/>
            <a:tailEnd type="none" len="sm" w="sm"/>
          </a:ln>
        </p:spPr>
      </p:sp>
      <p:sp>
        <p:nvSpPr>
          <p:cNvPr name="TextBox 7" id="7"/>
          <p:cNvSpPr txBox="true"/>
          <p:nvPr/>
        </p:nvSpPr>
        <p:spPr>
          <a:xfrm rot="0">
            <a:off x="8467608" y="3188382"/>
            <a:ext cx="8497562" cy="4185489"/>
          </a:xfrm>
          <a:prstGeom prst="rect">
            <a:avLst/>
          </a:prstGeom>
        </p:spPr>
        <p:txBody>
          <a:bodyPr anchor="t" rtlCol="false" tIns="0" lIns="0" bIns="0" rIns="0">
            <a:spAutoFit/>
          </a:bodyPr>
          <a:lstStyle/>
          <a:p>
            <a:pPr algn="r">
              <a:lnSpc>
                <a:spcPts val="3691"/>
              </a:lnSpc>
            </a:pPr>
            <a:r>
              <a:rPr lang="en-US" sz="2477" spc="188">
                <a:solidFill>
                  <a:srgbClr val="EFEFDA"/>
                </a:solidFill>
                <a:latin typeface="ABeeZee"/>
                <a:ea typeface="ABeeZee"/>
                <a:cs typeface="ABeeZee"/>
                <a:sym typeface="ABeeZee"/>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704602" y="-1235761"/>
            <a:ext cx="4605156" cy="1641110"/>
          </a:xfrm>
          <a:custGeom>
            <a:avLst/>
            <a:gdLst/>
            <a:ahLst/>
            <a:cxnLst/>
            <a:rect r="r" b="b" t="t" l="l"/>
            <a:pathLst>
              <a:path h="1641110" w="4605156">
                <a:moveTo>
                  <a:pt x="0" y="0"/>
                </a:moveTo>
                <a:lnTo>
                  <a:pt x="4605156" y="0"/>
                </a:lnTo>
                <a:lnTo>
                  <a:pt x="4605156" y="1641110"/>
                </a:lnTo>
                <a:lnTo>
                  <a:pt x="0" y="164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683840" y="5712540"/>
            <a:ext cx="14554305" cy="5186625"/>
          </a:xfrm>
          <a:custGeom>
            <a:avLst/>
            <a:gdLst/>
            <a:ahLst/>
            <a:cxnLst/>
            <a:rect r="r" b="b" t="t" l="l"/>
            <a:pathLst>
              <a:path h="5186625" w="14554305">
                <a:moveTo>
                  <a:pt x="0" y="0"/>
                </a:moveTo>
                <a:lnTo>
                  <a:pt x="14554305" y="0"/>
                </a:lnTo>
                <a:lnTo>
                  <a:pt x="14554305" y="5186625"/>
                </a:lnTo>
                <a:lnTo>
                  <a:pt x="0" y="518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828134" y="9947562"/>
            <a:ext cx="8309635" cy="2961252"/>
          </a:xfrm>
          <a:custGeom>
            <a:avLst/>
            <a:gdLst/>
            <a:ahLst/>
            <a:cxnLst/>
            <a:rect r="r" b="b" t="t" l="l"/>
            <a:pathLst>
              <a:path h="2961252" w="8309635">
                <a:moveTo>
                  <a:pt x="0" y="0"/>
                </a:moveTo>
                <a:lnTo>
                  <a:pt x="8309635" y="0"/>
                </a:lnTo>
                <a:lnTo>
                  <a:pt x="8309635" y="2961252"/>
                </a:lnTo>
                <a:lnTo>
                  <a:pt x="0" y="2961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461622" y="6221216"/>
            <a:ext cx="10607035" cy="154284"/>
          </a:xfrm>
          <a:custGeom>
            <a:avLst/>
            <a:gdLst/>
            <a:ahLst/>
            <a:cxnLst/>
            <a:rect r="r" b="b" t="t" l="l"/>
            <a:pathLst>
              <a:path h="154284" w="10607035">
                <a:moveTo>
                  <a:pt x="0" y="0"/>
                </a:moveTo>
                <a:lnTo>
                  <a:pt x="10607035" y="0"/>
                </a:lnTo>
                <a:lnTo>
                  <a:pt x="10607035" y="154284"/>
                </a:lnTo>
                <a:lnTo>
                  <a:pt x="0" y="1542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6007180" y="3482096"/>
            <a:ext cx="11061476" cy="2534577"/>
          </a:xfrm>
          <a:prstGeom prst="rect">
            <a:avLst/>
          </a:prstGeom>
        </p:spPr>
        <p:txBody>
          <a:bodyPr anchor="t" rtlCol="false" tIns="0" lIns="0" bIns="0" rIns="0">
            <a:spAutoFit/>
          </a:bodyPr>
          <a:lstStyle/>
          <a:p>
            <a:pPr algn="r">
              <a:lnSpc>
                <a:spcPts val="19766"/>
              </a:lnSpc>
            </a:pPr>
            <a:r>
              <a:rPr lang="en-US" sz="17040" b="true">
                <a:solidFill>
                  <a:srgbClr val="EFEFDA"/>
                </a:solidFill>
                <a:latin typeface="Glacial Indifference Bold"/>
                <a:ea typeface="Glacial Indifference Bold"/>
                <a:cs typeface="Glacial Indifference Bold"/>
                <a:sym typeface="Glacial Indifferen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DAHMDoW0xSg</dc:identifier>
  <dcterms:modified xsi:type="dcterms:W3CDTF">2011-08-01T06:04:30Z</dcterms:modified>
  <cp:revision>1</cp:revision>
  <dc:title>Slide_Phan_tich_Spotify</dc:title>
</cp:coreProperties>
</file>